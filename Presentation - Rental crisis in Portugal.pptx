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12192000"/>
  <p:embeddedFontLst>
    <p:embeddedFont>
      <p:font typeface="Playfair Display"/>
      <p:regular r:id="rId19"/>
      <p:bold r:id="rId20"/>
      <p:italic r:id="rId21"/>
      <p:boldItalic r:id="rId22"/>
    </p:embeddedFont>
    <p:embeddedFont>
      <p:font typeface="Source Sans 3"/>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51AF02A-7453-4268-BA4E-05D28735F682}">
  <a:tblStyle styleId="{551AF02A-7453-4268-BA4E-05D28735F68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layfairDisplay-bold.fntdata"/><Relationship Id="rId22" Type="http://schemas.openxmlformats.org/officeDocument/2006/relationships/font" Target="fonts/PlayfairDisplay-boldItalic.fntdata"/><Relationship Id="rId21" Type="http://schemas.openxmlformats.org/officeDocument/2006/relationships/font" Target="fonts/PlayfairDisplay-italic.fntdata"/><Relationship Id="rId24" Type="http://schemas.openxmlformats.org/officeDocument/2006/relationships/font" Target="fonts/SourceSans3-bold.fntdata"/><Relationship Id="rId23" Type="http://schemas.openxmlformats.org/officeDocument/2006/relationships/font" Target="fonts/SourceSans3-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Sans3-boldItalic.fntdata"/><Relationship Id="rId25" Type="http://schemas.openxmlformats.org/officeDocument/2006/relationships/font" Target="fonts/SourceSans3-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layfairDispl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SzPts val="1100"/>
              <a:buNone/>
            </a:pPr>
            <a:r>
              <a:rPr b="1" lang="en-US" sz="1100">
                <a:latin typeface="Arial"/>
                <a:ea typeface="Arial"/>
                <a:cs typeface="Arial"/>
                <a:sym typeface="Arial"/>
              </a:rPr>
              <a:t>Hi everyone, we're Pastel de Data, a small public-data intelligence agency. Our client for this project is the TV channel SIC. </a:t>
            </a:r>
            <a:endParaRPr b="1" sz="1100">
              <a:latin typeface="Arial"/>
              <a:ea typeface="Arial"/>
              <a:cs typeface="Arial"/>
              <a:sym typeface="Arial"/>
            </a:endParaRPr>
          </a:p>
          <a:p>
            <a:pPr indent="0" lvl="0" marL="381000" marR="381000" rtl="0" algn="l">
              <a:lnSpc>
                <a:spcPct val="115000"/>
              </a:lnSpc>
              <a:spcBef>
                <a:spcPts val="1200"/>
              </a:spcBef>
              <a:spcAft>
                <a:spcPts val="0"/>
              </a:spcAft>
              <a:buSzPts val="1100"/>
              <a:buNone/>
            </a:pPr>
            <a:r>
              <a:rPr b="1" lang="en-US" sz="1100">
                <a:latin typeface="Arial"/>
                <a:ea typeface="Arial"/>
                <a:cs typeface="Arial"/>
                <a:sym typeface="Arial"/>
              </a:rPr>
              <a:t>They asked us one question: what is really happening to rents in Portugal? Let's see what the official data actually show.</a:t>
            </a:r>
            <a:endParaRPr b="1"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Quick question before we start: how much do you think rents in Portugal have risen since 2017? 10%, 20%, maybe 50%? Keep your guess in mind, you'll have the answer in two minutes.</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SIC gave us three popular claims to test. First: are rents rising faster than wages? Second: do municipalities with more short-term rentals have higher long-term rents? And third: is rent growth spreading beyond Lisbon and Porto?</a:t>
            </a:r>
            <a:endParaRPr b="1" sz="1100">
              <a:latin typeface="Arial"/>
              <a:ea typeface="Arial"/>
              <a:cs typeface="Arial"/>
              <a:sym typeface="Arial"/>
            </a:endParaRPr>
          </a:p>
          <a:p>
            <a:pPr indent="0" lvl="0" marL="0" rtl="0" algn="l">
              <a:lnSpc>
                <a:spcPct val="115000"/>
              </a:lnSpc>
              <a:spcBef>
                <a:spcPts val="1200"/>
              </a:spcBef>
              <a:spcAft>
                <a:spcPts val="1200"/>
              </a:spcAft>
              <a:buSzPts val="1100"/>
              <a:buNone/>
            </a:pPr>
            <a:r>
              <a:rPr b="1" lang="en-US" sz="1100">
                <a:latin typeface="Arial"/>
                <a:ea typeface="Arial"/>
                <a:cs typeface="Arial"/>
                <a:sym typeface="Arial"/>
              </a:rPr>
              <a:t>Our evidence comes from INE, Portugal's statistics office, for rents, wages and population, plus 111,852 short-term rental registrations from the national register. One definition matters: rent here means the median rent per square metre of real signed contracts, not asking prices.</a:t>
            </a:r>
            <a:endParaRPr b="1" sz="1100">
              <a:latin typeface="Arial"/>
              <a:ea typeface="Arial"/>
              <a:cs typeface="Arial"/>
              <a:sym typeface="Arial"/>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574bc2a070d3fe13_14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h574bc2a070d3fe13_14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We split the work: I took the first question, Juliana the second and third. We planned with Trello, worked in one GitHub repo with separate notebooks, and used the same definitions, so our results can be compared.</a:t>
            </a:r>
            <a:endParaRPr b="1" sz="11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Our scope changed along the way. After the first data check we moved H3 to official INE data, replaced web scraping with the INE API, and updated everything to mid-2026.</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b="1" lang="en-US" sz="1100">
                <a:latin typeface="Arial"/>
                <a:ea typeface="Arial"/>
                <a:cs typeface="Arial"/>
                <a:sym typeface="Arial"/>
              </a:rPr>
              <a:t>And we planned for risks from day one: if the API failed, we had saved files; if names didn't match, we used municipality codes; and with limited time, we stayed on the core questions. In total, about 146,000 source records went into one shared framework.</a:t>
            </a:r>
            <a:endParaRPr b="1" sz="1100">
              <a:latin typeface="Arial"/>
              <a:ea typeface="Arial"/>
              <a:cs typeface="Arial"/>
              <a:sym typeface="Arial"/>
            </a:endParaRPr>
          </a:p>
        </p:txBody>
      </p:sp>
      <p:sp>
        <p:nvSpPr>
          <p:cNvPr id="57" name="Google Shape;57;h574bc2a070d3fe13_14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b="1" lang="en-US"/>
              <a:t>Our biggest obstacle was the data source itself. The INE rent series we started with ends in 2023 and still uses the old regional map. So our results were stuck in the past, and some municipality codes didn't match.</a:t>
            </a:r>
            <a:endParaRPr b="1"/>
          </a:p>
          <a:p>
            <a:pPr indent="0" lvl="0" marL="0" rtl="0" algn="l">
              <a:lnSpc>
                <a:spcPct val="115000"/>
              </a:lnSpc>
              <a:spcBef>
                <a:spcPts val="1200"/>
              </a:spcBef>
              <a:spcAft>
                <a:spcPts val="0"/>
              </a:spcAft>
              <a:buSzPts val="1100"/>
              <a:buNone/>
            </a:pPr>
            <a:r>
              <a:rPr b="1" lang="en-US"/>
              <a:t>The fix: we found INE's new rent series, which runs to mid-2026, and moved all three hypotheses onto it. For my question, which goes back to 2017, I kept the old series up to 2024 and extended it with the growth of the new one. Without that step, the result is the same: up to 2024, rent rose 82% against 32% for wages. And because the regional codes changed, we always matched municipalities on their four-digit code, never on names.</a:t>
            </a:r>
            <a:endParaRPr b="1"/>
          </a:p>
          <a:p>
            <a:pPr indent="0" lvl="0" marL="0" rtl="0" algn="l">
              <a:lnSpc>
                <a:spcPct val="115000"/>
              </a:lnSpc>
              <a:spcBef>
                <a:spcPts val="1200"/>
              </a:spcBef>
              <a:spcAft>
                <a:spcPts val="0"/>
              </a:spcAft>
              <a:buSzPts val="1100"/>
              <a:buNone/>
            </a:pPr>
            <a:r>
              <a:rPr b="1" lang="en-US"/>
              <a:t>What we learned: decide first which result you need, so you only collect what answers it. Look for hidden factors, like size in Juliana's analysis. And communicate early: one shared source, one shared period.</a:t>
            </a:r>
            <a:endParaRPr b="1"/>
          </a:p>
          <a:p>
            <a:pPr indent="0" lvl="0" marL="0" rtl="0" algn="l">
              <a:lnSpc>
                <a:spcPct val="115000"/>
              </a:lnSpc>
              <a:spcBef>
                <a:spcPts val="1200"/>
              </a:spcBef>
              <a:spcAft>
                <a:spcPts val="800"/>
              </a:spcAft>
              <a:buSzPts val="1100"/>
              <a:buNone/>
            </a:pPr>
            <a:r>
              <a:t/>
            </a:r>
            <a:endParaRPr/>
          </a:p>
        </p:txBody>
      </p:sp>
      <p:sp>
        <p:nvSpPr>
          <p:cNvPr id="79" name="Google Shape;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25f080b895c98cf9_1_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h25f080b895c98cf9_1_1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So, back to the question from the start: how close was your guess? Since 2017, long-term rents in Portugal rose 109%. They more than doubled. Wages rose 43%. Rents grew two and a half times as fast as pay.</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To make it concrete, take an 80 square metre flat at the median rent. In 2017 it cost about 351 euros a month; today, about 735. Compared with the average gross salary, that's a jump from 29% to 42%.</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And it's not only a Lisbon problem: rents outpaced wages in both small and large municipalities.</a:t>
            </a:r>
            <a:endParaRPr b="1"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b="1" lang="en-US" sz="1100">
                <a:latin typeface="Arial"/>
                <a:ea typeface="Arial"/>
                <a:cs typeface="Arial"/>
                <a:sym typeface="Arial"/>
              </a:rPr>
              <a:t>So the first claim holds: rents are clearly outrunning pay. </a:t>
            </a:r>
            <a:r>
              <a:rPr lang="en-US" sz="1100">
                <a:latin typeface="Arial"/>
                <a:ea typeface="Arial"/>
                <a:cs typeface="Arial"/>
                <a:sym typeface="Arial"/>
              </a:rPr>
              <a:t>which bring us the question: </a:t>
            </a:r>
            <a:r>
              <a:rPr b="1" lang="en-US" sz="1100">
                <a:highlight>
                  <a:srgbClr val="FFFF00"/>
                </a:highlight>
                <a:latin typeface="Arial"/>
                <a:ea typeface="Arial"/>
                <a:cs typeface="Arial"/>
                <a:sym typeface="Arial"/>
              </a:rPr>
              <a:t>Do more</a:t>
            </a:r>
            <a:r>
              <a:rPr lang="en-US" sz="1100">
                <a:highlight>
                  <a:srgbClr val="FFFF00"/>
                </a:highlight>
                <a:latin typeface="Arial"/>
                <a:ea typeface="Arial"/>
                <a:cs typeface="Arial"/>
                <a:sym typeface="Arial"/>
              </a:rPr>
              <a:t> short-term rentals </a:t>
            </a:r>
            <a:r>
              <a:rPr b="1" lang="en-US" sz="1100">
                <a:highlight>
                  <a:srgbClr val="FFFF00"/>
                </a:highlight>
                <a:latin typeface="Arial"/>
                <a:ea typeface="Arial"/>
                <a:cs typeface="Arial"/>
                <a:sym typeface="Arial"/>
              </a:rPr>
              <a:t>mean </a:t>
            </a:r>
            <a:r>
              <a:rPr lang="en-US" sz="1100">
                <a:highlight>
                  <a:srgbClr val="FFFF00"/>
                </a:highlight>
                <a:latin typeface="Arial"/>
                <a:ea typeface="Arial"/>
                <a:cs typeface="Arial"/>
                <a:sym typeface="Arial"/>
              </a:rPr>
              <a:t>higher long-term rents</a:t>
            </a:r>
            <a:r>
              <a:rPr b="1" lang="en-US" sz="1100">
                <a:highlight>
                  <a:srgbClr val="FFFF00"/>
                </a:highlight>
                <a:latin typeface="Arial"/>
                <a:ea typeface="Arial"/>
                <a:cs typeface="Arial"/>
                <a:sym typeface="Arial"/>
              </a:rPr>
              <a:t>?</a:t>
            </a:r>
            <a:r>
              <a:rPr b="1" lang="en-US" sz="1100">
                <a:latin typeface="Arial"/>
                <a:ea typeface="Arial"/>
                <a:cs typeface="Arial"/>
                <a:sym typeface="Arial"/>
              </a:rPr>
              <a:t> </a:t>
            </a:r>
            <a:r>
              <a:rPr b="1" lang="en-US" sz="1100">
                <a:latin typeface="Arial"/>
                <a:ea typeface="Arial"/>
                <a:cs typeface="Arial"/>
                <a:sym typeface="Arial"/>
              </a:rPr>
              <a:t>Juliana, over to you.</a:t>
            </a:r>
            <a:endParaRPr/>
          </a:p>
        </p:txBody>
      </p:sp>
      <p:sp>
        <p:nvSpPr>
          <p:cNvPr id="100" name="Google Shape;100;h25f080b895c98cf9_1_1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25f080b895c98cf9_1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h25f080b895c98cf9_1_4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JULIANA (45 s): Thank you Andrea. </a:t>
            </a:r>
            <a:r>
              <a:rPr lang="en-US" sz="1100">
                <a:latin typeface="Arial"/>
                <a:ea typeface="Arial"/>
                <a:cs typeface="Arial"/>
                <a:sym typeface="Arial"/>
              </a:rPr>
              <a:t>Now let's analyse the 2</a:t>
            </a:r>
            <a:r>
              <a:rPr baseline="30000" lang="en-US" sz="1100">
                <a:latin typeface="Arial"/>
                <a:ea typeface="Arial"/>
                <a:cs typeface="Arial"/>
                <a:sym typeface="Arial"/>
              </a:rPr>
              <a:t>nd</a:t>
            </a:r>
            <a:r>
              <a:rPr lang="en-US" sz="1100">
                <a:latin typeface="Arial"/>
                <a:ea typeface="Arial"/>
                <a:cs typeface="Arial"/>
                <a:sym typeface="Arial"/>
              </a:rPr>
              <a:t> Hypothesis, </a:t>
            </a:r>
            <a:r>
              <a:rPr lang="en-US" sz="1100">
                <a:latin typeface="Arial"/>
                <a:ea typeface="Arial"/>
                <a:cs typeface="Arial"/>
                <a:sym typeface="Arial"/>
              </a:rPr>
              <a:t>which</a:t>
            </a:r>
            <a:r>
              <a:rPr lang="en-US" sz="1100">
                <a:latin typeface="Arial"/>
                <a:ea typeface="Arial"/>
                <a:cs typeface="Arial"/>
                <a:sym typeface="Arial"/>
              </a:rPr>
              <a:t> </a:t>
            </a:r>
            <a:r>
              <a:rPr lang="en-US" sz="1100">
                <a:latin typeface="Arial"/>
                <a:ea typeface="Arial"/>
                <a:cs typeface="Arial"/>
                <a:sym typeface="Arial"/>
              </a:rPr>
              <a:t>bring</a:t>
            </a:r>
            <a:r>
              <a:rPr lang="en-US" sz="1100">
                <a:latin typeface="Arial"/>
                <a:ea typeface="Arial"/>
                <a:cs typeface="Arial"/>
                <a:sym typeface="Arial"/>
              </a:rPr>
              <a:t> us the question: </a:t>
            </a:r>
            <a:r>
              <a:rPr b="1" lang="en-US" sz="1100">
                <a:highlight>
                  <a:srgbClr val="FFFF00"/>
                </a:highlight>
                <a:latin typeface="Arial"/>
                <a:ea typeface="Arial"/>
                <a:cs typeface="Arial"/>
                <a:sym typeface="Arial"/>
              </a:rPr>
              <a:t>Do more</a:t>
            </a:r>
            <a:r>
              <a:rPr lang="en-US" sz="1100">
                <a:highlight>
                  <a:srgbClr val="FFFF00"/>
                </a:highlight>
                <a:latin typeface="Arial"/>
                <a:ea typeface="Arial"/>
                <a:cs typeface="Arial"/>
                <a:sym typeface="Arial"/>
              </a:rPr>
              <a:t> short-term rentals </a:t>
            </a:r>
            <a:r>
              <a:rPr b="1" lang="en-US" sz="1100">
                <a:highlight>
                  <a:srgbClr val="FFFF00"/>
                </a:highlight>
                <a:latin typeface="Arial"/>
                <a:ea typeface="Arial"/>
                <a:cs typeface="Arial"/>
                <a:sym typeface="Arial"/>
              </a:rPr>
              <a:t>mean </a:t>
            </a:r>
            <a:r>
              <a:rPr lang="en-US" sz="1100">
                <a:highlight>
                  <a:srgbClr val="FFFF00"/>
                </a:highlight>
                <a:latin typeface="Arial"/>
                <a:ea typeface="Arial"/>
                <a:cs typeface="Arial"/>
                <a:sym typeface="Arial"/>
              </a:rPr>
              <a:t>higher long-term rents</a:t>
            </a:r>
            <a:r>
              <a:rPr b="1" lang="en-US" sz="1100">
                <a:highlight>
                  <a:srgbClr val="FFFF00"/>
                </a:highlight>
                <a:latin typeface="Arial"/>
                <a:ea typeface="Arial"/>
                <a:cs typeface="Arial"/>
                <a:sym typeface="Arial"/>
              </a:rPr>
              <a:t>?</a:t>
            </a:r>
            <a:endParaRPr b="1" sz="1100">
              <a:highlight>
                <a:srgbClr val="FFFF00"/>
              </a:highlight>
              <a:latin typeface="Arial"/>
              <a:ea typeface="Arial"/>
              <a:cs typeface="Arial"/>
              <a:sym typeface="Arial"/>
            </a:endParaRPr>
          </a:p>
          <a:p>
            <a:pPr indent="0" lvl="0" marL="0" rtl="0" algn="l">
              <a:spcBef>
                <a:spcPts val="0"/>
              </a:spcBef>
              <a:spcAft>
                <a:spcPts val="0"/>
              </a:spcAft>
              <a:buNone/>
            </a:pPr>
            <a:r>
              <a:rPr b="1" lang="en-US" sz="1100">
                <a:latin typeface="Arial"/>
                <a:ea typeface="Arial"/>
                <a:cs typeface="Arial"/>
                <a:sym typeface="Arial"/>
              </a:rPr>
              <a:t>To </a:t>
            </a:r>
            <a:r>
              <a:rPr b="1" lang="en-US" sz="1100">
                <a:latin typeface="Arial"/>
                <a:ea typeface="Arial"/>
                <a:cs typeface="Arial"/>
                <a:sym typeface="Arial"/>
              </a:rPr>
              <a:t>answer</a:t>
            </a:r>
            <a:r>
              <a:rPr b="1" lang="en-US" sz="1100">
                <a:latin typeface="Arial"/>
                <a:ea typeface="Arial"/>
                <a:cs typeface="Arial"/>
                <a:sym typeface="Arial"/>
              </a:rPr>
              <a:t> this question, </a:t>
            </a:r>
            <a:r>
              <a:rPr lang="en-US" sz="1100">
                <a:latin typeface="Arial"/>
                <a:ea typeface="Arial"/>
                <a:cs typeface="Arial"/>
                <a:sym typeface="Arial"/>
              </a:rPr>
              <a:t>We need to understand FIRST: </a:t>
            </a:r>
            <a:r>
              <a:rPr b="1" lang="en-US" sz="1100">
                <a:latin typeface="Arial"/>
                <a:ea typeface="Arial"/>
                <a:cs typeface="Arial"/>
                <a:sym typeface="Arial"/>
              </a:rPr>
              <a:t>Where and when short-term rentals grew</a:t>
            </a:r>
            <a:r>
              <a:rPr lang="en-US" sz="1100">
                <a:latin typeface="Arial"/>
                <a:ea typeface="Arial"/>
                <a:cs typeface="Arial"/>
                <a:sym typeface="Arial"/>
              </a:rPr>
              <a:t>. And then, we’ll compare both.</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100">
                <a:latin typeface="Arial"/>
                <a:ea typeface="Arial"/>
                <a:cs typeface="Arial"/>
                <a:sym typeface="Arial"/>
              </a:rPr>
              <a:t>Let’s take a look now at</a:t>
            </a:r>
            <a:r>
              <a:rPr lang="en-US" sz="1100">
                <a:latin typeface="Arial"/>
                <a:ea typeface="Arial"/>
                <a:cs typeface="Arial"/>
                <a:sym typeface="Arial"/>
              </a:rPr>
              <a:t> the short-term rental market itself.</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b="1" lang="en-US" sz="1100">
                <a:latin typeface="Arial"/>
                <a:ea typeface="Arial"/>
                <a:cs typeface="Arial"/>
                <a:sym typeface="Arial"/>
              </a:rPr>
              <a:t>We can see</a:t>
            </a:r>
            <a:r>
              <a:rPr lang="en-US" sz="1100">
                <a:latin typeface="Arial"/>
                <a:ea typeface="Arial"/>
                <a:cs typeface="Arial"/>
                <a:sym typeface="Arial"/>
              </a:rPr>
              <a:t> thousands of new registrations every year in Portugal, </a:t>
            </a:r>
            <a:r>
              <a:rPr b="1" lang="en-US" sz="1100">
                <a:latin typeface="Arial"/>
                <a:ea typeface="Arial"/>
                <a:cs typeface="Arial"/>
                <a:sym typeface="Arial"/>
              </a:rPr>
              <a:t>with two clear peaks</a:t>
            </a:r>
            <a:r>
              <a:rPr lang="en-US" sz="1100">
                <a:latin typeface="Arial"/>
                <a:ea typeface="Arial"/>
                <a:cs typeface="Arial"/>
                <a:sym typeface="Arial"/>
              </a:rPr>
              <a:t>: almost (fifteen) 15 </a:t>
            </a:r>
            <a:r>
              <a:rPr b="1" lang="en-US" sz="1100">
                <a:latin typeface="Arial"/>
                <a:ea typeface="Arial"/>
                <a:cs typeface="Arial"/>
                <a:sym typeface="Arial"/>
              </a:rPr>
              <a:t>thousands in 2018</a:t>
            </a:r>
            <a:r>
              <a:rPr lang="en-US" sz="1100">
                <a:latin typeface="Arial"/>
                <a:ea typeface="Arial"/>
                <a:cs typeface="Arial"/>
                <a:sym typeface="Arial"/>
              </a:rPr>
              <a:t> and almost 13 in 23.</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b="1" lang="en-US" sz="1100">
                <a:latin typeface="Arial"/>
                <a:ea typeface="Arial"/>
                <a:cs typeface="Arial"/>
                <a:sym typeface="Arial"/>
              </a:rPr>
              <a:t>On the right ,</a:t>
            </a:r>
            <a:r>
              <a:rPr lang="en-US" sz="1100">
                <a:latin typeface="Arial"/>
                <a:ea typeface="Arial"/>
                <a:cs typeface="Arial"/>
                <a:sym typeface="Arial"/>
              </a:rPr>
              <a:t> we have a heatmap </a:t>
            </a:r>
            <a:r>
              <a:rPr b="1" lang="en-US" sz="1100">
                <a:latin typeface="Arial"/>
                <a:ea typeface="Arial"/>
                <a:cs typeface="Arial"/>
                <a:sym typeface="Arial"/>
              </a:rPr>
              <a:t>with the top 10</a:t>
            </a:r>
            <a:r>
              <a:rPr lang="en-US" sz="1100">
                <a:latin typeface="Arial"/>
                <a:ea typeface="Arial"/>
                <a:cs typeface="Arial"/>
                <a:sym typeface="Arial"/>
              </a:rPr>
              <a:t> municipalities in Portugal.</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b="1" lang="en-US" sz="1100">
                <a:latin typeface="Arial"/>
                <a:ea typeface="Arial"/>
                <a:cs typeface="Arial"/>
                <a:sym typeface="Arial"/>
              </a:rPr>
              <a:t>It’s clear that</a:t>
            </a:r>
            <a:r>
              <a:rPr lang="en-US" sz="1100">
                <a:latin typeface="Arial"/>
                <a:ea typeface="Arial"/>
                <a:cs typeface="Arial"/>
                <a:sym typeface="Arial"/>
              </a:rPr>
              <a:t> growth is concentrated in Porto, Lisbon and Albufeira. And here is the surprise: After 2019 - </a:t>
            </a:r>
            <a:r>
              <a:rPr lang="en-US" sz="1100">
                <a:latin typeface="Arial"/>
                <a:ea typeface="Arial"/>
                <a:cs typeface="Arial"/>
                <a:sym typeface="Arial"/>
              </a:rPr>
              <a:t>Lisbon's boom stopped !</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b="1" lang="en-US" sz="1100">
                <a:latin typeface="Arial"/>
                <a:ea typeface="Arial"/>
                <a:cs typeface="Arial"/>
                <a:sym typeface="Arial"/>
              </a:rPr>
              <a:t>It went from MORE than</a:t>
            </a:r>
            <a:r>
              <a:rPr lang="en-US" sz="1100">
                <a:latin typeface="Arial"/>
                <a:ea typeface="Arial"/>
                <a:cs typeface="Arial"/>
                <a:sym typeface="Arial"/>
              </a:rPr>
              <a:t> 3-thousands and 7-hundred new registrations in 2018 </a:t>
            </a:r>
            <a:r>
              <a:rPr b="1" lang="en-US" sz="1100">
                <a:latin typeface="Arial"/>
                <a:ea typeface="Arial"/>
                <a:cs typeface="Arial"/>
                <a:sym typeface="Arial"/>
              </a:rPr>
              <a:t>to fewer than 2-hundread a year</a:t>
            </a:r>
            <a:r>
              <a:rPr lang="en-US" sz="1100">
                <a:latin typeface="Arial"/>
                <a:ea typeface="Arial"/>
                <a:cs typeface="Arial"/>
                <a:sym typeface="Arial"/>
              </a:rPr>
              <a:t> since 2023, </a:t>
            </a:r>
            <a:r>
              <a:rPr lang="en-US" sz="1100" u="sng">
                <a:latin typeface="Arial"/>
                <a:ea typeface="Arial"/>
                <a:cs typeface="Arial"/>
                <a:sym typeface="Arial"/>
              </a:rPr>
              <a:t>while </a:t>
            </a:r>
            <a:r>
              <a:rPr lang="en-US" sz="1100">
                <a:latin typeface="Arial"/>
                <a:ea typeface="Arial"/>
                <a:cs typeface="Arial"/>
                <a:sym typeface="Arial"/>
              </a:rPr>
              <a:t>Porto and the Algarve</a:t>
            </a:r>
            <a:r>
              <a:rPr lang="en-US" sz="1100" u="sng">
                <a:latin typeface="Arial"/>
                <a:ea typeface="Arial"/>
                <a:cs typeface="Arial"/>
                <a:sym typeface="Arial"/>
              </a:rPr>
              <a:t> kept growing</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lang="en-US" sz="1100">
                <a:solidFill>
                  <a:srgbClr val="EE0000"/>
                </a:solidFill>
                <a:latin typeface="Arial"/>
                <a:ea typeface="Arial"/>
                <a:cs typeface="Arial"/>
                <a:sym typeface="Arial"/>
              </a:rPr>
              <a:t>NOW MOVING TO THE NEXT SLIDE AND …</a:t>
            </a:r>
            <a:endParaRPr sz="1100">
              <a:solidFill>
                <a:srgbClr val="EE0000"/>
              </a:solidFill>
              <a:latin typeface="Arial"/>
              <a:ea typeface="Arial"/>
              <a:cs typeface="Arial"/>
              <a:sym typeface="Arial"/>
            </a:endParaRPr>
          </a:p>
          <a:p>
            <a:pPr indent="0" lvl="0" marL="0" rtl="0" algn="l">
              <a:spcBef>
                <a:spcPts val="800"/>
              </a:spcBef>
              <a:spcAft>
                <a:spcPts val="0"/>
              </a:spcAft>
              <a:buNone/>
            </a:pPr>
            <a:r>
              <a:t/>
            </a:r>
            <a:endParaRPr/>
          </a:p>
        </p:txBody>
      </p:sp>
      <p:sp>
        <p:nvSpPr>
          <p:cNvPr id="208" name="Google Shape;208;h25f080b895c98cf9_1_4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h25f080b895c98cf9_1_3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h25f080b895c98cf9_1_3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JULIANA (40 s): </a:t>
            </a:r>
            <a:r>
              <a:rPr b="1" lang="en-US" sz="1100">
                <a:highlight>
                  <a:srgbClr val="FFFF00"/>
                </a:highlight>
                <a:latin typeface="Arial"/>
                <a:ea typeface="Arial"/>
                <a:cs typeface="Arial"/>
                <a:sym typeface="Arial"/>
              </a:rPr>
              <a:t>To test 2</a:t>
            </a:r>
            <a:r>
              <a:rPr b="1" baseline="30000" lang="en-US" sz="1100">
                <a:highlight>
                  <a:srgbClr val="FFFF00"/>
                </a:highlight>
                <a:latin typeface="Arial"/>
                <a:ea typeface="Arial"/>
                <a:cs typeface="Arial"/>
                <a:sym typeface="Arial"/>
              </a:rPr>
              <a:t>ND</a:t>
            </a:r>
            <a:r>
              <a:rPr b="1" lang="en-US" sz="1100">
                <a:highlight>
                  <a:srgbClr val="FFFF00"/>
                </a:highlight>
                <a:latin typeface="Arial"/>
                <a:ea typeface="Arial"/>
                <a:cs typeface="Arial"/>
                <a:sym typeface="Arial"/>
              </a:rPr>
              <a:t> H    FAIRLY,</a:t>
            </a:r>
            <a:r>
              <a:rPr lang="en-US" sz="1100">
                <a:latin typeface="Arial"/>
                <a:ea typeface="Arial"/>
                <a:cs typeface="Arial"/>
                <a:sym typeface="Arial"/>
              </a:rPr>
              <a:t> we </a:t>
            </a:r>
            <a:r>
              <a:rPr lang="en-US" sz="1100" u="sng">
                <a:latin typeface="Arial"/>
                <a:ea typeface="Arial"/>
                <a:cs typeface="Arial"/>
                <a:sym typeface="Arial"/>
              </a:rPr>
              <a:t>had to deal with</a:t>
            </a:r>
            <a:r>
              <a:rPr lang="en-US" sz="1100">
                <a:latin typeface="Arial"/>
                <a:ea typeface="Arial"/>
                <a:cs typeface="Arial"/>
                <a:sym typeface="Arial"/>
              </a:rPr>
              <a:t> a hidden factor: municipality size.</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THIS BECAUSE … Small towns (as Algarve for example) </a:t>
            </a:r>
            <a:r>
              <a:rPr b="1" lang="en-US" sz="1100">
                <a:latin typeface="Arial"/>
                <a:ea typeface="Arial"/>
                <a:cs typeface="Arial"/>
                <a:sym typeface="Arial"/>
              </a:rPr>
              <a:t>have many short-term rentals</a:t>
            </a:r>
            <a:r>
              <a:rPr lang="en-US" sz="1100">
                <a:latin typeface="Arial"/>
                <a:ea typeface="Arial"/>
                <a:cs typeface="Arial"/>
                <a:sym typeface="Arial"/>
              </a:rPr>
              <a:t> but cheap rents,           </a:t>
            </a:r>
            <a:r>
              <a:rPr b="1" lang="en-US" sz="1100">
                <a:latin typeface="Arial"/>
                <a:ea typeface="Arial"/>
                <a:cs typeface="Arial"/>
                <a:sym typeface="Arial"/>
              </a:rPr>
              <a:t>so if we compare everything together, the effect disappears.</a:t>
            </a:r>
            <a:endParaRPr b="1"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b="1" lang="en-US" sz="1100">
                <a:latin typeface="Arial"/>
                <a:ea typeface="Arial"/>
                <a:cs typeface="Arial"/>
                <a:sym typeface="Arial"/>
              </a:rPr>
              <a:t>With this in mind …</a:t>
            </a:r>
            <a:r>
              <a:rPr lang="en-US" sz="1100">
                <a:latin typeface="Arial"/>
                <a:ea typeface="Arial"/>
                <a:cs typeface="Arial"/>
                <a:sym typeface="Arial"/>
              </a:rPr>
              <a:t> we compared </a:t>
            </a:r>
            <a:r>
              <a:rPr b="1" lang="en-US" sz="1100">
                <a:latin typeface="Arial"/>
                <a:ea typeface="Arial"/>
                <a:cs typeface="Arial"/>
                <a:sym typeface="Arial"/>
              </a:rPr>
              <a:t>LT prices with ST rentals </a:t>
            </a:r>
            <a:r>
              <a:rPr lang="en-US" sz="1100">
                <a:latin typeface="Arial"/>
                <a:ea typeface="Arial"/>
                <a:cs typeface="Arial"/>
                <a:sym typeface="Arial"/>
              </a:rPr>
              <a:t>CONSIDERING municipalities of the same size.</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On the left, rent levels in the 2</a:t>
            </a:r>
            <a:r>
              <a:rPr baseline="30000" lang="en-US" sz="1100">
                <a:latin typeface="Arial"/>
                <a:ea typeface="Arial"/>
                <a:cs typeface="Arial"/>
                <a:sym typeface="Arial"/>
              </a:rPr>
              <a:t>ND</a:t>
            </a:r>
            <a:r>
              <a:rPr lang="en-US" sz="1100">
                <a:latin typeface="Arial"/>
                <a:ea typeface="Arial"/>
                <a:cs typeface="Arial"/>
                <a:sym typeface="Arial"/>
              </a:rPr>
              <a:t> quarter this year.</a:t>
            </a:r>
            <a:endParaRPr sz="1100">
              <a:latin typeface="Arial"/>
              <a:ea typeface="Arial"/>
              <a:cs typeface="Arial"/>
              <a:sym typeface="Arial"/>
            </a:endParaRPr>
          </a:p>
          <a:p>
            <a:pPr indent="-228600" lvl="0" marL="457200" rtl="0" algn="l">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Ø</a:t>
            </a:r>
            <a:r>
              <a:rPr lang="en-US" sz="700">
                <a:latin typeface="Times New Roman"/>
                <a:ea typeface="Times New Roman"/>
                <a:cs typeface="Times New Roman"/>
                <a:sym typeface="Times New Roman"/>
              </a:rPr>
              <a:t>  </a:t>
            </a:r>
            <a:r>
              <a:rPr lang="en-US" sz="1100">
                <a:latin typeface="Arial"/>
                <a:ea typeface="Arial"/>
                <a:cs typeface="Arial"/>
                <a:sym typeface="Arial"/>
              </a:rPr>
              <a:t>In small municipalities there is no difference. </a:t>
            </a:r>
            <a:r>
              <a:rPr b="1" lang="en-US" sz="1100">
                <a:latin typeface="Arial"/>
                <a:ea typeface="Arial"/>
                <a:cs typeface="Arial"/>
                <a:sym typeface="Arial"/>
              </a:rPr>
              <a:t>But in large municipalities</a:t>
            </a:r>
            <a:r>
              <a:rPr lang="en-US" sz="1100">
                <a:latin typeface="Arial"/>
                <a:ea typeface="Arial"/>
                <a:cs typeface="Arial"/>
                <a:sym typeface="Arial"/>
              </a:rPr>
              <a:t>, those </a:t>
            </a:r>
            <a:r>
              <a:rPr lang="en-US" sz="1100" u="sng">
                <a:latin typeface="Arial"/>
                <a:ea typeface="Arial"/>
                <a:cs typeface="Arial"/>
                <a:sym typeface="Arial"/>
              </a:rPr>
              <a:t>with more short-term rentals</a:t>
            </a:r>
            <a:r>
              <a:rPr lang="en-US" sz="1100">
                <a:latin typeface="Arial"/>
                <a:ea typeface="Arial"/>
                <a:cs typeface="Arial"/>
                <a:sym typeface="Arial"/>
              </a:rPr>
              <a:t> have </a:t>
            </a:r>
            <a:r>
              <a:rPr b="1" lang="en-US" sz="1100">
                <a:latin typeface="Arial"/>
                <a:ea typeface="Arial"/>
                <a:cs typeface="Arial"/>
                <a:sym typeface="Arial"/>
              </a:rPr>
              <a:t>41% higher PRICES for long-term rent</a:t>
            </a:r>
            <a:r>
              <a:rPr lang="en-US" sz="1100">
                <a:latin typeface="Arial"/>
                <a:ea typeface="Arial"/>
                <a:cs typeface="Arial"/>
                <a:sym typeface="Arial"/>
              </a:rPr>
              <a:t> per square metre.</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b="1" lang="en-US" sz="1100">
                <a:latin typeface="Arial"/>
                <a:ea typeface="Arial"/>
                <a:cs typeface="Arial"/>
                <a:sym typeface="Arial"/>
              </a:rPr>
              <a:t>On the right,</a:t>
            </a:r>
            <a:r>
              <a:rPr lang="en-US" sz="1100">
                <a:latin typeface="Arial"/>
                <a:ea typeface="Arial"/>
                <a:cs typeface="Arial"/>
                <a:sym typeface="Arial"/>
              </a:rPr>
              <a:t> growth since 2020. Long-term rents rose about </a:t>
            </a:r>
            <a:r>
              <a:rPr b="1" lang="en-US" sz="1100">
                <a:latin typeface="Arial"/>
                <a:ea typeface="Arial"/>
                <a:cs typeface="Arial"/>
                <a:sym typeface="Arial"/>
              </a:rPr>
              <a:t>71% almost everywhere</a:t>
            </a:r>
            <a:r>
              <a:rPr lang="en-US" sz="1100">
                <a:latin typeface="Arial"/>
                <a:ea typeface="Arial"/>
                <a:cs typeface="Arial"/>
                <a:sym typeface="Arial"/>
              </a:rPr>
              <a:t>, and </a:t>
            </a:r>
            <a:r>
              <a:rPr b="1" lang="en-US" sz="1100">
                <a:latin typeface="Arial"/>
                <a:ea typeface="Arial"/>
                <a:cs typeface="Arial"/>
                <a:sym typeface="Arial"/>
              </a:rPr>
              <a:t>they did not rise</a:t>
            </a:r>
            <a:r>
              <a:rPr lang="en-US" sz="1100">
                <a:latin typeface="Arial"/>
                <a:ea typeface="Arial"/>
                <a:cs typeface="Arial"/>
                <a:sym typeface="Arial"/>
              </a:rPr>
              <a:t> faster where more short-term rentals were added.</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lang="en-US" sz="1100">
                <a:highlight>
                  <a:srgbClr val="FFFF00"/>
                </a:highlight>
                <a:latin typeface="Arial"/>
                <a:ea typeface="Arial"/>
                <a:cs typeface="Arial"/>
                <a:sym typeface="Arial"/>
              </a:rPr>
              <a:t>To conclude this analysis:</a:t>
            </a:r>
            <a:r>
              <a:rPr lang="en-US" sz="1100">
                <a:latin typeface="Arial"/>
                <a:ea typeface="Arial"/>
                <a:cs typeface="Arial"/>
                <a:sym typeface="Arial"/>
              </a:rPr>
              <a:t> Short-term rentals go with higher rent levels </a:t>
            </a:r>
            <a:r>
              <a:rPr b="1" lang="en-US" sz="1100">
                <a:latin typeface="Arial"/>
                <a:ea typeface="Arial"/>
                <a:cs typeface="Arial"/>
                <a:sym typeface="Arial"/>
              </a:rPr>
              <a:t>in big towns</a:t>
            </a:r>
            <a:r>
              <a:rPr lang="en-US" sz="1100">
                <a:latin typeface="Arial"/>
                <a:ea typeface="Arial"/>
                <a:cs typeface="Arial"/>
                <a:sym typeface="Arial"/>
              </a:rPr>
              <a:t>, but </a:t>
            </a:r>
            <a:r>
              <a:rPr b="1" lang="en-US" sz="1100">
                <a:latin typeface="Arial"/>
                <a:ea typeface="Arial"/>
                <a:cs typeface="Arial"/>
                <a:sym typeface="Arial"/>
              </a:rPr>
              <a:t>they</a:t>
            </a:r>
            <a:r>
              <a:rPr lang="en-US" sz="1100">
                <a:latin typeface="Arial"/>
                <a:ea typeface="Arial"/>
                <a:cs typeface="Arial"/>
                <a:sym typeface="Arial"/>
              </a:rPr>
              <a:t> </a:t>
            </a:r>
            <a:r>
              <a:rPr b="1" lang="en-US" sz="1100">
                <a:latin typeface="Arial"/>
                <a:ea typeface="Arial"/>
                <a:cs typeface="Arial"/>
                <a:sym typeface="Arial"/>
              </a:rPr>
              <a:t>are not what drove</a:t>
            </a:r>
            <a:r>
              <a:rPr lang="en-US" sz="1100">
                <a:latin typeface="Arial"/>
                <a:ea typeface="Arial"/>
                <a:cs typeface="Arial"/>
                <a:sym typeface="Arial"/>
              </a:rPr>
              <a:t> the increase since 2020.</a:t>
            </a:r>
            <a:endParaRPr sz="1100">
              <a:latin typeface="Arial"/>
              <a:ea typeface="Arial"/>
              <a:cs typeface="Arial"/>
              <a:sym typeface="Arial"/>
            </a:endParaRPr>
          </a:p>
          <a:p>
            <a:pPr indent="0" lvl="0" marL="0" rtl="0" algn="l">
              <a:lnSpc>
                <a:spcPct val="115000"/>
              </a:lnSpc>
              <a:spcBef>
                <a:spcPts val="800"/>
              </a:spcBef>
              <a:spcAft>
                <a:spcPts val="800"/>
              </a:spcAft>
              <a:buSzPts val="1100"/>
              <a:buNone/>
            </a:pPr>
            <a:r>
              <a:rPr lang="en-US" sz="1100">
                <a:solidFill>
                  <a:srgbClr val="EE0000"/>
                </a:solidFill>
                <a:latin typeface="Arial"/>
                <a:ea typeface="Arial"/>
                <a:cs typeface="Arial"/>
                <a:sym typeface="Arial"/>
              </a:rPr>
              <a:t>MOVING TO THE NEXT SLIDE …</a:t>
            </a:r>
            <a:endParaRPr/>
          </a:p>
        </p:txBody>
      </p:sp>
      <p:sp>
        <p:nvSpPr>
          <p:cNvPr id="253" name="Google Shape;253;h25f080b895c98cf9_1_3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h25f080b895c98cf9_1_5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h25f080b895c98cf9_1_5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JULIANA (40 s): </a:t>
            </a:r>
            <a:r>
              <a:rPr lang="en-US" sz="1100">
                <a:latin typeface="Arial"/>
                <a:ea typeface="Arial"/>
                <a:cs typeface="Arial"/>
                <a:sym typeface="Arial"/>
              </a:rPr>
              <a:t>The 3</a:t>
            </a:r>
            <a:r>
              <a:rPr baseline="30000" lang="en-US" sz="1100">
                <a:latin typeface="Arial"/>
                <a:ea typeface="Arial"/>
                <a:cs typeface="Arial"/>
                <a:sym typeface="Arial"/>
              </a:rPr>
              <a:t>rd</a:t>
            </a:r>
            <a:r>
              <a:rPr lang="en-US" sz="1100">
                <a:latin typeface="Arial"/>
                <a:ea typeface="Arial"/>
                <a:cs typeface="Arial"/>
                <a:sym typeface="Arial"/>
              </a:rPr>
              <a:t> HYPOTESIS </a:t>
            </a:r>
            <a:r>
              <a:rPr b="1" lang="en-US" sz="1100">
                <a:latin typeface="Arial"/>
                <a:ea typeface="Arial"/>
                <a:cs typeface="Arial"/>
                <a:sym typeface="Arial"/>
              </a:rPr>
              <a:t>asks if the crisis is spreading beyond</a:t>
            </a:r>
            <a:r>
              <a:rPr lang="en-US" sz="1100">
                <a:latin typeface="Arial"/>
                <a:ea typeface="Arial"/>
                <a:cs typeface="Arial"/>
                <a:sym typeface="Arial"/>
              </a:rPr>
              <a:t> Lisbon and Porto.</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We used the same INE data and grouped municipalities into</a:t>
            </a:r>
            <a:endParaRPr sz="1100">
              <a:latin typeface="Arial"/>
              <a:ea typeface="Arial"/>
              <a:cs typeface="Arial"/>
              <a:sym typeface="Arial"/>
            </a:endParaRPr>
          </a:p>
          <a:p>
            <a:pPr indent="-228600" lvl="0" marL="457200" rtl="0" algn="l">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a:t>
            </a:r>
            <a:r>
              <a:rPr lang="en-US" sz="700">
                <a:latin typeface="Times New Roman"/>
                <a:ea typeface="Times New Roman"/>
                <a:cs typeface="Times New Roman"/>
                <a:sym typeface="Times New Roman"/>
              </a:rPr>
              <a:t>   	</a:t>
            </a:r>
            <a:r>
              <a:rPr lang="en-US" sz="1100">
                <a:latin typeface="Arial"/>
                <a:ea typeface="Arial"/>
                <a:cs typeface="Arial"/>
                <a:sym typeface="Arial"/>
              </a:rPr>
              <a:t>the two cities +</a:t>
            </a:r>
            <a:endParaRPr sz="1100">
              <a:latin typeface="Arial"/>
              <a:ea typeface="Arial"/>
              <a:cs typeface="Arial"/>
              <a:sym typeface="Arial"/>
            </a:endParaRPr>
          </a:p>
          <a:p>
            <a:pPr indent="-228600" lvl="0" marL="45720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a:t>
            </a:r>
            <a:r>
              <a:rPr lang="en-US" sz="700">
                <a:latin typeface="Times New Roman"/>
                <a:ea typeface="Times New Roman"/>
                <a:cs typeface="Times New Roman"/>
                <a:sym typeface="Times New Roman"/>
              </a:rPr>
              <a:t>   	</a:t>
            </a:r>
            <a:r>
              <a:rPr lang="en-US" sz="1100">
                <a:latin typeface="Arial"/>
                <a:ea typeface="Arial"/>
                <a:cs typeface="Arial"/>
                <a:sym typeface="Arial"/>
              </a:rPr>
              <a:t>The municipalities around them +</a:t>
            </a:r>
            <a:endParaRPr sz="1100">
              <a:latin typeface="Arial"/>
              <a:ea typeface="Arial"/>
              <a:cs typeface="Arial"/>
              <a:sym typeface="Arial"/>
            </a:endParaRPr>
          </a:p>
          <a:p>
            <a:pPr indent="-228600" lvl="0" marL="45720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a:t>
            </a:r>
            <a:r>
              <a:rPr lang="en-US" sz="700">
                <a:latin typeface="Times New Roman"/>
                <a:ea typeface="Times New Roman"/>
                <a:cs typeface="Times New Roman"/>
                <a:sym typeface="Times New Roman"/>
              </a:rPr>
              <a:t>   	</a:t>
            </a:r>
            <a:r>
              <a:rPr lang="en-US" sz="1100">
                <a:latin typeface="Arial"/>
                <a:ea typeface="Arial"/>
                <a:cs typeface="Arial"/>
                <a:sym typeface="Arial"/>
              </a:rPr>
              <a:t>and the rest of Portugal.</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Since 2020, </a:t>
            </a:r>
            <a:r>
              <a:rPr b="1" lang="en-US" sz="1100">
                <a:latin typeface="Arial"/>
                <a:ea typeface="Arial"/>
                <a:cs typeface="Arial"/>
                <a:sym typeface="Arial"/>
              </a:rPr>
              <a:t>LONG TERM rents</a:t>
            </a:r>
            <a:r>
              <a:rPr lang="en-US" sz="1100">
                <a:latin typeface="Arial"/>
                <a:ea typeface="Arial"/>
                <a:cs typeface="Arial"/>
                <a:sym typeface="Arial"/>
              </a:rPr>
              <a:t> grew 52% in Lisbon and Porto, but 73% around them and 71% in the rest of the country.</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lang="en-US" sz="1100">
                <a:highlight>
                  <a:srgbClr val="FFFF00"/>
                </a:highlight>
                <a:latin typeface="Arial"/>
                <a:ea typeface="Arial"/>
                <a:cs typeface="Arial"/>
                <a:sym typeface="Arial"/>
              </a:rPr>
              <a:t>On the right,</a:t>
            </a:r>
            <a:r>
              <a:rPr lang="en-US" sz="1100">
                <a:latin typeface="Arial"/>
                <a:ea typeface="Arial"/>
                <a:cs typeface="Arial"/>
                <a:sym typeface="Arial"/>
              </a:rPr>
              <a:t> A KIND OF ZOOM to see where it is happening:</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b="1" lang="en-US" sz="1100">
                <a:latin typeface="Arial"/>
                <a:ea typeface="Arial"/>
                <a:cs typeface="Arial"/>
                <a:sym typeface="Arial"/>
              </a:rPr>
              <a:t>Moita more than doubled</a:t>
            </a:r>
            <a:r>
              <a:rPr lang="en-US" sz="1100">
                <a:latin typeface="Arial"/>
                <a:ea typeface="Arial"/>
                <a:cs typeface="Arial"/>
                <a:sym typeface="Arial"/>
              </a:rPr>
              <a:t>, followed by Trofa and Barreiro, </a:t>
            </a:r>
            <a:r>
              <a:rPr b="1" lang="en-US" sz="1100">
                <a:latin typeface="Arial"/>
                <a:ea typeface="Arial"/>
                <a:cs typeface="Arial"/>
                <a:sym typeface="Arial"/>
              </a:rPr>
              <a:t>all growing much faster than Lisbon</a:t>
            </a:r>
            <a:r>
              <a:rPr lang="en-US" sz="1100">
                <a:latin typeface="Arial"/>
                <a:ea typeface="Arial"/>
                <a:cs typeface="Arial"/>
                <a:sym typeface="Arial"/>
              </a:rPr>
              <a:t>, at 44%.</a:t>
            </a:r>
            <a:endParaRPr sz="1100">
              <a:latin typeface="Arial"/>
              <a:ea typeface="Arial"/>
              <a:cs typeface="Arial"/>
              <a:sym typeface="Arial"/>
            </a:endParaRPr>
          </a:p>
          <a:p>
            <a:pPr indent="0" lvl="0" marL="0" rtl="0" algn="l">
              <a:lnSpc>
                <a:spcPct val="115000"/>
              </a:lnSpc>
              <a:spcBef>
                <a:spcPts val="800"/>
              </a:spcBef>
              <a:spcAft>
                <a:spcPts val="0"/>
              </a:spcAft>
              <a:buSzPts val="1100"/>
              <a:buNone/>
            </a:pPr>
            <a:r>
              <a:rPr lang="en-US" sz="1100">
                <a:highlight>
                  <a:srgbClr val="FFFF00"/>
                </a:highlight>
                <a:latin typeface="Arial"/>
                <a:ea typeface="Arial"/>
                <a:cs typeface="Arial"/>
                <a:sym typeface="Arial"/>
              </a:rPr>
              <a:t>So yes: the crisis is moving outward. This H3 is supported. </a:t>
            </a:r>
            <a:r>
              <a:rPr lang="en-US" sz="1100">
                <a:solidFill>
                  <a:srgbClr val="EE0000"/>
                </a:solidFill>
                <a:latin typeface="Arial"/>
                <a:ea typeface="Arial"/>
                <a:cs typeface="Arial"/>
                <a:sym typeface="Arial"/>
              </a:rPr>
              <a:t>IN THE NEXT SLIDE …</a:t>
            </a:r>
            <a:endParaRPr sz="1100">
              <a:solidFill>
                <a:srgbClr val="EE0000"/>
              </a:solidFill>
              <a:latin typeface="Arial"/>
              <a:ea typeface="Arial"/>
              <a:cs typeface="Arial"/>
              <a:sym typeface="Arial"/>
            </a:endParaRPr>
          </a:p>
          <a:p>
            <a:pPr indent="0" lvl="0" marL="0" rtl="0" algn="l">
              <a:lnSpc>
                <a:spcPct val="115000"/>
              </a:lnSpc>
              <a:spcBef>
                <a:spcPts val="800"/>
              </a:spcBef>
              <a:spcAft>
                <a:spcPts val="800"/>
              </a:spcAft>
              <a:buSzPts val="1100"/>
              <a:buNone/>
            </a:pPr>
            <a:r>
              <a:t/>
            </a:r>
            <a:endParaRPr sz="1100">
              <a:highlight>
                <a:srgbClr val="FFFF00"/>
              </a:highlight>
              <a:latin typeface="Arial"/>
              <a:ea typeface="Arial"/>
              <a:cs typeface="Arial"/>
              <a:sym typeface="Arial"/>
            </a:endParaRPr>
          </a:p>
        </p:txBody>
      </p:sp>
      <p:sp>
        <p:nvSpPr>
          <p:cNvPr id="301" name="Google Shape;301;h25f080b895c98cf9_1_5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JULIANA (30 s): So, after present you our finding, here is a summary of our conclusion:</a:t>
            </a:r>
            <a:endParaRPr/>
          </a:p>
          <a:p>
            <a:pPr indent="0" lvl="0" marL="0" rtl="0" algn="l">
              <a:spcBef>
                <a:spcPts val="0"/>
              </a:spcBef>
              <a:spcAft>
                <a:spcPts val="0"/>
              </a:spcAft>
              <a:buNone/>
            </a:pPr>
            <a:r>
              <a:rPr b="1" lang="en-US"/>
              <a:t>1st </a:t>
            </a:r>
            <a:r>
              <a:rPr b="1" lang="en-US"/>
              <a:t>hypothesis</a:t>
            </a:r>
            <a:r>
              <a:rPr lang="en-US"/>
              <a:t> is supported: rents grew more than twice as fast as wages, and a typical flat now takes 42 percent of a gross salary, in small and in large towns. </a:t>
            </a:r>
            <a:endParaRPr/>
          </a:p>
          <a:p>
            <a:pPr indent="0" lvl="0" marL="0" rtl="0" algn="l">
              <a:spcBef>
                <a:spcPts val="0"/>
              </a:spcBef>
              <a:spcAft>
                <a:spcPts val="0"/>
              </a:spcAft>
              <a:buNone/>
            </a:pPr>
            <a:r>
              <a:rPr b="1" lang="en-US"/>
              <a:t>2nd </a:t>
            </a:r>
            <a:r>
              <a:rPr b="1" lang="en-US"/>
              <a:t>hypothesis</a:t>
            </a:r>
            <a:r>
              <a:rPr lang="en-US"/>
              <a:t> </a:t>
            </a:r>
            <a:r>
              <a:rPr lang="en-US"/>
              <a:t> is only partly supported because short-term rentals go with higher rents in large municipalities, but not in small ones, and LT rents rose about 70 percent almost everywhere. </a:t>
            </a:r>
            <a:endParaRPr/>
          </a:p>
          <a:p>
            <a:pPr indent="0" lvl="0" marL="0" rtl="0" algn="l">
              <a:spcBef>
                <a:spcPts val="0"/>
              </a:spcBef>
              <a:spcAft>
                <a:spcPts val="0"/>
              </a:spcAft>
              <a:buNone/>
            </a:pPr>
            <a:r>
              <a:rPr b="1" lang="en-US"/>
              <a:t>3rd </a:t>
            </a:r>
            <a:r>
              <a:rPr b="1" lang="en-US"/>
              <a:t>hypothesis</a:t>
            </a:r>
            <a:r>
              <a:rPr lang="en-US"/>
              <a:t> </a:t>
            </a:r>
            <a:r>
              <a:rPr lang="en-US"/>
              <a:t>is supported: the crisis is spreading out of Lisbon and Porto. </a:t>
            </a:r>
            <a:r>
              <a:rPr b="1" lang="en-US" sz="1100">
                <a:latin typeface="Arial"/>
                <a:ea typeface="Arial"/>
                <a:cs typeface="Arial"/>
                <a:sym typeface="Arial"/>
              </a:rPr>
              <a:t>The gap</a:t>
            </a:r>
            <a:r>
              <a:rPr lang="en-US" sz="1100">
                <a:latin typeface="Arial"/>
                <a:ea typeface="Arial"/>
                <a:cs typeface="Arial"/>
                <a:sym typeface="Arial"/>
              </a:rPr>
              <a:t> between the </a:t>
            </a:r>
            <a:r>
              <a:rPr lang="en-US" sz="1100" u="sng">
                <a:latin typeface="Arial"/>
                <a:ea typeface="Arial"/>
                <a:cs typeface="Arial"/>
                <a:sym typeface="Arial"/>
              </a:rPr>
              <a:t>cities</a:t>
            </a:r>
            <a:r>
              <a:rPr lang="en-US" sz="1100">
                <a:latin typeface="Arial"/>
                <a:ea typeface="Arial"/>
                <a:cs typeface="Arial"/>
                <a:sym typeface="Arial"/>
              </a:rPr>
              <a:t> and </a:t>
            </a:r>
            <a:r>
              <a:rPr lang="en-US" sz="1100" u="sng">
                <a:latin typeface="Arial"/>
                <a:ea typeface="Arial"/>
                <a:cs typeface="Arial"/>
                <a:sym typeface="Arial"/>
              </a:rPr>
              <a:t>their surroundings</a:t>
            </a:r>
            <a:r>
              <a:rPr lang="en-US" sz="1100">
                <a:latin typeface="Arial"/>
                <a:ea typeface="Arial"/>
                <a:cs typeface="Arial"/>
                <a:sym typeface="Arial"/>
              </a:rPr>
              <a:t> </a:t>
            </a:r>
            <a:r>
              <a:rPr b="1" lang="en-US" sz="1100">
                <a:latin typeface="Arial"/>
                <a:ea typeface="Arial"/>
                <a:cs typeface="Arial"/>
                <a:sym typeface="Arial"/>
              </a:rPr>
              <a:t>is getting smaller</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0"/>
              </a:spcBef>
              <a:spcAft>
                <a:spcPts val="0"/>
              </a:spcAft>
              <a:buNone/>
            </a:pPr>
            <a:r>
              <a:rPr lang="en-US">
                <a:solidFill>
                  <a:srgbClr val="FF0000"/>
                </a:solidFill>
              </a:rPr>
              <a:t>And, to finalize our presentation:</a:t>
            </a:r>
            <a:endParaRPr>
              <a:solidFill>
                <a:srgbClr val="FF0000"/>
              </a:solidFill>
            </a:endParaRPr>
          </a:p>
        </p:txBody>
      </p:sp>
      <p:sp>
        <p:nvSpPr>
          <p:cNvPr id="360" name="Google Shape;36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JULIANA (35 s): </a:t>
            </a:r>
            <a:r>
              <a:rPr lang="en-US" sz="1100">
                <a:latin typeface="Arial"/>
                <a:ea typeface="Arial"/>
                <a:cs typeface="Arial"/>
                <a:sym typeface="Arial"/>
              </a:rPr>
              <a:t> What surprised us most: new short-term rental registrations in Lisbon almost stopped, but rents kept rising. And Long-term rents rose around 70 percent almost everywhere.</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 </a:t>
            </a:r>
            <a:endParaRPr sz="1100">
              <a:latin typeface="Arial"/>
              <a:ea typeface="Arial"/>
              <a:cs typeface="Arial"/>
              <a:sym typeface="Arial"/>
            </a:endParaRPr>
          </a:p>
          <a:p>
            <a:pPr indent="-228600" lvl="0" marL="457200" rtl="0" algn="l">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a:t>
            </a:r>
            <a:r>
              <a:rPr lang="en-US" sz="700">
                <a:latin typeface="Times New Roman"/>
                <a:ea typeface="Times New Roman"/>
                <a:cs typeface="Times New Roman"/>
                <a:sym typeface="Times New Roman"/>
              </a:rPr>
              <a:t>   	</a:t>
            </a:r>
            <a:r>
              <a:rPr lang="en-US" sz="1100">
                <a:latin typeface="Arial"/>
                <a:ea typeface="Arial"/>
                <a:cs typeface="Arial"/>
                <a:sym typeface="Arial"/>
              </a:rPr>
              <a:t>The implication is that </a:t>
            </a:r>
            <a:r>
              <a:rPr b="1" lang="en-US" sz="1100">
                <a:latin typeface="Arial"/>
                <a:ea typeface="Arial"/>
                <a:cs typeface="Arial"/>
                <a:sym typeface="Arial"/>
              </a:rPr>
              <a:t>Housing costs</a:t>
            </a:r>
            <a:r>
              <a:rPr lang="en-US" sz="1100">
                <a:latin typeface="Arial"/>
                <a:ea typeface="Arial"/>
                <a:cs typeface="Arial"/>
                <a:sym typeface="Arial"/>
              </a:rPr>
              <a:t> is now a </a:t>
            </a:r>
            <a:r>
              <a:rPr b="1" lang="en-US" sz="1100">
                <a:latin typeface="Arial"/>
                <a:ea typeface="Arial"/>
                <a:cs typeface="Arial"/>
                <a:sym typeface="Arial"/>
              </a:rPr>
              <a:t>national </a:t>
            </a:r>
            <a:r>
              <a:rPr lang="en-US" sz="1100">
                <a:latin typeface="Arial"/>
                <a:ea typeface="Arial"/>
                <a:cs typeface="Arial"/>
                <a:sym typeface="Arial"/>
              </a:rPr>
              <a:t>problem.</a:t>
            </a:r>
            <a:endParaRPr sz="1100">
              <a:latin typeface="Arial"/>
              <a:ea typeface="Arial"/>
              <a:cs typeface="Arial"/>
              <a:sym typeface="Arial"/>
            </a:endParaRPr>
          </a:p>
          <a:p>
            <a:pPr indent="0" lvl="0" marL="457200" rtl="0" algn="l">
              <a:lnSpc>
                <a:spcPct val="115000"/>
              </a:lnSpc>
              <a:spcBef>
                <a:spcPts val="0"/>
              </a:spcBef>
              <a:spcAft>
                <a:spcPts val="0"/>
              </a:spcAft>
              <a:buSzPts val="1100"/>
              <a:buNone/>
            </a:pPr>
            <a:r>
              <a:rPr lang="en-US" sz="1100">
                <a:latin typeface="Arial"/>
                <a:ea typeface="Arial"/>
                <a:cs typeface="Arial"/>
                <a:sym typeface="Arial"/>
              </a:rPr>
              <a:t>The pressure </a:t>
            </a:r>
            <a:r>
              <a:rPr b="1" lang="en-US" sz="1100">
                <a:latin typeface="Arial"/>
                <a:ea typeface="Arial"/>
                <a:cs typeface="Arial"/>
                <a:sym typeface="Arial"/>
              </a:rPr>
              <a:t>is moving to cheaper areas</a:t>
            </a:r>
            <a:r>
              <a:rPr lang="en-US" sz="1100">
                <a:latin typeface="Arial"/>
                <a:ea typeface="Arial"/>
                <a:cs typeface="Arial"/>
                <a:sym typeface="Arial"/>
              </a:rPr>
              <a:t>, where </a:t>
            </a:r>
            <a:r>
              <a:rPr b="1" lang="en-US" sz="1100">
                <a:latin typeface="Arial"/>
                <a:ea typeface="Arial"/>
                <a:cs typeface="Arial"/>
                <a:sym typeface="Arial"/>
              </a:rPr>
              <a:t>wages</a:t>
            </a:r>
            <a:r>
              <a:rPr lang="en-US" sz="1100">
                <a:latin typeface="Arial"/>
                <a:ea typeface="Arial"/>
                <a:cs typeface="Arial"/>
                <a:sym typeface="Arial"/>
              </a:rPr>
              <a:t> are usually </a:t>
            </a:r>
            <a:r>
              <a:rPr b="1" lang="en-US" sz="1100">
                <a:latin typeface="Arial"/>
                <a:ea typeface="Arial"/>
                <a:cs typeface="Arial"/>
                <a:sym typeface="Arial"/>
              </a:rPr>
              <a:t>lower</a:t>
            </a:r>
            <a:r>
              <a:rPr lang="en-US" sz="1100">
                <a:latin typeface="Arial"/>
                <a:ea typeface="Arial"/>
                <a:cs typeface="Arial"/>
                <a:sym typeface="Arial"/>
              </a:rPr>
              <a:t>, and      limiting short-term rentals alone will not solve it.</a:t>
            </a:r>
            <a:endParaRPr sz="1100">
              <a:latin typeface="Arial"/>
              <a:ea typeface="Arial"/>
              <a:cs typeface="Arial"/>
              <a:sym typeface="Arial"/>
            </a:endParaRPr>
          </a:p>
          <a:p>
            <a:pPr indent="0" lvl="0" marL="457200" rtl="0" algn="l">
              <a:lnSpc>
                <a:spcPct val="115000"/>
              </a:lnSpc>
              <a:spcBef>
                <a:spcPts val="8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lang="en-US" sz="1100">
                <a:highlight>
                  <a:srgbClr val="FFFF00"/>
                </a:highlight>
                <a:latin typeface="Arial"/>
                <a:ea typeface="Arial"/>
                <a:cs typeface="Arial"/>
                <a:sym typeface="Arial"/>
              </a:rPr>
              <a:t> </a:t>
            </a:r>
            <a:r>
              <a:rPr lang="en-US" sz="1100">
                <a:latin typeface="Arial"/>
                <a:ea typeface="Arial"/>
                <a:cs typeface="Arial"/>
                <a:sym typeface="Arial"/>
              </a:rPr>
              <a:t>·</a:t>
            </a:r>
            <a:r>
              <a:rPr lang="en-US" sz="700">
                <a:latin typeface="Times New Roman"/>
                <a:ea typeface="Times New Roman"/>
                <a:cs typeface="Times New Roman"/>
                <a:sym typeface="Times New Roman"/>
              </a:rPr>
              <a:t>   	</a:t>
            </a:r>
            <a:r>
              <a:rPr lang="en-US" sz="1100">
                <a:highlight>
                  <a:srgbClr val="FFFF00"/>
                </a:highlight>
                <a:latin typeface="Arial"/>
                <a:ea typeface="Arial"/>
                <a:cs typeface="Arial"/>
                <a:sym typeface="Arial"/>
              </a:rPr>
              <a:t>There are still questions we couldn't answer</a:t>
            </a:r>
            <a:r>
              <a:rPr lang="en-US" sz="1100">
                <a:latin typeface="Arial"/>
                <a:ea typeface="Arial"/>
                <a:cs typeface="Arial"/>
                <a:sym typeface="Arial"/>
              </a:rPr>
              <a:t>, like </a:t>
            </a:r>
            <a:r>
              <a:rPr b="1" lang="en-US" sz="1100">
                <a:latin typeface="Arial"/>
                <a:ea typeface="Arial"/>
                <a:cs typeface="Arial"/>
                <a:sym typeface="Arial"/>
              </a:rPr>
              <a:t>why rents rise</a:t>
            </a:r>
            <a:r>
              <a:rPr lang="en-US" sz="1100">
                <a:latin typeface="Arial"/>
                <a:ea typeface="Arial"/>
                <a:cs typeface="Arial"/>
                <a:sym typeface="Arial"/>
              </a:rPr>
              <a:t> maybe because of migration or remote work?</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           	regional wages,</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           	And also: the islands which are not included in our analysis.</a:t>
            </a:r>
            <a:endParaRPr sz="1100">
              <a:latin typeface="Arial"/>
              <a:ea typeface="Arial"/>
              <a:cs typeface="Arial"/>
              <a:sym typeface="Arial"/>
            </a:endParaRPr>
          </a:p>
          <a:p>
            <a:pPr indent="0" lvl="0" marL="0" rtl="0" algn="l">
              <a:lnSpc>
                <a:spcPct val="115000"/>
              </a:lnSpc>
              <a:spcBef>
                <a:spcPts val="800"/>
              </a:spcBef>
              <a:spcAft>
                <a:spcPts val="0"/>
              </a:spcAft>
              <a:buClr>
                <a:schemeClr val="dk1"/>
              </a:buClr>
              <a:buSzPts val="1100"/>
              <a:buFont typeface="Arial"/>
              <a:buNone/>
            </a:pPr>
            <a:r>
              <a:rPr lang="en-US" sz="1100">
                <a:highlight>
                  <a:srgbClr val="FFFF00"/>
                </a:highlight>
                <a:latin typeface="Arial"/>
                <a:ea typeface="Arial"/>
                <a:cs typeface="Arial"/>
                <a:sym typeface="Arial"/>
              </a:rPr>
              <a:t>TO FINALIZE THIS PRESENTATION</a:t>
            </a:r>
            <a:r>
              <a:rPr lang="en-US" sz="1100">
                <a:latin typeface="Arial"/>
                <a:ea typeface="Arial"/>
                <a:cs typeface="Arial"/>
                <a:sym typeface="Arial"/>
              </a:rPr>
              <a:t>, remember: </a:t>
            </a:r>
            <a:r>
              <a:rPr b="1" lang="en-US" sz="1100">
                <a:highlight>
                  <a:srgbClr val="FFFF00"/>
                </a:highlight>
                <a:latin typeface="Arial"/>
                <a:ea typeface="Arial"/>
                <a:cs typeface="Arial"/>
                <a:sym typeface="Arial"/>
              </a:rPr>
              <a:t>correlation is not causation</a:t>
            </a:r>
            <a:r>
              <a:rPr lang="en-US" sz="1100">
                <a:highlight>
                  <a:srgbClr val="FFFF00"/>
                </a:highlight>
                <a:latin typeface="Arial"/>
                <a:ea typeface="Arial"/>
                <a:cs typeface="Arial"/>
                <a:sym typeface="Arial"/>
              </a:rPr>
              <a:t>.</a:t>
            </a:r>
            <a:r>
              <a:rPr lang="en-US" sz="1100">
                <a:latin typeface="Arial"/>
                <a:ea typeface="Arial"/>
                <a:cs typeface="Arial"/>
                <a:sym typeface="Arial"/>
              </a:rPr>
              <a:t> Our data show </a:t>
            </a:r>
            <a:r>
              <a:rPr b="1" lang="en-US" sz="1100">
                <a:latin typeface="Arial"/>
                <a:ea typeface="Arial"/>
                <a:cs typeface="Arial"/>
                <a:sym typeface="Arial"/>
              </a:rPr>
              <a:t>where and how</a:t>
            </a:r>
            <a:r>
              <a:rPr lang="en-US" sz="1100">
                <a:latin typeface="Arial"/>
                <a:ea typeface="Arial"/>
                <a:cs typeface="Arial"/>
                <a:sym typeface="Arial"/>
              </a:rPr>
              <a:t> fast rents grew, </a:t>
            </a:r>
            <a:r>
              <a:rPr b="1" lang="en-US" sz="1100">
                <a:latin typeface="Arial"/>
                <a:ea typeface="Arial"/>
                <a:cs typeface="Arial"/>
                <a:sym typeface="Arial"/>
              </a:rPr>
              <a:t>not why</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800"/>
              </a:spcBef>
              <a:spcAft>
                <a:spcPts val="0"/>
              </a:spcAft>
              <a:buNone/>
            </a:pPr>
            <a:r>
              <a:t/>
            </a:r>
            <a:endParaRPr/>
          </a:p>
        </p:txBody>
      </p:sp>
      <p:sp>
        <p:nvSpPr>
          <p:cNvPr id="384" name="Google Shape;38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(5 s): Obrigado – thank you! We are happy to take your questions.</a:t>
            </a:r>
            <a:endParaRPr/>
          </a:p>
        </p:txBody>
      </p:sp>
      <p:sp>
        <p:nvSpPr>
          <p:cNvPr id="407" name="Google Shape;40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SzPts val="1100"/>
              <a:buNone/>
            </a:pPr>
            <a:r>
              <a:rPr b="1" lang="en-US" sz="1100">
                <a:latin typeface="Arial"/>
                <a:ea typeface="Arial"/>
                <a:cs typeface="Arial"/>
                <a:sym typeface="Arial"/>
              </a:rPr>
              <a:t>This is how we turned public data into one comparable evidence base. </a:t>
            </a:r>
            <a:endParaRPr b="1" sz="1100">
              <a:latin typeface="Arial"/>
              <a:ea typeface="Arial"/>
              <a:cs typeface="Arial"/>
              <a:sym typeface="Arial"/>
            </a:endParaRPr>
          </a:p>
          <a:p>
            <a:pPr indent="0" lvl="0" marL="381000" marR="381000" rtl="0" algn="l">
              <a:lnSpc>
                <a:spcPct val="115000"/>
              </a:lnSpc>
              <a:spcBef>
                <a:spcPts val="1200"/>
              </a:spcBef>
              <a:spcAft>
                <a:spcPts val="0"/>
              </a:spcAft>
              <a:buSzPts val="1100"/>
              <a:buNone/>
            </a:pPr>
            <a:r>
              <a:rPr b="1" lang="en-US" sz="1100">
                <a:latin typeface="Arial"/>
                <a:ea typeface="Arial"/>
                <a:cs typeface="Arial"/>
                <a:sym typeface="Arial"/>
              </a:rPr>
              <a:t>We collected roughly 146,000 source records from the INE API and RNAL. </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b="1" lang="en-US" sz="1100">
                <a:latin typeface="Arial"/>
                <a:ea typeface="Arial"/>
                <a:cs typeface="Arial"/>
                <a:sym typeface="Arial"/>
              </a:rPr>
              <a:t>We then standardised dates, numbers and geographic levels, and joined the datasets using municipality codes rather than names. From there, we compared rent growth, municipality size and short-term rental intensity, and tested each of our three client questions. The final step was to turn those results into one clear verdict per hypothesis.</a:t>
            </a:r>
            <a:endParaRPr/>
          </a:p>
        </p:txBody>
      </p:sp>
      <p:sp>
        <p:nvSpPr>
          <p:cNvPr id="418" name="Google Shape;41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0"/>
              </a:spcAft>
              <a:buSzPts val="1100"/>
              <a:buNone/>
            </a:pPr>
            <a:r>
              <a:rPr b="1" lang="en-US" sz="1100">
                <a:latin typeface="Arial"/>
                <a:ea typeface="Arial"/>
                <a:cs typeface="Arial"/>
                <a:sym typeface="Arial"/>
              </a:rPr>
              <a:t>Before the findings, three data issues mattered enough to affect the story. </a:t>
            </a:r>
            <a:endParaRPr b="1" sz="1100">
              <a:latin typeface="Arial"/>
              <a:ea typeface="Arial"/>
              <a:cs typeface="Arial"/>
              <a:sym typeface="Arial"/>
            </a:endParaRPr>
          </a:p>
          <a:p>
            <a:pPr indent="0" lvl="0" marL="381000" marR="381000" rtl="0" algn="l">
              <a:lnSpc>
                <a:spcPct val="115000"/>
              </a:lnSpc>
              <a:spcBef>
                <a:spcPts val="1200"/>
              </a:spcBef>
              <a:spcAft>
                <a:spcPts val="0"/>
              </a:spcAft>
              <a:buSzPts val="1100"/>
              <a:buNone/>
            </a:pPr>
            <a:r>
              <a:rPr b="1" lang="en-US" sz="1100">
                <a:latin typeface="Arial"/>
                <a:ea typeface="Arial"/>
                <a:cs typeface="Arial"/>
                <a:sym typeface="Arial"/>
              </a:rPr>
              <a:t>First, INE changed its rent methodology in 2026, so we couldn’t simply join the old and new levels. For H1, we kept the old method through 2024 and extended it using growth from the new series. </a:t>
            </a:r>
            <a:endParaRPr b="1" sz="1100">
              <a:latin typeface="Arial"/>
              <a:ea typeface="Arial"/>
              <a:cs typeface="Arial"/>
              <a:sym typeface="Arial"/>
            </a:endParaRPr>
          </a:p>
          <a:p>
            <a:pPr indent="0" lvl="0" marL="381000" marR="381000" rtl="0" algn="l">
              <a:lnSpc>
                <a:spcPct val="115000"/>
              </a:lnSpc>
              <a:spcBef>
                <a:spcPts val="1200"/>
              </a:spcBef>
              <a:spcAft>
                <a:spcPts val="0"/>
              </a:spcAft>
              <a:buSzPts val="1100"/>
              <a:buNone/>
            </a:pPr>
            <a:r>
              <a:rPr b="1" lang="en-US" sz="1100">
                <a:latin typeface="Arial"/>
                <a:ea typeface="Arial"/>
                <a:cs typeface="Arial"/>
                <a:sym typeface="Arial"/>
              </a:rPr>
              <a:t>Second, regional classifications changed, so municipality names weren’t reliable identifiers; we joined using the four-digit municipality code. </a:t>
            </a:r>
            <a:endParaRPr b="1" sz="1100">
              <a:latin typeface="Arial"/>
              <a:ea typeface="Arial"/>
              <a:cs typeface="Arial"/>
              <a:sym typeface="Arial"/>
            </a:endParaRPr>
          </a:p>
          <a:p>
            <a:pPr indent="0" lvl="0" marL="381000" marR="381000" rtl="0" algn="l">
              <a:lnSpc>
                <a:spcPct val="115000"/>
              </a:lnSpc>
              <a:spcBef>
                <a:spcPts val="1200"/>
              </a:spcBef>
              <a:spcAft>
                <a:spcPts val="1200"/>
              </a:spcAft>
              <a:buSzPts val="1100"/>
              <a:buNone/>
            </a:pPr>
            <a:r>
              <a:rPr b="1" lang="en-US" sz="1100">
                <a:latin typeface="Arial"/>
                <a:ea typeface="Arial"/>
                <a:cs typeface="Arial"/>
                <a:sym typeface="Arial"/>
              </a:rPr>
              <a:t>Third, some smaller municipalities had too few contracts for INE to publish a rent, so those observations were excluded and we report the coverage explicitly. We also checked that the main H1 conclusion was robust using the older rent series.</a:t>
            </a:r>
            <a:endParaRPr b="1" sz="1100">
              <a:latin typeface="Arial"/>
              <a:ea typeface="Arial"/>
              <a:cs typeface="Arial"/>
              <a:sym typeface="Arial"/>
            </a:endParaRPr>
          </a:p>
        </p:txBody>
      </p:sp>
      <p:sp>
        <p:nvSpPr>
          <p:cNvPr id="457" name="Google Shape;4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6.png"/><Relationship Id="rId9"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image" Target="../media/image20.png"/><Relationship Id="rId7" Type="http://schemas.openxmlformats.org/officeDocument/2006/relationships/image" Target="../media/image22.png"/><Relationship Id="rId8"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3D2E"/>
        </a:solidFill>
      </p:bgPr>
    </p:bg>
    <p:spTree>
      <p:nvGrpSpPr>
        <p:cNvPr id="15" name="Shape 15"/>
        <p:cNvGrpSpPr/>
        <p:nvPr/>
      </p:nvGrpSpPr>
      <p:grpSpPr>
        <a:xfrm>
          <a:off x="0" y="0"/>
          <a:ext cx="0" cy="0"/>
          <a:chOff x="0" y="0"/>
          <a:chExt cx="0" cy="0"/>
        </a:xfrm>
      </p:grpSpPr>
      <p:pic>
        <p:nvPicPr>
          <p:cNvPr descr="Portuguese azulejo tile pattern" id="16" name="Google Shape;16;p3"/>
          <p:cNvPicPr preferRelativeResize="0"/>
          <p:nvPr/>
        </p:nvPicPr>
        <p:blipFill rotWithShape="1">
          <a:blip r:embed="rId3">
            <a:alphaModFix/>
          </a:blip>
          <a:srcRect b="-3" l="0" r="0" t="-3"/>
          <a:stretch/>
        </p:blipFill>
        <p:spPr>
          <a:xfrm>
            <a:off x="8636000" y="0"/>
            <a:ext cx="3556000" cy="6858000"/>
          </a:xfrm>
          <a:prstGeom prst="rect">
            <a:avLst/>
          </a:prstGeom>
          <a:noFill/>
          <a:ln>
            <a:noFill/>
          </a:ln>
        </p:spPr>
      </p:pic>
      <p:sp>
        <p:nvSpPr>
          <p:cNvPr id="17" name="Google Shape;17;p3"/>
          <p:cNvSpPr/>
          <p:nvPr/>
        </p:nvSpPr>
        <p:spPr>
          <a:xfrm>
            <a:off x="8585200" y="0"/>
            <a:ext cx="50800" cy="6858000"/>
          </a:xfrm>
          <a:prstGeom prst="rect">
            <a:avLst/>
          </a:prstGeom>
          <a:solidFill>
            <a:srgbClr val="C8A1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12800" y="812800"/>
            <a:ext cx="7194550"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A14A"/>
              </a:buClr>
              <a:buSzPts val="1300"/>
              <a:buFont typeface="Source Sans 3"/>
              <a:buNone/>
            </a:pPr>
            <a:r>
              <a:rPr b="1" lang="en-US" sz="1600">
                <a:solidFill>
                  <a:srgbClr val="C8A14A"/>
                </a:solidFill>
                <a:latin typeface="Source Sans 3"/>
                <a:ea typeface="Source Sans 3"/>
                <a:cs typeface="Source Sans 3"/>
                <a:sym typeface="Source Sans 3"/>
              </a:rPr>
              <a:t>Pastel de Data, S.A.</a:t>
            </a:r>
            <a:endParaRPr b="1" sz="1600">
              <a:solidFill>
                <a:srgbClr val="C8A14A"/>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C8A14A"/>
              </a:buClr>
              <a:buSzPts val="1300"/>
              <a:buFont typeface="Source Sans 3"/>
              <a:buNone/>
            </a:pPr>
            <a:r>
              <a:rPr b="1" i="1" lang="en-US" sz="1600">
                <a:solidFill>
                  <a:srgbClr val="C8A14A"/>
                </a:solidFill>
                <a:latin typeface="Source Sans 3"/>
                <a:ea typeface="Source Sans 3"/>
                <a:cs typeface="Source Sans 3"/>
                <a:sym typeface="Source Sans 3"/>
              </a:rPr>
              <a:t>Independent public-data intelligence</a:t>
            </a:r>
            <a:endParaRPr b="1" i="1" sz="1600">
              <a:solidFill>
                <a:srgbClr val="C8A14A"/>
              </a:solidFill>
              <a:latin typeface="Source Sans 3"/>
              <a:ea typeface="Source Sans 3"/>
              <a:cs typeface="Source Sans 3"/>
              <a:sym typeface="Source Sans 3"/>
            </a:endParaRPr>
          </a:p>
        </p:txBody>
      </p:sp>
      <p:sp>
        <p:nvSpPr>
          <p:cNvPr id="19" name="Google Shape;19;p3"/>
          <p:cNvSpPr/>
          <p:nvPr/>
        </p:nvSpPr>
        <p:spPr>
          <a:xfrm>
            <a:off x="812800" y="1986062"/>
            <a:ext cx="7325360" cy="1683345"/>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3EDE1"/>
              </a:buClr>
              <a:buSzPts val="6400"/>
              <a:buFont typeface="Playfair Display"/>
              <a:buNone/>
            </a:pPr>
            <a:r>
              <a:rPr b="1" lang="en-US" sz="6400">
                <a:solidFill>
                  <a:srgbClr val="F3EDE1"/>
                </a:solidFill>
                <a:latin typeface="Playfair Display"/>
                <a:ea typeface="Playfair Display"/>
                <a:cs typeface="Playfair Display"/>
                <a:sym typeface="Playfair Display"/>
              </a:rPr>
              <a:t>Portugal’s Rental Crisis</a:t>
            </a:r>
            <a:endParaRPr b="0" i="0" sz="6400" u="none" cap="none" strike="noStrike">
              <a:solidFill>
                <a:schemeClr val="dk1"/>
              </a:solidFill>
              <a:latin typeface="Calibri"/>
              <a:ea typeface="Calibri"/>
              <a:cs typeface="Calibri"/>
              <a:sym typeface="Calibri"/>
            </a:endParaRPr>
          </a:p>
        </p:txBody>
      </p:sp>
      <p:sp>
        <p:nvSpPr>
          <p:cNvPr id="20" name="Google Shape;20;p3"/>
          <p:cNvSpPr/>
          <p:nvPr/>
        </p:nvSpPr>
        <p:spPr>
          <a:xfrm>
            <a:off x="812800" y="3896500"/>
            <a:ext cx="7606200" cy="67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D9E4DC"/>
              </a:buClr>
              <a:buSzPts val="1900"/>
              <a:buFont typeface="Source Sans 3"/>
              <a:buNone/>
            </a:pPr>
            <a:r>
              <a:rPr lang="en-US" sz="1900">
                <a:solidFill>
                  <a:srgbClr val="D9E4DC"/>
                </a:solidFill>
                <a:latin typeface="Source Sans 3"/>
                <a:ea typeface="Source Sans 3"/>
                <a:cs typeface="Source Sans 3"/>
                <a:sym typeface="Source Sans 3"/>
              </a:rPr>
              <a:t>Rent growth, short-term rentals, and the geography of rising rents</a:t>
            </a:r>
            <a:endParaRPr sz="1900">
              <a:solidFill>
                <a:srgbClr val="D9E4DC"/>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D9E4DC"/>
              </a:buClr>
              <a:buSzPts val="1900"/>
              <a:buFont typeface="Source Sans 3"/>
              <a:buNone/>
            </a:pPr>
            <a:r>
              <a:t/>
            </a:r>
            <a:endParaRPr sz="1900">
              <a:solidFill>
                <a:srgbClr val="D9E4DC"/>
              </a:solidFill>
              <a:latin typeface="Source Sans 3"/>
              <a:ea typeface="Source Sans 3"/>
              <a:cs typeface="Source Sans 3"/>
              <a:sym typeface="Source Sans 3"/>
            </a:endParaRPr>
          </a:p>
        </p:txBody>
      </p:sp>
      <p:sp>
        <p:nvSpPr>
          <p:cNvPr id="21" name="Google Shape;21;p3"/>
          <p:cNvSpPr/>
          <p:nvPr/>
        </p:nvSpPr>
        <p:spPr>
          <a:xfrm>
            <a:off x="878175" y="5180259"/>
            <a:ext cx="71946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3EDE1"/>
              </a:buClr>
              <a:buSzPts val="1600"/>
              <a:buFont typeface="Source Sans 3"/>
              <a:buNone/>
            </a:pPr>
            <a:r>
              <a:rPr b="1" lang="en-US" sz="1600">
                <a:solidFill>
                  <a:srgbClr val="F3EDE1"/>
                </a:solidFill>
                <a:latin typeface="Source Sans 3"/>
                <a:ea typeface="Source Sans 3"/>
                <a:cs typeface="Source Sans 3"/>
                <a:sym typeface="Source Sans 3"/>
              </a:rPr>
              <a:t>Prepared for </a:t>
            </a:r>
            <a:r>
              <a:rPr b="1" lang="en-US" sz="1600">
                <a:solidFill>
                  <a:srgbClr val="F3EDE1"/>
                </a:solidFill>
                <a:latin typeface="Source Sans 3"/>
                <a:ea typeface="Source Sans 3"/>
                <a:cs typeface="Source Sans 3"/>
                <a:sym typeface="Source Sans 3"/>
              </a:rPr>
              <a:t>SIC (</a:t>
            </a:r>
            <a:r>
              <a:rPr b="1" lang="en-US" sz="1600">
                <a:solidFill>
                  <a:srgbClr val="F3EDE1"/>
                </a:solidFill>
                <a:latin typeface="Source Sans 3"/>
                <a:ea typeface="Source Sans 3"/>
                <a:cs typeface="Source Sans 3"/>
                <a:sym typeface="Source Sans 3"/>
              </a:rPr>
              <a:t>Sociedade Independente de Comunicação)</a:t>
            </a:r>
            <a:endParaRPr b="1" sz="1600">
              <a:solidFill>
                <a:srgbClr val="F3EDE1"/>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F3EDE1"/>
              </a:buClr>
              <a:buSzPts val="1600"/>
              <a:buFont typeface="Source Sans 3"/>
              <a:buNone/>
            </a:pPr>
            <a:r>
              <a:rPr b="1" lang="en-US" sz="1600">
                <a:solidFill>
                  <a:srgbClr val="F3EDE1"/>
                </a:solidFill>
                <a:latin typeface="Source Sans 3"/>
                <a:ea typeface="Source Sans 3"/>
                <a:cs typeface="Source Sans 3"/>
                <a:sym typeface="Source Sans 3"/>
              </a:rPr>
              <a:t>October 2026</a:t>
            </a:r>
            <a:endParaRPr b="1" sz="1600">
              <a:solidFill>
                <a:srgbClr val="F3EDE1"/>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F3EDE1"/>
              </a:buClr>
              <a:buSzPts val="1600"/>
              <a:buFont typeface="Source Sans 3"/>
              <a:buNone/>
            </a:pPr>
            <a:r>
              <a:rPr b="1" i="0" lang="en-US" sz="1600" u="none" cap="none" strike="noStrike">
                <a:solidFill>
                  <a:srgbClr val="F3EDE1"/>
                </a:solidFill>
                <a:latin typeface="Source Sans 3"/>
                <a:ea typeface="Source Sans 3"/>
                <a:cs typeface="Source Sans 3"/>
                <a:sym typeface="Source Sans 3"/>
              </a:rPr>
              <a:t>Andrea Carlo Cerri </a:t>
            </a:r>
            <a:r>
              <a:rPr b="1" i="0" lang="en-US" sz="1600" u="none" cap="none" strike="noStrike">
                <a:solidFill>
                  <a:srgbClr val="C8A14A"/>
                </a:solidFill>
                <a:latin typeface="Source Sans 3"/>
                <a:ea typeface="Source Sans 3"/>
                <a:cs typeface="Source Sans 3"/>
                <a:sym typeface="Source Sans 3"/>
              </a:rPr>
              <a:t>◆</a:t>
            </a:r>
            <a:r>
              <a:rPr b="1" i="0" lang="en-US" sz="1600" u="none" cap="none" strike="noStrike">
                <a:solidFill>
                  <a:srgbClr val="F3EDE1"/>
                </a:solidFill>
                <a:latin typeface="Source Sans 3"/>
                <a:ea typeface="Source Sans 3"/>
                <a:cs typeface="Source Sans 3"/>
                <a:sym typeface="Source Sans 3"/>
              </a:rPr>
              <a:t> Juliana Therezo</a:t>
            </a:r>
            <a:endParaRPr b="1" i="0" sz="1600" u="none" cap="none" strike="noStrike">
              <a:solidFill>
                <a:srgbClr val="F3EDE1"/>
              </a:solidFill>
              <a:latin typeface="Source Sans 3"/>
              <a:ea typeface="Source Sans 3"/>
              <a:cs typeface="Source Sans 3"/>
              <a:sym typeface="Source Sans 3"/>
            </a:endParaRPr>
          </a:p>
          <a:p>
            <a:pPr indent="0" lvl="0" marL="0" marR="0" rtl="0" algn="l">
              <a:lnSpc>
                <a:spcPct val="100000"/>
              </a:lnSpc>
              <a:spcBef>
                <a:spcPts val="0"/>
              </a:spcBef>
              <a:spcAft>
                <a:spcPts val="0"/>
              </a:spcAft>
              <a:buClr>
                <a:srgbClr val="F3EDE1"/>
              </a:buClr>
              <a:buSzPts val="1600"/>
              <a:buFont typeface="Source Sans 3"/>
              <a:buNone/>
            </a:pPr>
            <a:br>
              <a:rPr b="1" lang="en-US" sz="1600">
                <a:solidFill>
                  <a:srgbClr val="F3EDE1"/>
                </a:solidFill>
                <a:latin typeface="Source Sans 3"/>
                <a:ea typeface="Source Sans 3"/>
                <a:cs typeface="Source Sans 3"/>
                <a:sym typeface="Source Sans 3"/>
              </a:rPr>
            </a:br>
            <a:endParaRPr b="1" i="1" sz="1600">
              <a:solidFill>
                <a:srgbClr val="C8A14A"/>
              </a:solidFill>
              <a:latin typeface="Source Sans 3"/>
              <a:ea typeface="Source Sans 3"/>
              <a:cs typeface="Source Sans 3"/>
              <a:sym typeface="Source Sans 3"/>
            </a:endParaRPr>
          </a:p>
          <a:p>
            <a:pPr indent="0" lvl="0" marL="0" marR="0" rtl="0" algn="l">
              <a:lnSpc>
                <a:spcPct val="100000"/>
              </a:lnSpc>
              <a:spcBef>
                <a:spcPts val="0"/>
              </a:spcBef>
              <a:spcAft>
                <a:spcPts val="0"/>
              </a:spcAft>
              <a:buClr>
                <a:srgbClr val="F3EDE1"/>
              </a:buClr>
              <a:buSzPts val="1600"/>
              <a:buFont typeface="Source Sans 3"/>
              <a:buNone/>
            </a:pPr>
            <a:r>
              <a:t/>
            </a:r>
            <a:endParaRPr b="1" i="1" sz="1600">
              <a:solidFill>
                <a:srgbClr val="C8A14A"/>
              </a:solidFill>
              <a:latin typeface="Source Sans 3"/>
              <a:ea typeface="Source Sans 3"/>
              <a:cs typeface="Source Sans 3"/>
              <a:sym typeface="Source Sans 3"/>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EE"/>
        </a:solidFill>
      </p:bgPr>
    </p:bg>
    <p:spTree>
      <p:nvGrpSpPr>
        <p:cNvPr id="26" name="Shape 26"/>
        <p:cNvGrpSpPr/>
        <p:nvPr/>
      </p:nvGrpSpPr>
      <p:grpSpPr>
        <a:xfrm>
          <a:off x="0" y="0"/>
          <a:ext cx="0" cy="0"/>
          <a:chOff x="0" y="0"/>
          <a:chExt cx="0" cy="0"/>
        </a:xfrm>
      </p:grpSpPr>
      <p:sp>
        <p:nvSpPr>
          <p:cNvPr id="27" name="Google Shape;27;p4"/>
          <p:cNvSpPr/>
          <p:nvPr/>
        </p:nvSpPr>
        <p:spPr>
          <a:xfrm>
            <a:off x="0" y="0"/>
            <a:ext cx="12192000" cy="889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E1B32"/>
              </a:buClr>
              <a:buSzPts val="1200"/>
              <a:buFont typeface="Source Sans 3"/>
              <a:buNone/>
            </a:pPr>
            <a:r>
              <a:rPr b="1" lang="en-US" sz="1200">
                <a:solidFill>
                  <a:srgbClr val="9E1B32"/>
                </a:solidFill>
                <a:latin typeface="Source Sans 3"/>
                <a:ea typeface="Source Sans 3"/>
                <a:cs typeface="Source Sans 3"/>
                <a:sym typeface="Source Sans 3"/>
              </a:rPr>
              <a:t>BRIEFING</a:t>
            </a:r>
            <a:endParaRPr b="0" i="0" sz="1200" u="none" cap="none" strike="noStrike">
              <a:solidFill>
                <a:schemeClr val="dk1"/>
              </a:solidFill>
              <a:latin typeface="Calibri"/>
              <a:ea typeface="Calibri"/>
              <a:cs typeface="Calibri"/>
              <a:sym typeface="Calibri"/>
            </a:endParaRPr>
          </a:p>
        </p:txBody>
      </p:sp>
      <p:sp>
        <p:nvSpPr>
          <p:cNvPr id="29" name="Google Shape;29;p4"/>
          <p:cNvSpPr/>
          <p:nvPr/>
        </p:nvSpPr>
        <p:spPr>
          <a:xfrm>
            <a:off x="812800" y="1115020"/>
            <a:ext cx="10883392" cy="4723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A24"/>
              </a:buClr>
              <a:buSzPts val="3200"/>
              <a:buFont typeface="Playfair Display"/>
              <a:buNone/>
            </a:pPr>
            <a:r>
              <a:rPr b="1" lang="en-US" sz="3200">
                <a:solidFill>
                  <a:srgbClr val="1D2A24"/>
                </a:solidFill>
                <a:latin typeface="Playfair Display"/>
                <a:ea typeface="Playfair Display"/>
                <a:cs typeface="Playfair Display"/>
                <a:sym typeface="Playfair Display"/>
              </a:rPr>
              <a:t>What is really happening to rents in Portugal?</a:t>
            </a:r>
            <a:endParaRPr b="1" sz="3200">
              <a:solidFill>
                <a:srgbClr val="1D2A24"/>
              </a:solidFill>
              <a:latin typeface="Playfair Display"/>
              <a:ea typeface="Playfair Display"/>
              <a:cs typeface="Playfair Display"/>
              <a:sym typeface="Playfair Display"/>
            </a:endParaRPr>
          </a:p>
          <a:p>
            <a:pPr indent="0" lvl="0" marL="0" marR="0" rtl="0" algn="l">
              <a:lnSpc>
                <a:spcPct val="110000"/>
              </a:lnSpc>
              <a:spcBef>
                <a:spcPts val="0"/>
              </a:spcBef>
              <a:spcAft>
                <a:spcPts val="0"/>
              </a:spcAft>
              <a:buClr>
                <a:srgbClr val="1D2A24"/>
              </a:buClr>
              <a:buSzPts val="3200"/>
              <a:buFont typeface="Playfair Display"/>
              <a:buNone/>
            </a:pPr>
            <a:r>
              <a:t/>
            </a:r>
            <a:endParaRPr b="1" sz="3200">
              <a:solidFill>
                <a:srgbClr val="1D2A24"/>
              </a:solidFill>
              <a:latin typeface="Playfair Display"/>
              <a:ea typeface="Playfair Display"/>
              <a:cs typeface="Playfair Display"/>
              <a:sym typeface="Playfair Display"/>
            </a:endParaRPr>
          </a:p>
        </p:txBody>
      </p:sp>
      <p:sp>
        <p:nvSpPr>
          <p:cNvPr id="30" name="Google Shape;30;p4"/>
          <p:cNvSpPr/>
          <p:nvPr/>
        </p:nvSpPr>
        <p:spPr>
          <a:xfrm>
            <a:off x="812800" y="1957989"/>
            <a:ext cx="3924300" cy="854100"/>
          </a:xfrm>
          <a:prstGeom prst="rect">
            <a:avLst/>
          </a:prstGeom>
          <a:noFill/>
          <a:ln>
            <a:noFill/>
          </a:ln>
        </p:spPr>
        <p:txBody>
          <a:bodyPr anchorCtr="0" anchor="t" bIns="0" lIns="0" spcFirstLastPara="1" rIns="0" wrap="square" tIns="0">
            <a:noAutofit/>
          </a:bodyPr>
          <a:lstStyle/>
          <a:p>
            <a:pPr indent="0" lvl="0" marL="0" rtl="0" algn="l">
              <a:lnSpc>
                <a:spcPct val="145000"/>
              </a:lnSpc>
              <a:spcBef>
                <a:spcPts val="0"/>
              </a:spcBef>
              <a:spcAft>
                <a:spcPts val="0"/>
              </a:spcAft>
              <a:buNone/>
            </a:pPr>
            <a:r>
              <a:rPr lang="en-US" sz="1350">
                <a:solidFill>
                  <a:srgbClr val="4B5550"/>
                </a:solidFill>
                <a:latin typeface="Source Sans 3"/>
                <a:ea typeface="Source Sans 3"/>
                <a:cs typeface="Source Sans 3"/>
                <a:sym typeface="Source Sans 3"/>
              </a:rPr>
              <a:t>SIC asked us to test three widely discussed claims about Portugal's rental market with </a:t>
            </a:r>
            <a:r>
              <a:rPr b="1" lang="en-US" sz="1350">
                <a:solidFill>
                  <a:srgbClr val="4B5550"/>
                </a:solidFill>
                <a:latin typeface="Source Sans 3"/>
                <a:ea typeface="Source Sans 3"/>
                <a:cs typeface="Source Sans 3"/>
                <a:sym typeface="Source Sans 3"/>
              </a:rPr>
              <a:t>official data</a:t>
            </a:r>
            <a:r>
              <a:rPr lang="en-US" sz="1350">
                <a:solidFill>
                  <a:srgbClr val="4B5550"/>
                </a:solidFill>
                <a:latin typeface="Source Sans 3"/>
                <a:ea typeface="Source Sans 3"/>
                <a:cs typeface="Source Sans 3"/>
                <a:sym typeface="Source Sans 3"/>
              </a:rPr>
              <a:t>. </a:t>
            </a:r>
            <a:br>
              <a:rPr lang="en-US" sz="1350">
                <a:solidFill>
                  <a:srgbClr val="4B5550"/>
                </a:solidFill>
                <a:latin typeface="Source Sans 3"/>
                <a:ea typeface="Source Sans 3"/>
                <a:cs typeface="Source Sans 3"/>
                <a:sym typeface="Source Sans 3"/>
              </a:rPr>
            </a:br>
            <a:r>
              <a:rPr lang="en-US" sz="1350">
                <a:solidFill>
                  <a:srgbClr val="4B5550"/>
                </a:solidFill>
                <a:latin typeface="Source Sans 3"/>
                <a:ea typeface="Source Sans 3"/>
                <a:cs typeface="Source Sans 3"/>
                <a:sym typeface="Source Sans 3"/>
              </a:rPr>
              <a:t>Our key sources were:</a:t>
            </a:r>
            <a:endParaRPr sz="1350">
              <a:solidFill>
                <a:srgbClr val="4B5550"/>
              </a:solidFill>
              <a:latin typeface="Source Sans 3"/>
              <a:ea typeface="Source Sans 3"/>
              <a:cs typeface="Source Sans 3"/>
              <a:sym typeface="Source Sans 3"/>
            </a:endParaRPr>
          </a:p>
          <a:p>
            <a:pPr indent="-314325" lvl="0" marL="457200" marR="0" rtl="0" algn="l">
              <a:lnSpc>
                <a:spcPct val="145000"/>
              </a:lnSpc>
              <a:spcBef>
                <a:spcPts val="0"/>
              </a:spcBef>
              <a:spcAft>
                <a:spcPts val="0"/>
              </a:spcAft>
              <a:buClr>
                <a:srgbClr val="4B5550"/>
              </a:buClr>
              <a:buSzPts val="1350"/>
              <a:buFont typeface="Source Sans 3"/>
              <a:buChar char="-"/>
            </a:pPr>
            <a:r>
              <a:rPr b="1" lang="en-US" sz="1350">
                <a:solidFill>
                  <a:srgbClr val="4B5550"/>
                </a:solidFill>
                <a:latin typeface="Source Sans 3"/>
                <a:ea typeface="Source Sans 3"/>
                <a:cs typeface="Source Sans 3"/>
                <a:sym typeface="Source Sans 3"/>
              </a:rPr>
              <a:t>National Institute for Statistics </a:t>
            </a:r>
            <a:r>
              <a:rPr lang="en-US" sz="1350">
                <a:solidFill>
                  <a:srgbClr val="4B5550"/>
                </a:solidFill>
                <a:latin typeface="Source Sans 3"/>
                <a:ea typeface="Source Sans 3"/>
                <a:cs typeface="Source Sans 3"/>
                <a:sym typeface="Source Sans 3"/>
              </a:rPr>
              <a:t>(INE)</a:t>
            </a:r>
            <a:endParaRPr sz="1350">
              <a:solidFill>
                <a:srgbClr val="4B5550"/>
              </a:solidFill>
              <a:latin typeface="Source Sans 3"/>
              <a:ea typeface="Source Sans 3"/>
              <a:cs typeface="Source Sans 3"/>
              <a:sym typeface="Source Sans 3"/>
            </a:endParaRPr>
          </a:p>
          <a:p>
            <a:pPr indent="-314325" lvl="0" marL="457200" marR="0" rtl="0" algn="l">
              <a:lnSpc>
                <a:spcPct val="145000"/>
              </a:lnSpc>
              <a:spcBef>
                <a:spcPts val="0"/>
              </a:spcBef>
              <a:spcAft>
                <a:spcPts val="0"/>
              </a:spcAft>
              <a:buClr>
                <a:srgbClr val="4B5550"/>
              </a:buClr>
              <a:buSzPts val="1350"/>
              <a:buFont typeface="Source Sans 3"/>
              <a:buChar char="-"/>
            </a:pPr>
            <a:r>
              <a:rPr b="1" lang="en-US" sz="1350">
                <a:solidFill>
                  <a:srgbClr val="4B5550"/>
                </a:solidFill>
                <a:latin typeface="Source Sans 3"/>
                <a:ea typeface="Source Sans 3"/>
                <a:cs typeface="Source Sans 3"/>
                <a:sym typeface="Source Sans 3"/>
              </a:rPr>
              <a:t>National Local Accommodation Registry </a:t>
            </a:r>
            <a:r>
              <a:rPr lang="en-US" sz="1350">
                <a:solidFill>
                  <a:srgbClr val="4B5550"/>
                </a:solidFill>
                <a:latin typeface="Source Sans 3"/>
                <a:ea typeface="Source Sans 3"/>
                <a:cs typeface="Source Sans 3"/>
                <a:sym typeface="Source Sans 3"/>
              </a:rPr>
              <a:t>(RNAL)</a:t>
            </a:r>
            <a:endParaRPr sz="1350">
              <a:solidFill>
                <a:srgbClr val="4B5550"/>
              </a:solidFill>
              <a:latin typeface="Source Sans 3"/>
              <a:ea typeface="Source Sans 3"/>
              <a:cs typeface="Source Sans 3"/>
              <a:sym typeface="Source Sans 3"/>
            </a:endParaRPr>
          </a:p>
        </p:txBody>
      </p:sp>
      <p:sp>
        <p:nvSpPr>
          <p:cNvPr id="31" name="Google Shape;31;p4"/>
          <p:cNvSpPr/>
          <p:nvPr/>
        </p:nvSpPr>
        <p:spPr>
          <a:xfrm>
            <a:off x="812800" y="3806734"/>
            <a:ext cx="1828800" cy="1254600"/>
          </a:xfrm>
          <a:prstGeom prst="roundRect">
            <a:avLst>
              <a:gd fmla="val 7086" name="adj"/>
            </a:avLst>
          </a:prstGeom>
          <a:solidFill>
            <a:srgbClr val="F1EA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965200" y="3959134"/>
            <a:ext cx="15747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E1B32"/>
              </a:buClr>
              <a:buSzPts val="2800"/>
              <a:buFont typeface="Playfair Display"/>
              <a:buNone/>
            </a:pPr>
            <a:r>
              <a:rPr b="1" i="0" lang="en-US" sz="2800" u="none" cap="none" strike="noStrike">
                <a:solidFill>
                  <a:srgbClr val="9E1B32"/>
                </a:solidFill>
                <a:latin typeface="Playfair Display"/>
                <a:ea typeface="Playfair Display"/>
                <a:cs typeface="Playfair Display"/>
                <a:sym typeface="Playfair Display"/>
              </a:rPr>
              <a:t>5</a:t>
            </a:r>
            <a:endParaRPr b="0" i="0" sz="2800" u="none" cap="none" strike="noStrike">
              <a:solidFill>
                <a:schemeClr val="dk1"/>
              </a:solidFill>
              <a:latin typeface="Calibri"/>
              <a:ea typeface="Calibri"/>
              <a:cs typeface="Calibri"/>
              <a:sym typeface="Calibri"/>
            </a:endParaRPr>
          </a:p>
        </p:txBody>
      </p:sp>
      <p:sp>
        <p:nvSpPr>
          <p:cNvPr id="33" name="Google Shape;33;p4"/>
          <p:cNvSpPr/>
          <p:nvPr/>
        </p:nvSpPr>
        <p:spPr>
          <a:xfrm>
            <a:off x="965200" y="4482314"/>
            <a:ext cx="1574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50"/>
              </a:buClr>
              <a:buSzPts val="1200"/>
              <a:buFont typeface="Source Sans 3"/>
              <a:buNone/>
            </a:pPr>
            <a:r>
              <a:rPr lang="en-US" sz="1200">
                <a:solidFill>
                  <a:srgbClr val="4B5550"/>
                </a:solidFill>
                <a:latin typeface="Source Sans 3"/>
                <a:ea typeface="Source Sans 3"/>
                <a:cs typeface="Source Sans 3"/>
                <a:sym typeface="Source Sans 3"/>
              </a:rPr>
              <a:t>INE</a:t>
            </a:r>
            <a:r>
              <a:rPr b="0" i="0" lang="en-US" sz="1200" u="none" cap="none" strike="noStrike">
                <a:solidFill>
                  <a:srgbClr val="4B5550"/>
                </a:solidFill>
                <a:latin typeface="Source Sans 3"/>
                <a:ea typeface="Source Sans 3"/>
                <a:cs typeface="Source Sans 3"/>
                <a:sym typeface="Source Sans 3"/>
              </a:rPr>
              <a:t> indicators </a:t>
            </a:r>
            <a:r>
              <a:rPr lang="en-US" sz="1200">
                <a:solidFill>
                  <a:srgbClr val="4B5550"/>
                </a:solidFill>
                <a:latin typeface="Source Sans 3"/>
                <a:ea typeface="Source Sans 3"/>
                <a:cs typeface="Source Sans 3"/>
                <a:sym typeface="Source Sans 3"/>
              </a:rPr>
              <a:t>for</a:t>
            </a:r>
            <a:r>
              <a:rPr b="0" i="0" lang="en-US" sz="1200" u="none" cap="none" strike="noStrike">
                <a:solidFill>
                  <a:srgbClr val="4B5550"/>
                </a:solidFill>
                <a:latin typeface="Source Sans 3"/>
                <a:ea typeface="Source Sans 3"/>
                <a:cs typeface="Source Sans 3"/>
                <a:sym typeface="Source Sans 3"/>
              </a:rPr>
              <a:t> rent, </a:t>
            </a:r>
            <a:r>
              <a:rPr lang="en-US" sz="1200">
                <a:solidFill>
                  <a:srgbClr val="4B5550"/>
                </a:solidFill>
                <a:latin typeface="Source Sans 3"/>
                <a:ea typeface="Source Sans 3"/>
                <a:cs typeface="Source Sans 3"/>
                <a:sym typeface="Source Sans 3"/>
              </a:rPr>
              <a:t>wages, and population</a:t>
            </a:r>
            <a:endParaRPr b="0" i="0" sz="1200" u="none" cap="none" strike="noStrike">
              <a:solidFill>
                <a:schemeClr val="dk1"/>
              </a:solidFill>
              <a:latin typeface="Calibri"/>
              <a:ea typeface="Calibri"/>
              <a:cs typeface="Calibri"/>
              <a:sym typeface="Calibri"/>
            </a:endParaRPr>
          </a:p>
        </p:txBody>
      </p:sp>
      <p:sp>
        <p:nvSpPr>
          <p:cNvPr id="34" name="Google Shape;34;p4"/>
          <p:cNvSpPr/>
          <p:nvPr/>
        </p:nvSpPr>
        <p:spPr>
          <a:xfrm>
            <a:off x="2794000" y="3806734"/>
            <a:ext cx="1828800" cy="1254600"/>
          </a:xfrm>
          <a:prstGeom prst="roundRect">
            <a:avLst>
              <a:gd fmla="val 7086" name="adj"/>
            </a:avLst>
          </a:prstGeom>
          <a:solidFill>
            <a:srgbClr val="F1EA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2946400" y="3959134"/>
            <a:ext cx="15747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E1B32"/>
              </a:buClr>
              <a:buSzPts val="2800"/>
              <a:buFont typeface="Playfair Display"/>
              <a:buNone/>
            </a:pPr>
            <a:r>
              <a:rPr b="1" i="0" lang="en-US" sz="2800" u="none" cap="none" strike="noStrike">
                <a:solidFill>
                  <a:srgbClr val="9E1B32"/>
                </a:solidFill>
                <a:latin typeface="Playfair Display"/>
                <a:ea typeface="Playfair Display"/>
                <a:cs typeface="Playfair Display"/>
                <a:sym typeface="Playfair Display"/>
              </a:rPr>
              <a:t>111,852</a:t>
            </a:r>
            <a:endParaRPr b="0" i="0" sz="2800" u="none" cap="none" strike="noStrike">
              <a:solidFill>
                <a:schemeClr val="dk1"/>
              </a:solidFill>
              <a:latin typeface="Calibri"/>
              <a:ea typeface="Calibri"/>
              <a:cs typeface="Calibri"/>
              <a:sym typeface="Calibri"/>
            </a:endParaRPr>
          </a:p>
        </p:txBody>
      </p:sp>
      <p:sp>
        <p:nvSpPr>
          <p:cNvPr id="36" name="Google Shape;36;p4"/>
          <p:cNvSpPr/>
          <p:nvPr/>
        </p:nvSpPr>
        <p:spPr>
          <a:xfrm>
            <a:off x="2946400" y="4482314"/>
            <a:ext cx="1574700" cy="45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50"/>
              </a:buClr>
              <a:buSzPts val="1200"/>
              <a:buFont typeface="Source Sans 3"/>
              <a:buNone/>
            </a:pPr>
            <a:r>
              <a:rPr b="0" i="0" lang="en-US" sz="1200" u="none" cap="none" strike="noStrike">
                <a:solidFill>
                  <a:srgbClr val="4B5550"/>
                </a:solidFill>
                <a:latin typeface="Source Sans 3"/>
                <a:ea typeface="Source Sans 3"/>
                <a:cs typeface="Source Sans 3"/>
                <a:sym typeface="Source Sans 3"/>
              </a:rPr>
              <a:t>short-term rental registrations via RNAL</a:t>
            </a:r>
            <a:endParaRPr b="0" i="0" sz="1200" u="none" cap="none" strike="noStrike">
              <a:solidFill>
                <a:schemeClr val="dk1"/>
              </a:solidFill>
              <a:latin typeface="Calibri"/>
              <a:ea typeface="Calibri"/>
              <a:cs typeface="Calibri"/>
              <a:sym typeface="Calibri"/>
            </a:endParaRPr>
          </a:p>
        </p:txBody>
      </p:sp>
      <p:sp>
        <p:nvSpPr>
          <p:cNvPr id="37" name="Google Shape;37;p4"/>
          <p:cNvSpPr/>
          <p:nvPr/>
        </p:nvSpPr>
        <p:spPr>
          <a:xfrm>
            <a:off x="812800" y="5277540"/>
            <a:ext cx="3924300" cy="504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6F7470"/>
              </a:buClr>
              <a:buSzPts val="1300"/>
              <a:buFont typeface="Source Sans 3"/>
              <a:buNone/>
            </a:pPr>
            <a:r>
              <a:rPr lang="en-US" sz="1300">
                <a:solidFill>
                  <a:srgbClr val="6F7470"/>
                </a:solidFill>
                <a:latin typeface="Source Sans 3"/>
                <a:ea typeface="Source Sans 3"/>
                <a:cs typeface="Source Sans 3"/>
                <a:sym typeface="Source Sans 3"/>
              </a:rPr>
              <a:t>Note: INE rent = median monthly rent per m² from signed lease contracts — not asking prices.</a:t>
            </a:r>
            <a:endParaRPr sz="1300">
              <a:solidFill>
                <a:srgbClr val="6F7470"/>
              </a:solidFill>
              <a:latin typeface="Source Sans 3"/>
              <a:ea typeface="Source Sans 3"/>
              <a:cs typeface="Source Sans 3"/>
              <a:sym typeface="Source Sans 3"/>
            </a:endParaRPr>
          </a:p>
        </p:txBody>
      </p:sp>
      <p:sp>
        <p:nvSpPr>
          <p:cNvPr id="38" name="Google Shape;38;p4"/>
          <p:cNvSpPr/>
          <p:nvPr/>
        </p:nvSpPr>
        <p:spPr>
          <a:xfrm>
            <a:off x="4981575" y="1961164"/>
            <a:ext cx="6394500" cy="1079100"/>
          </a:xfrm>
          <a:prstGeom prst="roundRect">
            <a:avLst>
              <a:gd fmla="val 10259"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5187950" y="2324156"/>
            <a:ext cx="584100" cy="416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E1B32"/>
              </a:buClr>
              <a:buSzPts val="2200"/>
              <a:buFont typeface="Playfair Display"/>
              <a:buNone/>
            </a:pPr>
            <a:r>
              <a:rPr b="1" i="0" lang="en-US" sz="2200" u="none" cap="none" strike="noStrike">
                <a:solidFill>
                  <a:srgbClr val="9E1B32"/>
                </a:solidFill>
                <a:latin typeface="Playfair Display"/>
                <a:ea typeface="Playfair Display"/>
                <a:cs typeface="Playfair Display"/>
                <a:sym typeface="Playfair Display"/>
              </a:rPr>
              <a:t>H1</a:t>
            </a:r>
            <a:endParaRPr b="0" i="0" sz="2200" u="none" cap="none" strike="noStrike">
              <a:solidFill>
                <a:schemeClr val="dk1"/>
              </a:solidFill>
              <a:latin typeface="Calibri"/>
              <a:ea typeface="Calibri"/>
              <a:cs typeface="Calibri"/>
              <a:sym typeface="Calibri"/>
            </a:endParaRPr>
          </a:p>
        </p:txBody>
      </p:sp>
      <p:sp>
        <p:nvSpPr>
          <p:cNvPr id="40" name="Google Shape;40;p4"/>
          <p:cNvSpPr/>
          <p:nvPr/>
        </p:nvSpPr>
        <p:spPr>
          <a:xfrm>
            <a:off x="5873750" y="2129439"/>
            <a:ext cx="5010000" cy="273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2A24"/>
              </a:buClr>
              <a:buSzPts val="1500"/>
              <a:buFont typeface="Source Sans 3"/>
              <a:buNone/>
            </a:pPr>
            <a:r>
              <a:rPr b="1" lang="en-US" sz="1500">
                <a:solidFill>
                  <a:srgbClr val="4B5550"/>
                </a:solidFill>
                <a:latin typeface="Source Sans 3"/>
                <a:ea typeface="Source Sans 3"/>
                <a:cs typeface="Source Sans 3"/>
                <a:sym typeface="Source Sans 3"/>
              </a:rPr>
              <a:t>Are rents rising faster than wages?</a:t>
            </a:r>
            <a:endParaRPr b="1" sz="1500">
              <a:solidFill>
                <a:srgbClr val="4B5550"/>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1D2A24"/>
              </a:buClr>
              <a:buSzPts val="1500"/>
              <a:buFont typeface="Source Sans 3"/>
              <a:buNone/>
            </a:pPr>
            <a:r>
              <a:t/>
            </a:r>
            <a:endParaRPr sz="1500">
              <a:solidFill>
                <a:srgbClr val="4B5550"/>
              </a:solidFill>
              <a:latin typeface="Source Sans 3"/>
              <a:ea typeface="Source Sans 3"/>
              <a:cs typeface="Source Sans 3"/>
              <a:sym typeface="Source Sans 3"/>
            </a:endParaRPr>
          </a:p>
        </p:txBody>
      </p:sp>
      <p:sp>
        <p:nvSpPr>
          <p:cNvPr id="41" name="Google Shape;41;p4"/>
          <p:cNvSpPr/>
          <p:nvPr/>
        </p:nvSpPr>
        <p:spPr>
          <a:xfrm>
            <a:off x="5873750" y="2415189"/>
            <a:ext cx="5010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lang="en-US" sz="1200">
                <a:solidFill>
                  <a:srgbClr val="6F7470"/>
                </a:solidFill>
                <a:latin typeface="Source Sans 3"/>
                <a:ea typeface="Source Sans 3"/>
                <a:cs typeface="Source Sans 3"/>
                <a:sym typeface="Source Sans 3"/>
              </a:rPr>
              <a:t>INE API</a:t>
            </a:r>
            <a:endParaRPr sz="1200">
              <a:solidFill>
                <a:srgbClr val="6F7470"/>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6F7470"/>
              </a:buClr>
              <a:buSzPts val="1200"/>
              <a:buFont typeface="Source Sans 3"/>
              <a:buNone/>
            </a:pPr>
            <a:r>
              <a:rPr lang="en-US" sz="1200">
                <a:solidFill>
                  <a:srgbClr val="6F7470"/>
                </a:solidFill>
                <a:latin typeface="Source Sans 3"/>
                <a:ea typeface="Source Sans 3"/>
                <a:cs typeface="Source Sans 3"/>
                <a:sym typeface="Source Sans 3"/>
              </a:rPr>
              <a:t>Rent · wages · population</a:t>
            </a:r>
            <a:endParaRPr sz="1200">
              <a:solidFill>
                <a:srgbClr val="6F7470"/>
              </a:solidFill>
              <a:latin typeface="Source Sans 3"/>
              <a:ea typeface="Source Sans 3"/>
              <a:cs typeface="Source Sans 3"/>
              <a:sym typeface="Source Sans 3"/>
            </a:endParaRPr>
          </a:p>
        </p:txBody>
      </p:sp>
      <p:pic>
        <p:nvPicPr>
          <p:cNvPr descr="Chart" id="42" name="Google Shape;42;p4"/>
          <p:cNvPicPr preferRelativeResize="0"/>
          <p:nvPr/>
        </p:nvPicPr>
        <p:blipFill rotWithShape="1">
          <a:blip r:embed="rId3">
            <a:alphaModFix/>
          </a:blip>
          <a:srcRect b="0" l="0" r="0" t="0"/>
          <a:stretch/>
        </p:blipFill>
        <p:spPr>
          <a:xfrm>
            <a:off x="10890250" y="2239274"/>
            <a:ext cx="279400" cy="279400"/>
          </a:xfrm>
          <a:prstGeom prst="rect">
            <a:avLst/>
          </a:prstGeom>
          <a:noFill/>
          <a:ln>
            <a:noFill/>
          </a:ln>
        </p:spPr>
      </p:pic>
      <p:sp>
        <p:nvSpPr>
          <p:cNvPr id="43" name="Google Shape;43;p4"/>
          <p:cNvSpPr/>
          <p:nvPr/>
        </p:nvSpPr>
        <p:spPr>
          <a:xfrm>
            <a:off x="4981575" y="3326772"/>
            <a:ext cx="6400800" cy="1080600"/>
          </a:xfrm>
          <a:prstGeom prst="roundRect">
            <a:avLst>
              <a:gd fmla="val 7914"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5187950" y="3672847"/>
            <a:ext cx="584100" cy="416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E6B52"/>
              </a:buClr>
              <a:buSzPts val="2200"/>
              <a:buFont typeface="Playfair Display"/>
              <a:buNone/>
            </a:pPr>
            <a:r>
              <a:rPr b="1" lang="en-US" sz="2200">
                <a:solidFill>
                  <a:srgbClr val="9E1B32"/>
                </a:solidFill>
                <a:latin typeface="Playfair Display"/>
                <a:ea typeface="Playfair Display"/>
                <a:cs typeface="Playfair Display"/>
                <a:sym typeface="Playfair Display"/>
              </a:rPr>
              <a:t>H2</a:t>
            </a:r>
            <a:endParaRPr b="0" i="0" sz="2200" u="none" cap="none" strike="noStrike">
              <a:solidFill>
                <a:schemeClr val="dk1"/>
              </a:solidFill>
              <a:latin typeface="Calibri"/>
              <a:ea typeface="Calibri"/>
              <a:cs typeface="Calibri"/>
              <a:sym typeface="Calibri"/>
            </a:endParaRPr>
          </a:p>
        </p:txBody>
      </p:sp>
      <p:sp>
        <p:nvSpPr>
          <p:cNvPr id="45" name="Google Shape;45;p4"/>
          <p:cNvSpPr/>
          <p:nvPr/>
        </p:nvSpPr>
        <p:spPr>
          <a:xfrm>
            <a:off x="5873750" y="3523266"/>
            <a:ext cx="5010000" cy="520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2A24"/>
              </a:buClr>
              <a:buSzPts val="1500"/>
              <a:buFont typeface="Source Sans 3"/>
              <a:buNone/>
            </a:pPr>
            <a:r>
              <a:rPr b="1" lang="en-US" sz="1500">
                <a:solidFill>
                  <a:srgbClr val="4B5550"/>
                </a:solidFill>
                <a:latin typeface="Source Sans 3"/>
                <a:ea typeface="Source Sans 3"/>
                <a:cs typeface="Source Sans 3"/>
                <a:sym typeface="Source Sans 3"/>
              </a:rPr>
              <a:t>Do more short-term rentals lead to higher long-term rents?</a:t>
            </a:r>
            <a:endParaRPr b="1" sz="1500">
              <a:solidFill>
                <a:srgbClr val="4B5550"/>
              </a:solidFill>
              <a:latin typeface="Source Sans 3"/>
              <a:ea typeface="Source Sans 3"/>
              <a:cs typeface="Source Sans 3"/>
              <a:sym typeface="Source Sans 3"/>
            </a:endParaRPr>
          </a:p>
        </p:txBody>
      </p:sp>
      <p:sp>
        <p:nvSpPr>
          <p:cNvPr id="46" name="Google Shape;46;p4"/>
          <p:cNvSpPr/>
          <p:nvPr/>
        </p:nvSpPr>
        <p:spPr>
          <a:xfrm>
            <a:off x="5873750" y="3803223"/>
            <a:ext cx="5010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lang="en-US" sz="1200">
                <a:solidFill>
                  <a:srgbClr val="6F7470"/>
                </a:solidFill>
                <a:latin typeface="Source Sans 3"/>
                <a:ea typeface="Source Sans 3"/>
                <a:cs typeface="Source Sans 3"/>
                <a:sym typeface="Source Sans 3"/>
              </a:rPr>
              <a:t>INE API + RNAL dataset</a:t>
            </a:r>
            <a:endParaRPr sz="1200">
              <a:solidFill>
                <a:srgbClr val="6F7470"/>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6F7470"/>
              </a:buClr>
              <a:buSzPts val="1200"/>
              <a:buFont typeface="Source Sans 3"/>
              <a:buNone/>
            </a:pPr>
            <a:r>
              <a:rPr lang="en-US" sz="1200">
                <a:solidFill>
                  <a:srgbClr val="6F7470"/>
                </a:solidFill>
                <a:latin typeface="Source Sans 3"/>
                <a:ea typeface="Source Sans 3"/>
                <a:cs typeface="Source Sans 3"/>
                <a:sym typeface="Source Sans 3"/>
              </a:rPr>
              <a:t>Rent · population · short-term rental registrations</a:t>
            </a:r>
            <a:endParaRPr sz="1200">
              <a:solidFill>
                <a:srgbClr val="6F7470"/>
              </a:solidFill>
              <a:latin typeface="Source Sans 3"/>
              <a:ea typeface="Source Sans 3"/>
              <a:cs typeface="Source Sans 3"/>
              <a:sym typeface="Source Sans 3"/>
            </a:endParaRPr>
          </a:p>
        </p:txBody>
      </p:sp>
      <p:pic>
        <p:nvPicPr>
          <p:cNvPr id="47" name="Google Shape;47;p4"/>
          <p:cNvPicPr preferRelativeResize="0"/>
          <p:nvPr/>
        </p:nvPicPr>
        <p:blipFill rotWithShape="1">
          <a:blip r:embed="rId4">
            <a:alphaModFix/>
          </a:blip>
          <a:srcRect b="0" l="0" r="0" t="0"/>
          <a:stretch/>
        </p:blipFill>
        <p:spPr>
          <a:xfrm>
            <a:off x="10890250" y="3728707"/>
            <a:ext cx="279398" cy="279398"/>
          </a:xfrm>
          <a:prstGeom prst="rect">
            <a:avLst/>
          </a:prstGeom>
          <a:noFill/>
          <a:ln>
            <a:noFill/>
          </a:ln>
        </p:spPr>
      </p:pic>
      <p:sp>
        <p:nvSpPr>
          <p:cNvPr id="48" name="Google Shape;48;p4"/>
          <p:cNvSpPr/>
          <p:nvPr/>
        </p:nvSpPr>
        <p:spPr>
          <a:xfrm>
            <a:off x="4981575" y="4760903"/>
            <a:ext cx="6400800" cy="1080600"/>
          </a:xfrm>
          <a:prstGeom prst="roundRect">
            <a:avLst>
              <a:gd fmla="val 7914"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5187950" y="5106978"/>
            <a:ext cx="584100" cy="416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E6B52"/>
              </a:buClr>
              <a:buSzPts val="2200"/>
              <a:buFont typeface="Playfair Display"/>
              <a:buNone/>
            </a:pPr>
            <a:r>
              <a:rPr b="1" lang="en-US" sz="2200">
                <a:solidFill>
                  <a:srgbClr val="9E1B32"/>
                </a:solidFill>
                <a:latin typeface="Playfair Display"/>
                <a:ea typeface="Playfair Display"/>
                <a:cs typeface="Playfair Display"/>
                <a:sym typeface="Playfair Display"/>
              </a:rPr>
              <a:t>H3</a:t>
            </a:r>
            <a:endParaRPr b="1" sz="2200">
              <a:solidFill>
                <a:srgbClr val="9E1B32"/>
              </a:solidFill>
              <a:latin typeface="Playfair Display"/>
              <a:ea typeface="Playfair Display"/>
              <a:cs typeface="Playfair Display"/>
              <a:sym typeface="Playfair Display"/>
            </a:endParaRPr>
          </a:p>
        </p:txBody>
      </p:sp>
      <p:sp>
        <p:nvSpPr>
          <p:cNvPr id="50" name="Google Shape;50;p4"/>
          <p:cNvSpPr/>
          <p:nvPr/>
        </p:nvSpPr>
        <p:spPr>
          <a:xfrm>
            <a:off x="5873750" y="4996629"/>
            <a:ext cx="5010000" cy="520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D2A24"/>
              </a:buClr>
              <a:buSzPts val="1500"/>
              <a:buFont typeface="Source Sans 3"/>
              <a:buNone/>
            </a:pPr>
            <a:r>
              <a:rPr b="1" lang="en-US" sz="1500">
                <a:solidFill>
                  <a:srgbClr val="4B5550"/>
                </a:solidFill>
                <a:latin typeface="Source Sans 3"/>
                <a:ea typeface="Source Sans 3"/>
                <a:cs typeface="Source Sans 3"/>
                <a:sym typeface="Source Sans 3"/>
              </a:rPr>
              <a:t>Is rent growth spreading beyond Lisbon and Porto?</a:t>
            </a:r>
            <a:endParaRPr b="1" sz="1500">
              <a:solidFill>
                <a:srgbClr val="4B5550"/>
              </a:solidFill>
              <a:latin typeface="Source Sans 3"/>
              <a:ea typeface="Source Sans 3"/>
              <a:cs typeface="Source Sans 3"/>
              <a:sym typeface="Source Sans 3"/>
            </a:endParaRPr>
          </a:p>
        </p:txBody>
      </p:sp>
      <p:sp>
        <p:nvSpPr>
          <p:cNvPr id="51" name="Google Shape;51;p4"/>
          <p:cNvSpPr/>
          <p:nvPr/>
        </p:nvSpPr>
        <p:spPr>
          <a:xfrm>
            <a:off x="5873750" y="5261250"/>
            <a:ext cx="5010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lang="en-US" sz="1200">
                <a:solidFill>
                  <a:srgbClr val="6F7470"/>
                </a:solidFill>
                <a:latin typeface="Source Sans 3"/>
                <a:ea typeface="Source Sans 3"/>
                <a:cs typeface="Source Sans 3"/>
                <a:sym typeface="Source Sans 3"/>
              </a:rPr>
              <a:t>INE API</a:t>
            </a:r>
            <a:endParaRPr sz="1200">
              <a:solidFill>
                <a:srgbClr val="6F7470"/>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6F7470"/>
              </a:buClr>
              <a:buSzPts val="1200"/>
              <a:buFont typeface="Source Sans 3"/>
              <a:buNone/>
            </a:pPr>
            <a:r>
              <a:rPr lang="en-US" sz="1200">
                <a:solidFill>
                  <a:srgbClr val="6F7470"/>
                </a:solidFill>
                <a:latin typeface="Source Sans 3"/>
                <a:ea typeface="Source Sans 3"/>
                <a:cs typeface="Source Sans 3"/>
                <a:sym typeface="Source Sans 3"/>
              </a:rPr>
              <a:t>Rent · population</a:t>
            </a:r>
            <a:endParaRPr sz="1200">
              <a:solidFill>
                <a:srgbClr val="6F7470"/>
              </a:solidFill>
              <a:latin typeface="Source Sans 3"/>
              <a:ea typeface="Source Sans 3"/>
              <a:cs typeface="Source Sans 3"/>
              <a:sym typeface="Source Sans 3"/>
            </a:endParaRPr>
          </a:p>
        </p:txBody>
      </p:sp>
      <p:pic>
        <p:nvPicPr>
          <p:cNvPr descr="Globe" id="52" name="Google Shape;52;p4"/>
          <p:cNvPicPr preferRelativeResize="0"/>
          <p:nvPr/>
        </p:nvPicPr>
        <p:blipFill rotWithShape="1">
          <a:blip r:embed="rId5">
            <a:alphaModFix/>
          </a:blip>
          <a:srcRect b="0" l="0" r="0" t="0"/>
          <a:stretch/>
        </p:blipFill>
        <p:spPr>
          <a:xfrm>
            <a:off x="10890250" y="5162839"/>
            <a:ext cx="279400" cy="279400"/>
          </a:xfrm>
          <a:prstGeom prst="rect">
            <a:avLst/>
          </a:prstGeom>
          <a:noFill/>
          <a:ln>
            <a:noFill/>
          </a:ln>
        </p:spPr>
      </p:pic>
      <p:sp>
        <p:nvSpPr>
          <p:cNvPr id="53" name="Google Shape;53;p4"/>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EE"/>
        </a:solidFill>
      </p:bgPr>
    </p:bg>
    <p:spTree>
      <p:nvGrpSpPr>
        <p:cNvPr id="58" name="Shape 58"/>
        <p:cNvGrpSpPr/>
        <p:nvPr/>
      </p:nvGrpSpPr>
      <p:grpSpPr>
        <a:xfrm>
          <a:off x="0" y="0"/>
          <a:ext cx="0" cy="0"/>
          <a:chOff x="0" y="0"/>
          <a:chExt cx="0" cy="0"/>
        </a:xfrm>
      </p:grpSpPr>
      <p:sp>
        <p:nvSpPr>
          <p:cNvPr id="59" name="Google Shape;59;p5"/>
          <p:cNvSpPr/>
          <p:nvPr/>
        </p:nvSpPr>
        <p:spPr>
          <a:xfrm>
            <a:off x="0" y="0"/>
            <a:ext cx="12192000" cy="888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9E1B32"/>
              </a:buClr>
              <a:buSzPts val="1200"/>
              <a:buFont typeface="Source Sans 3"/>
              <a:buNone/>
            </a:pPr>
            <a:r>
              <a:rPr b="1" lang="en-US" sz="1200">
                <a:solidFill>
                  <a:srgbClr val="9E1B32"/>
                </a:solidFill>
                <a:latin typeface="Source Sans 3"/>
                <a:ea typeface="Source Sans 3"/>
                <a:cs typeface="Source Sans 3"/>
                <a:sym typeface="Source Sans 3"/>
              </a:rPr>
              <a:t>OUR APPROACH</a:t>
            </a:r>
            <a:endParaRPr b="1" sz="1200">
              <a:solidFill>
                <a:srgbClr val="9E1B32"/>
              </a:solidFill>
              <a:latin typeface="Source Sans 3"/>
              <a:ea typeface="Source Sans 3"/>
              <a:cs typeface="Source Sans 3"/>
              <a:sym typeface="Source Sans 3"/>
            </a:endParaRPr>
          </a:p>
        </p:txBody>
      </p:sp>
      <p:sp>
        <p:nvSpPr>
          <p:cNvPr id="61" name="Google Shape;61;p5"/>
          <p:cNvSpPr/>
          <p:nvPr/>
        </p:nvSpPr>
        <p:spPr>
          <a:xfrm>
            <a:off x="812800" y="1115020"/>
            <a:ext cx="10883400" cy="47250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D2A24"/>
              </a:buClr>
              <a:buSzPts val="3200"/>
              <a:buFont typeface="Playfair Display"/>
              <a:buNone/>
            </a:pPr>
            <a:r>
              <a:rPr b="1" lang="en-US" sz="3200">
                <a:solidFill>
                  <a:srgbClr val="1D2A24"/>
                </a:solidFill>
                <a:latin typeface="Playfair Display"/>
                <a:ea typeface="Playfair Display"/>
                <a:cs typeface="Playfair Display"/>
                <a:sym typeface="Playfair Display"/>
              </a:rPr>
              <a:t>Two analysts, three questions, one shared dataset</a:t>
            </a:r>
            <a:endParaRPr b="1" sz="3200">
              <a:solidFill>
                <a:srgbClr val="1D2A24"/>
              </a:solidFill>
              <a:latin typeface="Playfair Display"/>
              <a:ea typeface="Playfair Display"/>
              <a:cs typeface="Playfair Display"/>
              <a:sym typeface="Playfair Display"/>
            </a:endParaRPr>
          </a:p>
          <a:p>
            <a:pPr indent="0" lvl="0" marL="0" rtl="0" algn="l">
              <a:lnSpc>
                <a:spcPct val="110000"/>
              </a:lnSpc>
              <a:spcBef>
                <a:spcPts val="0"/>
              </a:spcBef>
              <a:spcAft>
                <a:spcPts val="0"/>
              </a:spcAft>
              <a:buClr>
                <a:srgbClr val="1D2A24"/>
              </a:buClr>
              <a:buSzPts val="3200"/>
              <a:buFont typeface="Playfair Display"/>
              <a:buNone/>
            </a:pPr>
            <a:r>
              <a:t/>
            </a:r>
            <a:endParaRPr b="1" sz="3200">
              <a:solidFill>
                <a:srgbClr val="1D2A24"/>
              </a:solidFill>
              <a:latin typeface="Playfair Display"/>
              <a:ea typeface="Playfair Display"/>
              <a:cs typeface="Playfair Display"/>
              <a:sym typeface="Playfair Display"/>
            </a:endParaRPr>
          </a:p>
        </p:txBody>
      </p:sp>
      <p:sp>
        <p:nvSpPr>
          <p:cNvPr id="62" name="Google Shape;62;p5"/>
          <p:cNvSpPr/>
          <p:nvPr/>
        </p:nvSpPr>
        <p:spPr>
          <a:xfrm>
            <a:off x="815975" y="1961163"/>
            <a:ext cx="3414000" cy="3403200"/>
          </a:xfrm>
          <a:prstGeom prst="roundRect">
            <a:avLst>
              <a:gd fmla="val 2511"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1390650" y="2198000"/>
            <a:ext cx="2932800" cy="2691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rgbClr val="1D2A24"/>
              </a:buClr>
              <a:buSzPts val="1600"/>
              <a:buFont typeface="Playfair Display"/>
              <a:buNone/>
            </a:pPr>
            <a:r>
              <a:rPr b="1" lang="en-US" sz="1600">
                <a:solidFill>
                  <a:srgbClr val="1D2A24"/>
                </a:solidFill>
                <a:latin typeface="Playfair Display"/>
                <a:ea typeface="Playfair Display"/>
                <a:cs typeface="Playfair Display"/>
                <a:sym typeface="Playfair Display"/>
              </a:rPr>
              <a:t>Planning</a:t>
            </a:r>
            <a:r>
              <a:rPr b="1" lang="en-US" sz="1600">
                <a:solidFill>
                  <a:srgbClr val="1D2A24"/>
                </a:solidFill>
                <a:latin typeface="Playfair Display"/>
                <a:ea typeface="Playfair Display"/>
                <a:cs typeface="Playfair Display"/>
                <a:sym typeface="Playfair Display"/>
              </a:rPr>
              <a:t> and ownership</a:t>
            </a:r>
            <a:endParaRPr sz="16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D2A24"/>
              </a:buClr>
              <a:buSzPts val="1600"/>
              <a:buFont typeface="Playfair Display"/>
              <a:buNone/>
            </a:pPr>
            <a:r>
              <a:t/>
            </a:r>
            <a:endParaRPr b="1" sz="1600">
              <a:solidFill>
                <a:srgbClr val="1D2A24"/>
              </a:solidFill>
              <a:latin typeface="Playfair Display"/>
              <a:ea typeface="Playfair Display"/>
              <a:cs typeface="Playfair Display"/>
              <a:sym typeface="Playfair Display"/>
            </a:endParaRPr>
          </a:p>
        </p:txBody>
      </p:sp>
      <p:sp>
        <p:nvSpPr>
          <p:cNvPr id="64" name="Google Shape;64;p5"/>
          <p:cNvSpPr/>
          <p:nvPr/>
        </p:nvSpPr>
        <p:spPr>
          <a:xfrm>
            <a:off x="1146550" y="2747319"/>
            <a:ext cx="2932800" cy="1860000"/>
          </a:xfrm>
          <a:prstGeom prst="rect">
            <a:avLst/>
          </a:prstGeom>
          <a:noFill/>
          <a:ln>
            <a:noFill/>
          </a:ln>
        </p:spPr>
        <p:txBody>
          <a:bodyPr anchorCtr="0" anchor="t" bIns="0" lIns="0" spcFirstLastPara="1" rIns="0" wrap="square" tIns="0">
            <a:noAutofit/>
          </a:bodyPr>
          <a:lstStyle/>
          <a:p>
            <a:pPr indent="-164719" lvl="0" marL="155194" marR="0"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Trello: one card per task, owner and deadline</a:t>
            </a:r>
            <a:endParaRPr sz="1350">
              <a:solidFill>
                <a:srgbClr val="4B5550"/>
              </a:solidFill>
              <a:latin typeface="Source Sans 3"/>
              <a:ea typeface="Source Sans 3"/>
              <a:cs typeface="Source Sans 3"/>
              <a:sym typeface="Source Sans 3"/>
            </a:endParaRPr>
          </a:p>
          <a:p>
            <a:pPr indent="0" lvl="0" marL="0" marR="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marR="0"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Andrea worked on H1, while Juliana worked on H2 and H3.</a:t>
            </a:r>
            <a:endParaRPr sz="1350">
              <a:solidFill>
                <a:srgbClr val="4B5550"/>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marR="0"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One GitHub repo, separate notebooks, shared definitions</a:t>
            </a:r>
            <a:endParaRPr sz="1350">
              <a:solidFill>
                <a:srgbClr val="4B5550"/>
              </a:solidFill>
              <a:latin typeface="Source Sans 3"/>
              <a:ea typeface="Source Sans 3"/>
              <a:cs typeface="Source Sans 3"/>
              <a:sym typeface="Source Sans 3"/>
            </a:endParaRPr>
          </a:p>
          <a:p>
            <a:pPr indent="0" lvl="0" marL="0" marR="0" rtl="0" algn="l">
              <a:lnSpc>
                <a:spcPct val="140000"/>
              </a:lnSpc>
              <a:spcBef>
                <a:spcPts val="0"/>
              </a:spcBef>
              <a:spcAft>
                <a:spcPts val="0"/>
              </a:spcAft>
              <a:buNone/>
            </a:pPr>
            <a:r>
              <a:t/>
            </a:r>
            <a:endParaRPr b="0" i="0" sz="1350" u="none" cap="none" strike="noStrike">
              <a:solidFill>
                <a:schemeClr val="dk1"/>
              </a:solidFill>
              <a:latin typeface="Calibri"/>
              <a:ea typeface="Calibri"/>
              <a:cs typeface="Calibri"/>
              <a:sym typeface="Calibri"/>
            </a:endParaRPr>
          </a:p>
        </p:txBody>
      </p:sp>
      <p:sp>
        <p:nvSpPr>
          <p:cNvPr id="65" name="Google Shape;65;p5"/>
          <p:cNvSpPr/>
          <p:nvPr/>
        </p:nvSpPr>
        <p:spPr>
          <a:xfrm>
            <a:off x="4388842" y="1961163"/>
            <a:ext cx="3414300" cy="3403200"/>
          </a:xfrm>
          <a:prstGeom prst="roundRect">
            <a:avLst>
              <a:gd fmla="val 2511"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4963532" y="2198000"/>
            <a:ext cx="22650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600"/>
              <a:buFont typeface="Playfair Display"/>
              <a:buNone/>
            </a:pPr>
            <a:r>
              <a:rPr b="1" lang="en-US" sz="1600">
                <a:solidFill>
                  <a:srgbClr val="1D2A24"/>
                </a:solidFill>
                <a:latin typeface="Playfair Display"/>
                <a:ea typeface="Playfair Display"/>
                <a:cs typeface="Playfair Display"/>
                <a:sym typeface="Playfair Display"/>
              </a:rPr>
              <a:t>Adaptive scope</a:t>
            </a:r>
            <a:endParaRPr b="1" sz="1600">
              <a:solidFill>
                <a:srgbClr val="1D2A24"/>
              </a:solidFill>
              <a:latin typeface="Playfair Display"/>
              <a:ea typeface="Playfair Display"/>
              <a:cs typeface="Playfair Display"/>
              <a:sym typeface="Playfair Display"/>
            </a:endParaRPr>
          </a:p>
          <a:p>
            <a:pPr indent="0" lvl="0" marL="0" marR="0" rtl="0" algn="l">
              <a:lnSpc>
                <a:spcPct val="120000"/>
              </a:lnSpc>
              <a:spcBef>
                <a:spcPts val="0"/>
              </a:spcBef>
              <a:spcAft>
                <a:spcPts val="0"/>
              </a:spcAft>
              <a:buClr>
                <a:srgbClr val="1D2A24"/>
              </a:buClr>
              <a:buSzPts val="1600"/>
              <a:buFont typeface="Playfair Display"/>
              <a:buNone/>
            </a:pPr>
            <a:r>
              <a:t/>
            </a:r>
            <a:endParaRPr b="1" sz="1600">
              <a:solidFill>
                <a:srgbClr val="1D2A24"/>
              </a:solidFill>
              <a:latin typeface="Playfair Display"/>
              <a:ea typeface="Playfair Display"/>
              <a:cs typeface="Playfair Display"/>
              <a:sym typeface="Playfair Display"/>
            </a:endParaRPr>
          </a:p>
        </p:txBody>
      </p:sp>
      <p:sp>
        <p:nvSpPr>
          <p:cNvPr id="67" name="Google Shape;67;p5"/>
          <p:cNvSpPr/>
          <p:nvPr/>
        </p:nvSpPr>
        <p:spPr>
          <a:xfrm>
            <a:off x="4719425" y="2747320"/>
            <a:ext cx="2932800" cy="1810500"/>
          </a:xfrm>
          <a:prstGeom prst="rect">
            <a:avLst/>
          </a:prstGeom>
          <a:noFill/>
          <a:ln>
            <a:noFill/>
          </a:ln>
        </p:spPr>
        <p:txBody>
          <a:bodyPr anchorCtr="0" anchor="t" bIns="0" lIns="0" spcFirstLastPara="1" rIns="0" wrap="square" tIns="0">
            <a:noAutofit/>
          </a:bodyPr>
          <a:lstStyle/>
          <a:p>
            <a:pPr indent="-164719" lvl="0" marL="155194" marR="0"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After initial data assessment: </a:t>
            </a:r>
            <a:br>
              <a:rPr lang="en-US" sz="1350">
                <a:solidFill>
                  <a:srgbClr val="4B5550"/>
                </a:solidFill>
                <a:latin typeface="Source Sans 3"/>
                <a:ea typeface="Source Sans 3"/>
                <a:cs typeface="Source Sans 3"/>
                <a:sym typeface="Source Sans 3"/>
              </a:rPr>
            </a:br>
            <a:endParaRPr sz="1350">
              <a:solidFill>
                <a:srgbClr val="4B5550"/>
              </a:solidFill>
              <a:latin typeface="Source Sans 3"/>
              <a:ea typeface="Source Sans 3"/>
              <a:cs typeface="Source Sans 3"/>
              <a:sym typeface="Source Sans 3"/>
            </a:endParaRPr>
          </a:p>
          <a:p>
            <a:pPr indent="-314325" lvl="1" marL="914400" marR="0"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H3 switched to INE data </a:t>
            </a:r>
            <a:endParaRPr sz="1350">
              <a:solidFill>
                <a:srgbClr val="4B5550"/>
              </a:solidFill>
              <a:latin typeface="Source Sans 3"/>
              <a:ea typeface="Source Sans 3"/>
              <a:cs typeface="Source Sans 3"/>
              <a:sym typeface="Source Sans 3"/>
            </a:endParaRPr>
          </a:p>
          <a:p>
            <a:pPr indent="-314325" lvl="1" marL="914400" marR="0"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Scraping replaced by the INE API </a:t>
            </a:r>
            <a:endParaRPr sz="1350">
              <a:solidFill>
                <a:srgbClr val="4B5550"/>
              </a:solidFill>
              <a:latin typeface="Source Sans 3"/>
              <a:ea typeface="Source Sans 3"/>
              <a:cs typeface="Source Sans 3"/>
              <a:sym typeface="Source Sans 3"/>
            </a:endParaRPr>
          </a:p>
          <a:p>
            <a:pPr indent="-314325" lvl="1" marL="914400" marR="0"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All analyses updated to 2Q 2026</a:t>
            </a:r>
            <a:endParaRPr sz="1350">
              <a:solidFill>
                <a:srgbClr val="4B5550"/>
              </a:solidFill>
              <a:latin typeface="Source Sans 3"/>
              <a:ea typeface="Source Sans 3"/>
              <a:cs typeface="Source Sans 3"/>
              <a:sym typeface="Source Sans 3"/>
            </a:endParaRPr>
          </a:p>
        </p:txBody>
      </p:sp>
      <p:sp>
        <p:nvSpPr>
          <p:cNvPr id="68" name="Google Shape;68;p5"/>
          <p:cNvSpPr/>
          <p:nvPr/>
        </p:nvSpPr>
        <p:spPr>
          <a:xfrm>
            <a:off x="7961800" y="1968300"/>
            <a:ext cx="3414300" cy="3403200"/>
          </a:xfrm>
          <a:prstGeom prst="roundRect">
            <a:avLst>
              <a:gd fmla="val 2511"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8536468" y="2198000"/>
            <a:ext cx="2688600" cy="2691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rgbClr val="1D2A24"/>
              </a:buClr>
              <a:buSzPts val="1600"/>
              <a:buFont typeface="Playfair Display"/>
              <a:buNone/>
            </a:pPr>
            <a:r>
              <a:rPr b="1" lang="en-US" sz="1600">
                <a:solidFill>
                  <a:srgbClr val="1D2A24"/>
                </a:solidFill>
                <a:latin typeface="Playfair Display"/>
                <a:ea typeface="Playfair Display"/>
                <a:cs typeface="Playfair Display"/>
                <a:sym typeface="Playfair Display"/>
              </a:rPr>
              <a:t>Risk management</a:t>
            </a:r>
            <a:endParaRPr sz="1600">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D2A24"/>
              </a:buClr>
              <a:buSzPts val="1600"/>
              <a:buFont typeface="Playfair Display"/>
              <a:buNone/>
            </a:pPr>
            <a:r>
              <a:t/>
            </a:r>
            <a:endParaRPr b="1" sz="1600">
              <a:solidFill>
                <a:srgbClr val="1D2A24"/>
              </a:solidFill>
              <a:latin typeface="Playfair Display"/>
              <a:ea typeface="Playfair Display"/>
              <a:cs typeface="Playfair Display"/>
              <a:sym typeface="Playfair Display"/>
            </a:endParaRPr>
          </a:p>
        </p:txBody>
      </p:sp>
      <p:sp>
        <p:nvSpPr>
          <p:cNvPr id="70" name="Google Shape;70;p5"/>
          <p:cNvSpPr/>
          <p:nvPr/>
        </p:nvSpPr>
        <p:spPr>
          <a:xfrm>
            <a:off x="8292400" y="2714315"/>
            <a:ext cx="2932800" cy="1782000"/>
          </a:xfrm>
          <a:prstGeom prst="rect">
            <a:avLst/>
          </a:prstGeom>
          <a:noFill/>
          <a:ln>
            <a:noFill/>
          </a:ln>
        </p:spPr>
        <p:txBody>
          <a:bodyPr anchorCtr="0" anchor="t" bIns="0" lIns="0" spcFirstLastPara="1" rIns="0" wrap="square" tIns="0">
            <a:noAutofit/>
          </a:bodyPr>
          <a:lstStyle/>
          <a:p>
            <a:pPr indent="-164719" lvl="0" marL="155194"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API problems → saved data files</a:t>
            </a:r>
            <a:endParaRPr sz="1350">
              <a:solidFill>
                <a:srgbClr val="4B5550"/>
              </a:solidFill>
              <a:latin typeface="Source Sans 3"/>
              <a:ea typeface="Source Sans 3"/>
              <a:cs typeface="Source Sans 3"/>
              <a:sym typeface="Source Sans 3"/>
            </a:endParaRPr>
          </a:p>
          <a:p>
            <a:pPr indent="0" lvl="0" marL="45720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Names don't match → municipality codes</a:t>
            </a:r>
            <a:endParaRPr sz="1350">
              <a:solidFill>
                <a:srgbClr val="4B5550"/>
              </a:solidFill>
              <a:latin typeface="Source Sans 3"/>
              <a:ea typeface="Source Sans 3"/>
              <a:cs typeface="Source Sans 3"/>
              <a:sym typeface="Source Sans 3"/>
            </a:endParaRPr>
          </a:p>
          <a:p>
            <a:pPr indent="0" lvl="0" marL="45720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rtl="0" algn="l">
              <a:lnSpc>
                <a:spcPct val="140000"/>
              </a:lnSpc>
              <a:spcBef>
                <a:spcPts val="0"/>
              </a:spcBef>
              <a:spcAft>
                <a:spcPts val="0"/>
              </a:spcAft>
              <a:buClr>
                <a:srgbClr val="4B5550"/>
              </a:buClr>
              <a:buSzPts val="1350"/>
              <a:buFont typeface="Source Sans 3"/>
              <a:buChar char="•"/>
            </a:pPr>
            <a:r>
              <a:rPr lang="en-US" sz="1350">
                <a:solidFill>
                  <a:srgbClr val="4B5550"/>
                </a:solidFill>
                <a:latin typeface="Source Sans 3"/>
                <a:ea typeface="Source Sans 3"/>
                <a:cs typeface="Source Sans 3"/>
                <a:sym typeface="Source Sans 3"/>
              </a:rPr>
              <a:t>Limited time → focus on the three core questions</a:t>
            </a:r>
            <a:endParaRPr sz="1350">
              <a:solidFill>
                <a:srgbClr val="4B5550"/>
              </a:solidFill>
              <a:latin typeface="Source Sans 3"/>
              <a:ea typeface="Source Sans 3"/>
              <a:cs typeface="Source Sans 3"/>
              <a:sym typeface="Source Sans 3"/>
            </a:endParaRPr>
          </a:p>
        </p:txBody>
      </p:sp>
      <p:sp>
        <p:nvSpPr>
          <p:cNvPr id="71" name="Google Shape;71;p5"/>
          <p:cNvSpPr/>
          <p:nvPr/>
        </p:nvSpPr>
        <p:spPr>
          <a:xfrm>
            <a:off x="812800" y="5628680"/>
            <a:ext cx="10883400" cy="238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Font typeface="Arial"/>
              <a:buNone/>
            </a:pPr>
            <a:r>
              <a:rPr lang="en-US" sz="1200">
                <a:solidFill>
                  <a:srgbClr val="4B5550"/>
                </a:solidFill>
                <a:latin typeface="Source Sans 3"/>
                <a:ea typeface="Source Sans 3"/>
                <a:cs typeface="Source Sans 3"/>
                <a:sym typeface="Source Sans 3"/>
              </a:rPr>
              <a:t>~146,000 source records, one shared framework. The plan changed, the questions stayed the same.</a:t>
            </a:r>
            <a:endParaRPr sz="1200">
              <a:solidFill>
                <a:schemeClr val="dk1"/>
              </a:solidFill>
            </a:endParaRPr>
          </a:p>
          <a:p>
            <a:pPr indent="0" lvl="0" marL="0" marR="0" rtl="0" algn="ctr">
              <a:lnSpc>
                <a:spcPct val="140000"/>
              </a:lnSpc>
              <a:spcBef>
                <a:spcPts val="0"/>
              </a:spcBef>
              <a:spcAft>
                <a:spcPts val="0"/>
              </a:spcAft>
              <a:buClr>
                <a:srgbClr val="6F7470"/>
              </a:buClr>
              <a:buSzPts val="1200"/>
              <a:buFont typeface="Source Sans 3"/>
              <a:buNone/>
            </a:pPr>
            <a:r>
              <a:t/>
            </a:r>
            <a:endParaRPr b="1" sz="1350">
              <a:solidFill>
                <a:srgbClr val="6F7470"/>
              </a:solidFill>
              <a:latin typeface="Source Sans 3"/>
              <a:ea typeface="Source Sans 3"/>
              <a:cs typeface="Source Sans 3"/>
              <a:sym typeface="Source Sans 3"/>
            </a:endParaRPr>
          </a:p>
        </p:txBody>
      </p:sp>
      <p:sp>
        <p:nvSpPr>
          <p:cNvPr id="72" name="Google Shape;72;p5"/>
          <p:cNvSpPr/>
          <p:nvPr/>
        </p:nvSpPr>
        <p:spPr>
          <a:xfrm>
            <a:off x="812800" y="62382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3</a:t>
            </a:r>
            <a:endParaRPr b="0" i="0" sz="1200" u="none" cap="none" strike="noStrike">
              <a:solidFill>
                <a:schemeClr val="dk1"/>
              </a:solidFill>
              <a:latin typeface="Calibri"/>
              <a:ea typeface="Calibri"/>
              <a:cs typeface="Calibri"/>
              <a:sym typeface="Calibri"/>
            </a:endParaRPr>
          </a:p>
        </p:txBody>
      </p:sp>
      <p:pic>
        <p:nvPicPr>
          <p:cNvPr descr="Settings" id="73" name="Google Shape;73;p5"/>
          <p:cNvPicPr preferRelativeResize="0"/>
          <p:nvPr/>
        </p:nvPicPr>
        <p:blipFill rotWithShape="1">
          <a:blip r:embed="rId3">
            <a:alphaModFix/>
          </a:blip>
          <a:srcRect b="0" l="0" r="0" t="0"/>
          <a:stretch/>
        </p:blipFill>
        <p:spPr>
          <a:xfrm>
            <a:off x="1047675" y="2192951"/>
            <a:ext cx="254000" cy="254000"/>
          </a:xfrm>
          <a:prstGeom prst="rect">
            <a:avLst/>
          </a:prstGeom>
          <a:noFill/>
          <a:ln>
            <a:noFill/>
          </a:ln>
        </p:spPr>
      </p:pic>
      <p:pic>
        <p:nvPicPr>
          <p:cNvPr descr="Users" id="74" name="Google Shape;74;p5"/>
          <p:cNvPicPr preferRelativeResize="0"/>
          <p:nvPr/>
        </p:nvPicPr>
        <p:blipFill rotWithShape="1">
          <a:blip r:embed="rId4">
            <a:alphaModFix/>
          </a:blip>
          <a:srcRect b="0" l="0" r="0" t="0"/>
          <a:stretch/>
        </p:blipFill>
        <p:spPr>
          <a:xfrm>
            <a:off x="4620625" y="2192951"/>
            <a:ext cx="254000" cy="254000"/>
          </a:xfrm>
          <a:prstGeom prst="rect">
            <a:avLst/>
          </a:prstGeom>
          <a:noFill/>
          <a:ln>
            <a:noFill/>
          </a:ln>
        </p:spPr>
      </p:pic>
      <p:pic>
        <p:nvPicPr>
          <p:cNvPr descr="Warning" id="75" name="Google Shape;75;p5"/>
          <p:cNvPicPr preferRelativeResize="0"/>
          <p:nvPr/>
        </p:nvPicPr>
        <p:blipFill rotWithShape="1">
          <a:blip r:embed="rId5">
            <a:alphaModFix/>
          </a:blip>
          <a:srcRect b="0" l="0" r="0" t="0"/>
          <a:stretch/>
        </p:blipFill>
        <p:spPr>
          <a:xfrm>
            <a:off x="8193575" y="2205551"/>
            <a:ext cx="254000" cy="254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EE"/>
        </a:solidFill>
      </p:bgPr>
    </p:bg>
    <p:spTree>
      <p:nvGrpSpPr>
        <p:cNvPr id="80" name="Shape 80"/>
        <p:cNvGrpSpPr/>
        <p:nvPr/>
      </p:nvGrpSpPr>
      <p:grpSpPr>
        <a:xfrm>
          <a:off x="0" y="0"/>
          <a:ext cx="0" cy="0"/>
          <a:chOff x="0" y="0"/>
          <a:chExt cx="0" cy="0"/>
        </a:xfrm>
      </p:grpSpPr>
      <p:sp>
        <p:nvSpPr>
          <p:cNvPr id="81" name="Google Shape;81;p6"/>
          <p:cNvSpPr/>
          <p:nvPr/>
        </p:nvSpPr>
        <p:spPr>
          <a:xfrm>
            <a:off x="0" y="0"/>
            <a:ext cx="12192000" cy="889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E1B32"/>
              </a:buClr>
              <a:buSzPts val="1200"/>
              <a:buFont typeface="Source Sans 3"/>
              <a:buNone/>
            </a:pPr>
            <a:r>
              <a:rPr b="1" i="0" lang="en-US" sz="1200" u="none" cap="none" strike="noStrike">
                <a:solidFill>
                  <a:srgbClr val="9E1B32"/>
                </a:solidFill>
                <a:latin typeface="Source Sans 3"/>
                <a:ea typeface="Source Sans 3"/>
                <a:cs typeface="Source Sans 3"/>
                <a:sym typeface="Source Sans 3"/>
              </a:rPr>
              <a:t>MAJOR OBSTACLE</a:t>
            </a:r>
            <a:endParaRPr b="0" i="0" sz="1200" u="none" cap="none" strike="noStrike">
              <a:solidFill>
                <a:schemeClr val="dk1"/>
              </a:solidFill>
              <a:latin typeface="Calibri"/>
              <a:ea typeface="Calibri"/>
              <a:cs typeface="Calibri"/>
              <a:sym typeface="Calibri"/>
            </a:endParaRPr>
          </a:p>
        </p:txBody>
      </p:sp>
      <p:sp>
        <p:nvSpPr>
          <p:cNvPr id="83" name="Google Shape;83;p6"/>
          <p:cNvSpPr/>
          <p:nvPr/>
        </p:nvSpPr>
        <p:spPr>
          <a:xfrm>
            <a:off x="812800" y="1115020"/>
            <a:ext cx="10883392" cy="4723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A24"/>
              </a:buClr>
              <a:buSzPts val="3200"/>
              <a:buFont typeface="Playfair Display"/>
              <a:buNone/>
            </a:pPr>
            <a:r>
              <a:rPr b="1" lang="en-US" sz="3200">
                <a:solidFill>
                  <a:srgbClr val="1D2A24"/>
                </a:solidFill>
                <a:latin typeface="Playfair Display"/>
                <a:ea typeface="Playfair Display"/>
                <a:cs typeface="Playfair Display"/>
                <a:sym typeface="Playfair Display"/>
              </a:rPr>
              <a:t>Our main data source was stuck in 2023</a:t>
            </a:r>
            <a:endParaRPr b="1" sz="3200">
              <a:solidFill>
                <a:srgbClr val="1D2A24"/>
              </a:solidFill>
              <a:latin typeface="Playfair Display"/>
              <a:ea typeface="Playfair Display"/>
              <a:cs typeface="Playfair Display"/>
              <a:sym typeface="Playfair Display"/>
            </a:endParaRPr>
          </a:p>
          <a:p>
            <a:pPr indent="0" lvl="0" marL="0" marR="0" rtl="0" algn="l">
              <a:lnSpc>
                <a:spcPct val="110000"/>
              </a:lnSpc>
              <a:spcBef>
                <a:spcPts val="0"/>
              </a:spcBef>
              <a:spcAft>
                <a:spcPts val="0"/>
              </a:spcAft>
              <a:buClr>
                <a:srgbClr val="1D2A24"/>
              </a:buClr>
              <a:buSzPts val="3200"/>
              <a:buFont typeface="Playfair Display"/>
              <a:buNone/>
            </a:pPr>
            <a:r>
              <a:t/>
            </a:r>
            <a:endParaRPr b="1" sz="3200">
              <a:solidFill>
                <a:srgbClr val="1D2A24"/>
              </a:solidFill>
              <a:latin typeface="Playfair Display"/>
              <a:ea typeface="Playfair Display"/>
              <a:cs typeface="Playfair Display"/>
              <a:sym typeface="Playfair Display"/>
            </a:endParaRPr>
          </a:p>
        </p:txBody>
      </p:sp>
      <p:sp>
        <p:nvSpPr>
          <p:cNvPr id="84" name="Google Shape;84;p6"/>
          <p:cNvSpPr/>
          <p:nvPr/>
        </p:nvSpPr>
        <p:spPr>
          <a:xfrm>
            <a:off x="815975" y="2145739"/>
            <a:ext cx="5564100" cy="1496100"/>
          </a:xfrm>
          <a:prstGeom prst="roundRect">
            <a:avLst>
              <a:gd fmla="val 5116"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ning" id="85" name="Google Shape;85;p6"/>
          <p:cNvPicPr preferRelativeResize="0"/>
          <p:nvPr/>
        </p:nvPicPr>
        <p:blipFill rotWithShape="1">
          <a:blip r:embed="rId3">
            <a:alphaModFix/>
          </a:blip>
          <a:srcRect b="0" l="0" r="0" t="0"/>
          <a:stretch/>
        </p:blipFill>
        <p:spPr>
          <a:xfrm>
            <a:off x="1009650" y="2318565"/>
            <a:ext cx="228600" cy="228600"/>
          </a:xfrm>
          <a:prstGeom prst="rect">
            <a:avLst/>
          </a:prstGeom>
          <a:noFill/>
          <a:ln>
            <a:noFill/>
          </a:ln>
        </p:spPr>
      </p:pic>
      <p:sp>
        <p:nvSpPr>
          <p:cNvPr id="86" name="Google Shape;86;p6"/>
          <p:cNvSpPr/>
          <p:nvPr/>
        </p:nvSpPr>
        <p:spPr>
          <a:xfrm>
            <a:off x="1327150" y="2311025"/>
            <a:ext cx="12390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600"/>
              <a:buFont typeface="Playfair Display"/>
              <a:buNone/>
            </a:pPr>
            <a:r>
              <a:rPr b="1" i="0" lang="en-US" sz="1600" u="none" cap="none" strike="noStrike">
                <a:solidFill>
                  <a:srgbClr val="1D2A24"/>
                </a:solidFill>
                <a:latin typeface="Playfair Display"/>
                <a:ea typeface="Playfair Display"/>
                <a:cs typeface="Playfair Display"/>
                <a:sym typeface="Playfair Display"/>
              </a:rPr>
              <a:t>The problem</a:t>
            </a:r>
            <a:endParaRPr b="0" i="0" sz="1600" u="none" cap="none" strike="noStrike">
              <a:solidFill>
                <a:schemeClr val="dk1"/>
              </a:solidFill>
              <a:latin typeface="Calibri"/>
              <a:ea typeface="Calibri"/>
              <a:cs typeface="Calibri"/>
              <a:sym typeface="Calibri"/>
            </a:endParaRPr>
          </a:p>
        </p:txBody>
      </p:sp>
      <p:sp>
        <p:nvSpPr>
          <p:cNvPr id="87" name="Google Shape;87;p6"/>
          <p:cNvSpPr/>
          <p:nvPr/>
        </p:nvSpPr>
        <p:spPr>
          <a:xfrm>
            <a:off x="1009650" y="2645191"/>
            <a:ext cx="5331900" cy="745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50"/>
              </a:buClr>
              <a:buSzPts val="1350"/>
              <a:buFont typeface="Source Sans 3"/>
              <a:buNone/>
            </a:pPr>
            <a:r>
              <a:t/>
            </a:r>
            <a:endParaRPr sz="400">
              <a:solidFill>
                <a:srgbClr val="4B5550"/>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4B5550"/>
              </a:buClr>
              <a:buSzPts val="1350"/>
              <a:buFont typeface="Source Sans 3"/>
              <a:buNone/>
            </a:pPr>
            <a:r>
              <a:rPr lang="en-US" sz="1350">
                <a:solidFill>
                  <a:srgbClr val="4B5550"/>
                </a:solidFill>
                <a:latin typeface="Source Sans 3"/>
                <a:ea typeface="Source Sans 3"/>
                <a:cs typeface="Source Sans 3"/>
                <a:sym typeface="Source Sans 3"/>
              </a:rPr>
              <a:t>INE's rent series ends in 2023 and uses the old regional map, so results were out of date and some codes didn't match.</a:t>
            </a:r>
            <a:endParaRPr sz="1350">
              <a:solidFill>
                <a:srgbClr val="4B5550"/>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4B5550"/>
              </a:buClr>
              <a:buSzPts val="1350"/>
              <a:buFont typeface="Source Sans 3"/>
              <a:buNone/>
            </a:pPr>
            <a:r>
              <a:rPr b="1" i="0" lang="en-US" sz="1350" u="none" cap="none" strike="noStrike">
                <a:solidFill>
                  <a:srgbClr val="4B5550"/>
                </a:solidFill>
                <a:latin typeface="Source Sans 3"/>
                <a:ea typeface="Source Sans 3"/>
                <a:cs typeface="Source Sans 3"/>
                <a:sym typeface="Source Sans 3"/>
              </a:rPr>
              <a:t>Our results were </a:t>
            </a:r>
            <a:r>
              <a:rPr b="1" lang="en-US" sz="1350">
                <a:solidFill>
                  <a:srgbClr val="4B5550"/>
                </a:solidFill>
                <a:latin typeface="Source Sans 3"/>
                <a:ea typeface="Source Sans 3"/>
                <a:cs typeface="Source Sans 3"/>
                <a:sym typeface="Source Sans 3"/>
              </a:rPr>
              <a:t>“</a:t>
            </a:r>
            <a:r>
              <a:rPr b="1" i="0" lang="en-US" sz="1350" u="none" cap="none" strike="noStrike">
                <a:solidFill>
                  <a:srgbClr val="4B5550"/>
                </a:solidFill>
                <a:latin typeface="Source Sans 3"/>
                <a:ea typeface="Source Sans 3"/>
                <a:cs typeface="Source Sans 3"/>
                <a:sym typeface="Source Sans 3"/>
              </a:rPr>
              <a:t>stuck in the past</a:t>
            </a:r>
            <a:r>
              <a:rPr b="1" lang="en-US" sz="1350">
                <a:solidFill>
                  <a:srgbClr val="4B5550"/>
                </a:solidFill>
                <a:latin typeface="Source Sans 3"/>
                <a:ea typeface="Source Sans 3"/>
                <a:cs typeface="Source Sans 3"/>
                <a:sym typeface="Source Sans 3"/>
              </a:rPr>
              <a:t>”</a:t>
            </a:r>
            <a:r>
              <a:rPr b="0" i="0" lang="en-US" sz="1350" u="none" cap="none" strike="noStrike">
                <a:solidFill>
                  <a:srgbClr val="4B5550"/>
                </a:solidFill>
                <a:latin typeface="Source Sans 3"/>
                <a:ea typeface="Source Sans 3"/>
                <a:cs typeface="Source Sans 3"/>
                <a:sym typeface="Source Sans 3"/>
              </a:rPr>
              <a:t> and some codes did not match.</a:t>
            </a:r>
            <a:endParaRPr b="0" i="0" sz="1350" u="none" cap="none" strike="noStrike">
              <a:solidFill>
                <a:schemeClr val="dk1"/>
              </a:solidFill>
              <a:latin typeface="Calibri"/>
              <a:ea typeface="Calibri"/>
              <a:cs typeface="Calibri"/>
              <a:sym typeface="Calibri"/>
            </a:endParaRPr>
          </a:p>
        </p:txBody>
      </p:sp>
      <p:sp>
        <p:nvSpPr>
          <p:cNvPr id="88" name="Google Shape;88;p6"/>
          <p:cNvSpPr/>
          <p:nvPr/>
        </p:nvSpPr>
        <p:spPr>
          <a:xfrm>
            <a:off x="815925" y="4036665"/>
            <a:ext cx="5564100" cy="1496100"/>
          </a:xfrm>
          <a:prstGeom prst="roundRect">
            <a:avLst>
              <a:gd fmla="val 5116"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ool" id="89" name="Google Shape;89;p6"/>
          <p:cNvPicPr preferRelativeResize="0"/>
          <p:nvPr/>
        </p:nvPicPr>
        <p:blipFill rotWithShape="1">
          <a:blip r:embed="rId4">
            <a:alphaModFix/>
          </a:blip>
          <a:srcRect b="0" l="0" r="0" t="0"/>
          <a:stretch/>
        </p:blipFill>
        <p:spPr>
          <a:xfrm>
            <a:off x="1009600" y="4152676"/>
            <a:ext cx="228600" cy="228600"/>
          </a:xfrm>
          <a:prstGeom prst="rect">
            <a:avLst/>
          </a:prstGeom>
          <a:noFill/>
          <a:ln>
            <a:noFill/>
          </a:ln>
        </p:spPr>
      </p:pic>
      <p:sp>
        <p:nvSpPr>
          <p:cNvPr id="90" name="Google Shape;90;p6"/>
          <p:cNvSpPr/>
          <p:nvPr/>
        </p:nvSpPr>
        <p:spPr>
          <a:xfrm>
            <a:off x="1327100" y="4145136"/>
            <a:ext cx="6948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600"/>
              <a:buFont typeface="Playfair Display"/>
              <a:buNone/>
            </a:pPr>
            <a:r>
              <a:rPr b="1" i="0" lang="en-US" sz="1600" u="none" cap="none" strike="noStrike">
                <a:solidFill>
                  <a:srgbClr val="1D2A24"/>
                </a:solidFill>
                <a:latin typeface="Playfair Display"/>
                <a:ea typeface="Playfair Display"/>
                <a:cs typeface="Playfair Display"/>
                <a:sym typeface="Playfair Display"/>
              </a:rPr>
              <a:t>The fix</a:t>
            </a:r>
            <a:endParaRPr b="0" i="0" sz="1600" u="none" cap="none" strike="noStrike">
              <a:solidFill>
                <a:schemeClr val="dk1"/>
              </a:solidFill>
              <a:latin typeface="Calibri"/>
              <a:ea typeface="Calibri"/>
              <a:cs typeface="Calibri"/>
              <a:sym typeface="Calibri"/>
            </a:endParaRPr>
          </a:p>
        </p:txBody>
      </p:sp>
      <p:sp>
        <p:nvSpPr>
          <p:cNvPr id="91" name="Google Shape;91;p6"/>
          <p:cNvSpPr/>
          <p:nvPr/>
        </p:nvSpPr>
        <p:spPr>
          <a:xfrm>
            <a:off x="1009600" y="4521911"/>
            <a:ext cx="5331900" cy="745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50"/>
              </a:buClr>
              <a:buSzPts val="1350"/>
              <a:buFont typeface="Source Sans 3"/>
              <a:buNone/>
            </a:pPr>
            <a:r>
              <a:t/>
            </a:r>
            <a:endParaRPr sz="400">
              <a:solidFill>
                <a:srgbClr val="4B5550"/>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4B5550"/>
              </a:buClr>
              <a:buSzPts val="1350"/>
              <a:buFont typeface="Source Sans 3"/>
              <a:buNone/>
            </a:pPr>
            <a:r>
              <a:rPr lang="en-US" sz="1350">
                <a:solidFill>
                  <a:srgbClr val="4B5550"/>
                </a:solidFill>
                <a:latin typeface="Source Sans 3"/>
                <a:ea typeface="Source Sans 3"/>
                <a:cs typeface="Source Sans 3"/>
                <a:sym typeface="Source Sans 3"/>
              </a:rPr>
              <a:t>We moved all three hypotheses to </a:t>
            </a:r>
            <a:r>
              <a:rPr b="1" lang="en-US" sz="1350">
                <a:solidFill>
                  <a:srgbClr val="4B5550"/>
                </a:solidFill>
                <a:latin typeface="Source Sans 3"/>
                <a:ea typeface="Source Sans 3"/>
                <a:cs typeface="Source Sans 3"/>
                <a:sym typeface="Source Sans 3"/>
              </a:rPr>
              <a:t>INE's new rent series (up to 2Q 2026). </a:t>
            </a:r>
            <a:r>
              <a:rPr lang="en-US" sz="1350">
                <a:solidFill>
                  <a:srgbClr val="4B5550"/>
                </a:solidFill>
                <a:latin typeface="Source Sans 3"/>
                <a:ea typeface="Source Sans 3"/>
                <a:cs typeface="Source Sans 3"/>
                <a:sym typeface="Source Sans 3"/>
              </a:rPr>
              <a:t>For H1, the old series runs to 2024 and is extended with the new one's growth.</a:t>
            </a:r>
            <a:endParaRPr sz="1350">
              <a:solidFill>
                <a:srgbClr val="4B5550"/>
              </a:solidFill>
              <a:latin typeface="Source Sans 3"/>
              <a:ea typeface="Source Sans 3"/>
              <a:cs typeface="Source Sans 3"/>
              <a:sym typeface="Source Sans 3"/>
            </a:endParaRPr>
          </a:p>
        </p:txBody>
      </p:sp>
      <p:sp>
        <p:nvSpPr>
          <p:cNvPr id="92" name="Google Shape;92;p6"/>
          <p:cNvSpPr/>
          <p:nvPr/>
        </p:nvSpPr>
        <p:spPr>
          <a:xfrm>
            <a:off x="6586350" y="2098040"/>
            <a:ext cx="4792800" cy="3453600"/>
          </a:xfrm>
          <a:prstGeom prst="roundRect">
            <a:avLst>
              <a:gd fmla="val 2524" name="adj"/>
            </a:avLst>
          </a:prstGeom>
          <a:solidFill>
            <a:srgbClr val="0F3D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7183239" y="2231247"/>
            <a:ext cx="15879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3EDE1"/>
              </a:buClr>
              <a:buSzPts val="1600"/>
              <a:buFont typeface="Playfair Display"/>
              <a:buNone/>
            </a:pPr>
            <a:r>
              <a:rPr b="1" i="0" lang="en-US" sz="1600" u="none" cap="none" strike="noStrike">
                <a:solidFill>
                  <a:schemeClr val="lt1"/>
                </a:solidFill>
                <a:latin typeface="Playfair Display"/>
                <a:ea typeface="Playfair Display"/>
                <a:cs typeface="Playfair Display"/>
                <a:sym typeface="Playfair Display"/>
              </a:rPr>
              <a:t>What we learned</a:t>
            </a:r>
            <a:endParaRPr b="0" i="0" sz="1600" u="none" cap="none" strike="noStrike">
              <a:solidFill>
                <a:schemeClr val="lt1"/>
              </a:solidFill>
              <a:latin typeface="Calibri"/>
              <a:ea typeface="Calibri"/>
              <a:cs typeface="Calibri"/>
              <a:sym typeface="Calibri"/>
            </a:endParaRPr>
          </a:p>
        </p:txBody>
      </p:sp>
      <p:sp>
        <p:nvSpPr>
          <p:cNvPr id="94" name="Google Shape;94;p6"/>
          <p:cNvSpPr/>
          <p:nvPr/>
        </p:nvSpPr>
        <p:spPr>
          <a:xfrm>
            <a:off x="6932425" y="2539189"/>
            <a:ext cx="4313700" cy="2842800"/>
          </a:xfrm>
          <a:prstGeom prst="rect">
            <a:avLst/>
          </a:prstGeom>
          <a:noFill/>
          <a:ln>
            <a:noFill/>
          </a:ln>
        </p:spPr>
        <p:txBody>
          <a:bodyPr anchorCtr="0" anchor="t" bIns="0" lIns="0" spcFirstLastPara="1" rIns="0" wrap="square" tIns="0">
            <a:noAutofit/>
          </a:bodyPr>
          <a:lstStyle/>
          <a:p>
            <a:pPr indent="0" lvl="0" marL="457200" marR="0" rtl="0" algn="l">
              <a:lnSpc>
                <a:spcPct val="140000"/>
              </a:lnSpc>
              <a:spcBef>
                <a:spcPts val="0"/>
              </a:spcBef>
              <a:spcAft>
                <a:spcPts val="0"/>
              </a:spcAft>
              <a:buNone/>
            </a:pPr>
            <a:r>
              <a:t/>
            </a:r>
            <a:endParaRPr sz="1350">
              <a:solidFill>
                <a:srgbClr val="D9E4DC"/>
              </a:solidFill>
              <a:latin typeface="Source Sans 3"/>
              <a:ea typeface="Source Sans 3"/>
              <a:cs typeface="Source Sans 3"/>
              <a:sym typeface="Source Sans 3"/>
            </a:endParaRPr>
          </a:p>
          <a:p>
            <a:pPr indent="-168275" lvl="0" marL="161925" marR="0" rtl="0" algn="l">
              <a:lnSpc>
                <a:spcPct val="140000"/>
              </a:lnSpc>
              <a:spcBef>
                <a:spcPts val="0"/>
              </a:spcBef>
              <a:spcAft>
                <a:spcPts val="0"/>
              </a:spcAft>
              <a:buClr>
                <a:srgbClr val="D9E4DC"/>
              </a:buClr>
              <a:buSzPts val="1350"/>
              <a:buFont typeface="Source Sans 3"/>
              <a:buChar char="•"/>
            </a:pPr>
            <a:r>
              <a:rPr lang="en-US" sz="1350">
                <a:solidFill>
                  <a:srgbClr val="D9E4DC"/>
                </a:solidFill>
                <a:latin typeface="Source Sans 3"/>
                <a:ea typeface="Source Sans 3"/>
                <a:cs typeface="Source Sans 3"/>
                <a:sym typeface="Source Sans 3"/>
              </a:rPr>
              <a:t>With a lot of data, first </a:t>
            </a:r>
            <a:r>
              <a:rPr b="1" lang="en-US" sz="1350">
                <a:solidFill>
                  <a:srgbClr val="D9E4DC"/>
                </a:solidFill>
                <a:latin typeface="Source Sans 3"/>
                <a:ea typeface="Source Sans 3"/>
                <a:cs typeface="Source Sans 3"/>
                <a:sym typeface="Source Sans 3"/>
              </a:rPr>
              <a:t>decide which result you need</a:t>
            </a:r>
            <a:r>
              <a:rPr lang="en-US" sz="1350">
                <a:solidFill>
                  <a:srgbClr val="D9E4DC"/>
                </a:solidFill>
                <a:latin typeface="Source Sans 3"/>
                <a:ea typeface="Source Sans 3"/>
                <a:cs typeface="Source Sans 3"/>
                <a:sym typeface="Source Sans 3"/>
              </a:rPr>
              <a:t>, then collect only what answers it</a:t>
            </a:r>
            <a:endParaRPr sz="1350">
              <a:solidFill>
                <a:srgbClr val="D9E4DC"/>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D9E4DC"/>
              </a:solidFill>
              <a:latin typeface="Source Sans 3"/>
              <a:ea typeface="Source Sans 3"/>
              <a:cs typeface="Source Sans 3"/>
              <a:sym typeface="Source Sans 3"/>
            </a:endParaRPr>
          </a:p>
          <a:p>
            <a:pPr indent="-168275" lvl="0" marL="161925" marR="0" rtl="0" algn="l">
              <a:lnSpc>
                <a:spcPct val="140000"/>
              </a:lnSpc>
              <a:spcBef>
                <a:spcPts val="0"/>
              </a:spcBef>
              <a:spcAft>
                <a:spcPts val="0"/>
              </a:spcAft>
              <a:buClr>
                <a:srgbClr val="D9E4DC"/>
              </a:buClr>
              <a:buSzPts val="1350"/>
              <a:buFont typeface="Source Sans 3"/>
              <a:buChar char="•"/>
            </a:pPr>
            <a:r>
              <a:rPr lang="en-US" sz="1350">
                <a:solidFill>
                  <a:srgbClr val="D9E4DC"/>
                </a:solidFill>
                <a:latin typeface="Source Sans 3"/>
                <a:ea typeface="Source Sans 3"/>
                <a:cs typeface="Source Sans 3"/>
                <a:sym typeface="Source Sans 3"/>
              </a:rPr>
              <a:t>Look for hidden factors: </a:t>
            </a:r>
            <a:r>
              <a:rPr b="1" lang="en-US" sz="1350">
                <a:solidFill>
                  <a:srgbClr val="D9E4DC"/>
                </a:solidFill>
                <a:latin typeface="Source Sans 3"/>
                <a:ea typeface="Source Sans 3"/>
                <a:cs typeface="Source Sans 3"/>
                <a:sym typeface="Source Sans 3"/>
              </a:rPr>
              <a:t>municipality size hid t</a:t>
            </a:r>
            <a:r>
              <a:rPr lang="en-US" sz="1350">
                <a:solidFill>
                  <a:srgbClr val="D9E4DC"/>
                </a:solidFill>
                <a:latin typeface="Source Sans 3"/>
                <a:ea typeface="Source Sans 3"/>
                <a:cs typeface="Source Sans 3"/>
                <a:sym typeface="Source Sans 3"/>
              </a:rPr>
              <a:t>he </a:t>
            </a:r>
            <a:r>
              <a:rPr b="1" lang="en-US" sz="1350">
                <a:solidFill>
                  <a:srgbClr val="D9E4DC"/>
                </a:solidFill>
                <a:latin typeface="Source Sans 3"/>
                <a:ea typeface="Source Sans 3"/>
                <a:cs typeface="Source Sans 3"/>
                <a:sym typeface="Source Sans 3"/>
              </a:rPr>
              <a:t>short-term rental effect</a:t>
            </a:r>
            <a:endParaRPr b="1" sz="1350">
              <a:solidFill>
                <a:srgbClr val="D9E4DC"/>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D9E4DC"/>
              </a:solidFill>
              <a:latin typeface="Source Sans 3"/>
              <a:ea typeface="Source Sans 3"/>
              <a:cs typeface="Source Sans 3"/>
              <a:sym typeface="Source Sans 3"/>
            </a:endParaRPr>
          </a:p>
          <a:p>
            <a:pPr indent="-168275" lvl="0" marL="161925" marR="0" rtl="0" algn="l">
              <a:lnSpc>
                <a:spcPct val="140000"/>
              </a:lnSpc>
              <a:spcBef>
                <a:spcPts val="0"/>
              </a:spcBef>
              <a:spcAft>
                <a:spcPts val="0"/>
              </a:spcAft>
              <a:buClr>
                <a:srgbClr val="D9E4DC"/>
              </a:buClr>
              <a:buSzPts val="1350"/>
              <a:buFont typeface="Source Sans 3"/>
              <a:buChar char="•"/>
            </a:pPr>
            <a:r>
              <a:rPr lang="en-US" sz="1350">
                <a:solidFill>
                  <a:schemeClr val="lt1"/>
                </a:solidFill>
                <a:latin typeface="Source Sans 3"/>
                <a:ea typeface="Source Sans 3"/>
                <a:cs typeface="Source Sans 3"/>
                <a:sym typeface="Source Sans 3"/>
              </a:rPr>
              <a:t>A</a:t>
            </a:r>
            <a:r>
              <a:rPr lang="en-US" sz="1350">
                <a:solidFill>
                  <a:srgbClr val="F1C232"/>
                </a:solidFill>
                <a:latin typeface="Source Sans 3"/>
                <a:ea typeface="Source Sans 3"/>
                <a:cs typeface="Source Sans 3"/>
                <a:sym typeface="Source Sans 3"/>
              </a:rPr>
              <a:t> </a:t>
            </a:r>
            <a:r>
              <a:rPr b="1" lang="en-US" sz="1350">
                <a:solidFill>
                  <a:srgbClr val="F1C232"/>
                </a:solidFill>
                <a:latin typeface="Source Sans 3"/>
                <a:ea typeface="Source Sans 3"/>
                <a:cs typeface="Source Sans 3"/>
                <a:sym typeface="Source Sans 3"/>
              </a:rPr>
              <a:t>good communication </a:t>
            </a:r>
            <a:r>
              <a:rPr lang="en-US" sz="1350">
                <a:solidFill>
                  <a:schemeClr val="lt1"/>
                </a:solidFill>
                <a:latin typeface="Source Sans 3"/>
                <a:ea typeface="Source Sans 3"/>
                <a:cs typeface="Source Sans 3"/>
                <a:sym typeface="Source Sans 3"/>
              </a:rPr>
              <a:t>in the team is </a:t>
            </a:r>
            <a:r>
              <a:rPr lang="en-US" sz="1350">
                <a:solidFill>
                  <a:schemeClr val="lt1"/>
                </a:solidFill>
                <a:latin typeface="Source Sans 3"/>
                <a:ea typeface="Source Sans 3"/>
                <a:cs typeface="Source Sans 3"/>
                <a:sym typeface="Source Sans 3"/>
              </a:rPr>
              <a:t>extremely</a:t>
            </a:r>
            <a:r>
              <a:rPr lang="en-US" sz="1350">
                <a:solidFill>
                  <a:schemeClr val="lt1"/>
                </a:solidFill>
                <a:latin typeface="Source Sans 3"/>
                <a:ea typeface="Source Sans 3"/>
                <a:cs typeface="Source Sans 3"/>
                <a:sym typeface="Source Sans 3"/>
              </a:rPr>
              <a:t> important!</a:t>
            </a:r>
            <a:endParaRPr b="0" i="0" sz="1350" u="none" cap="none" strike="noStrike">
              <a:solidFill>
                <a:schemeClr val="lt1"/>
              </a:solidFill>
              <a:latin typeface="Calibri"/>
              <a:ea typeface="Calibri"/>
              <a:cs typeface="Calibri"/>
              <a:sym typeface="Calibri"/>
            </a:endParaRPr>
          </a:p>
        </p:txBody>
      </p:sp>
      <p:sp>
        <p:nvSpPr>
          <p:cNvPr id="95" name="Google Shape;95;p6"/>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4</a:t>
            </a:r>
            <a:endParaRPr b="0" i="0" sz="1200" u="none" cap="none" strike="noStrike">
              <a:solidFill>
                <a:schemeClr val="dk1"/>
              </a:solidFill>
              <a:latin typeface="Calibri"/>
              <a:ea typeface="Calibri"/>
              <a:cs typeface="Calibri"/>
              <a:sym typeface="Calibri"/>
            </a:endParaRPr>
          </a:p>
        </p:txBody>
      </p:sp>
      <p:pic>
        <p:nvPicPr>
          <p:cNvPr descr="preencoded.png" id="96" name="Google Shape;96;p6"/>
          <p:cNvPicPr preferRelativeResize="0"/>
          <p:nvPr/>
        </p:nvPicPr>
        <p:blipFill rotWithShape="1">
          <a:blip r:embed="rId5">
            <a:alphaModFix/>
          </a:blip>
          <a:srcRect b="0" l="0" r="0" t="0"/>
          <a:stretch/>
        </p:blipFill>
        <p:spPr>
          <a:xfrm>
            <a:off x="6873274" y="2206849"/>
            <a:ext cx="269200" cy="269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EE"/>
        </a:solidFill>
      </p:bgPr>
    </p:bg>
    <p:spTree>
      <p:nvGrpSpPr>
        <p:cNvPr id="101" name="Shape 101"/>
        <p:cNvGrpSpPr/>
        <p:nvPr/>
      </p:nvGrpSpPr>
      <p:grpSpPr>
        <a:xfrm>
          <a:off x="0" y="0"/>
          <a:ext cx="0" cy="0"/>
          <a:chOff x="0" y="0"/>
          <a:chExt cx="0" cy="0"/>
        </a:xfrm>
      </p:grpSpPr>
      <p:sp>
        <p:nvSpPr>
          <p:cNvPr id="102" name="Google Shape;102;p7"/>
          <p:cNvSpPr/>
          <p:nvPr/>
        </p:nvSpPr>
        <p:spPr>
          <a:xfrm>
            <a:off x="0" y="0"/>
            <a:ext cx="12192000" cy="888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7"/>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E1B32"/>
              </a:buClr>
              <a:buSzPts val="1200"/>
              <a:buFont typeface="Source Sans 3"/>
              <a:buNone/>
            </a:pPr>
            <a:r>
              <a:rPr b="1" lang="en-US" sz="1200">
                <a:solidFill>
                  <a:srgbClr val="9E1B32"/>
                </a:solidFill>
                <a:latin typeface="Source Sans 3"/>
                <a:ea typeface="Source Sans 3"/>
                <a:cs typeface="Source Sans 3"/>
                <a:sym typeface="Source Sans 3"/>
              </a:rPr>
              <a:t>FINDINGS FOR H1</a:t>
            </a:r>
            <a:endParaRPr b="1" sz="1200">
              <a:solidFill>
                <a:srgbClr val="9E1B32"/>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9E1B32"/>
              </a:buClr>
              <a:buSzPts val="1200"/>
              <a:buFont typeface="Source Sans 3"/>
              <a:buNone/>
            </a:pPr>
            <a:r>
              <a:t/>
            </a:r>
            <a:endParaRPr b="1" sz="1200">
              <a:solidFill>
                <a:srgbClr val="9E1B32"/>
              </a:solidFill>
              <a:latin typeface="Source Sans 3"/>
              <a:ea typeface="Source Sans 3"/>
              <a:cs typeface="Source Sans 3"/>
              <a:sym typeface="Source Sans 3"/>
            </a:endParaRPr>
          </a:p>
        </p:txBody>
      </p:sp>
      <p:sp>
        <p:nvSpPr>
          <p:cNvPr id="104" name="Google Shape;104;p7"/>
          <p:cNvSpPr/>
          <p:nvPr/>
        </p:nvSpPr>
        <p:spPr>
          <a:xfrm>
            <a:off x="812800" y="11150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A24"/>
              </a:buClr>
              <a:buSzPts val="3200"/>
              <a:buFont typeface="Playfair Display"/>
              <a:buNone/>
            </a:pPr>
            <a:r>
              <a:rPr b="1" lang="en-US" sz="3200">
                <a:solidFill>
                  <a:srgbClr val="1D2A24"/>
                </a:solidFill>
                <a:latin typeface="Playfair Display"/>
                <a:ea typeface="Playfair Display"/>
                <a:cs typeface="Playfair Display"/>
                <a:sym typeface="Playfair Display"/>
              </a:rPr>
              <a:t>Rents up 109% since 2017, wages only 43%</a:t>
            </a:r>
            <a:endParaRPr b="1" sz="3200">
              <a:solidFill>
                <a:srgbClr val="1D2A24"/>
              </a:solidFill>
              <a:latin typeface="Playfair Display"/>
              <a:ea typeface="Playfair Display"/>
              <a:cs typeface="Playfair Display"/>
              <a:sym typeface="Playfair Display"/>
            </a:endParaRPr>
          </a:p>
          <a:p>
            <a:pPr indent="0" lvl="0" marL="0" marR="0" rtl="0" algn="l">
              <a:lnSpc>
                <a:spcPct val="110000"/>
              </a:lnSpc>
              <a:spcBef>
                <a:spcPts val="0"/>
              </a:spcBef>
              <a:spcAft>
                <a:spcPts val="0"/>
              </a:spcAft>
              <a:buClr>
                <a:srgbClr val="1D2A24"/>
              </a:buClr>
              <a:buSzPts val="3200"/>
              <a:buFont typeface="Playfair Display"/>
              <a:buNone/>
            </a:pPr>
            <a:r>
              <a:t/>
            </a:r>
            <a:endParaRPr b="1" sz="3200">
              <a:solidFill>
                <a:srgbClr val="1D2A24"/>
              </a:solidFill>
              <a:latin typeface="Playfair Display"/>
              <a:ea typeface="Playfair Display"/>
              <a:cs typeface="Playfair Display"/>
              <a:sym typeface="Playfair Display"/>
            </a:endParaRPr>
          </a:p>
        </p:txBody>
      </p:sp>
      <p:sp>
        <p:nvSpPr>
          <p:cNvPr id="105" name="Google Shape;105;p7"/>
          <p:cNvSpPr/>
          <p:nvPr/>
        </p:nvSpPr>
        <p:spPr>
          <a:xfrm>
            <a:off x="812800" y="62382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5</a:t>
            </a:r>
            <a:endParaRPr b="0" i="0" sz="1200" u="none" cap="none" strike="noStrike">
              <a:solidFill>
                <a:schemeClr val="dk1"/>
              </a:solidFill>
              <a:latin typeface="Calibri"/>
              <a:ea typeface="Calibri"/>
              <a:cs typeface="Calibri"/>
              <a:sym typeface="Calibri"/>
            </a:endParaRPr>
          </a:p>
        </p:txBody>
      </p:sp>
      <p:cxnSp>
        <p:nvCxnSpPr>
          <p:cNvPr id="106" name="Google Shape;106;p7"/>
          <p:cNvCxnSpPr/>
          <p:nvPr/>
        </p:nvCxnSpPr>
        <p:spPr>
          <a:xfrm>
            <a:off x="1510503" y="5303067"/>
            <a:ext cx="3570600" cy="0"/>
          </a:xfrm>
          <a:prstGeom prst="straightConnector1">
            <a:avLst/>
          </a:prstGeom>
          <a:noFill/>
          <a:ln cap="flat" cmpd="sng" w="8850">
            <a:solidFill>
              <a:srgbClr val="E2D8C3"/>
            </a:solidFill>
            <a:prstDash val="solid"/>
            <a:round/>
            <a:headEnd len="sm" w="sm" type="none"/>
            <a:tailEnd len="sm" w="sm" type="none"/>
          </a:ln>
        </p:spPr>
      </p:cxnSp>
      <p:sp>
        <p:nvSpPr>
          <p:cNvPr id="107" name="Google Shape;107;p7"/>
          <p:cNvSpPr txBox="1"/>
          <p:nvPr/>
        </p:nvSpPr>
        <p:spPr>
          <a:xfrm>
            <a:off x="1085425" y="5201049"/>
            <a:ext cx="3570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F7470"/>
              </a:buClr>
              <a:buSzPts val="930"/>
              <a:buFont typeface="Source Sans 3"/>
              <a:buNone/>
            </a:pPr>
            <a:r>
              <a:rPr b="0" i="0" lang="en-US" sz="930" u="none" cap="none" strike="noStrike">
                <a:solidFill>
                  <a:srgbClr val="1D2A24"/>
                </a:solidFill>
                <a:latin typeface="Source Sans 3"/>
                <a:ea typeface="Source Sans 3"/>
                <a:cs typeface="Source Sans 3"/>
                <a:sym typeface="Source Sans 3"/>
              </a:rPr>
              <a:t>100</a:t>
            </a:r>
            <a:endParaRPr b="0" i="0" sz="930" u="none" cap="none" strike="noStrike">
              <a:solidFill>
                <a:srgbClr val="1D2A24"/>
              </a:solidFill>
              <a:latin typeface="Calibri"/>
              <a:ea typeface="Calibri"/>
              <a:cs typeface="Calibri"/>
              <a:sym typeface="Calibri"/>
            </a:endParaRPr>
          </a:p>
        </p:txBody>
      </p:sp>
      <p:cxnSp>
        <p:nvCxnSpPr>
          <p:cNvPr id="108" name="Google Shape;108;p7"/>
          <p:cNvCxnSpPr/>
          <p:nvPr/>
        </p:nvCxnSpPr>
        <p:spPr>
          <a:xfrm>
            <a:off x="1510503" y="4828398"/>
            <a:ext cx="3570600" cy="0"/>
          </a:xfrm>
          <a:prstGeom prst="straightConnector1">
            <a:avLst/>
          </a:prstGeom>
          <a:noFill/>
          <a:ln cap="flat" cmpd="sng" w="8850">
            <a:solidFill>
              <a:srgbClr val="E2D8C3"/>
            </a:solidFill>
            <a:prstDash val="solid"/>
            <a:round/>
            <a:headEnd len="sm" w="sm" type="none"/>
            <a:tailEnd len="sm" w="sm" type="none"/>
          </a:ln>
        </p:spPr>
      </p:cxnSp>
      <p:sp>
        <p:nvSpPr>
          <p:cNvPr id="109" name="Google Shape;109;p7"/>
          <p:cNvSpPr txBox="1"/>
          <p:nvPr/>
        </p:nvSpPr>
        <p:spPr>
          <a:xfrm>
            <a:off x="1085425" y="4726379"/>
            <a:ext cx="3570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F7470"/>
              </a:buClr>
              <a:buSzPts val="930"/>
              <a:buFont typeface="Source Sans 3"/>
              <a:buNone/>
            </a:pPr>
            <a:r>
              <a:rPr b="0" i="0" lang="en-US" sz="930" u="none" cap="none" strike="noStrike">
                <a:solidFill>
                  <a:srgbClr val="1D2A24"/>
                </a:solidFill>
                <a:latin typeface="Source Sans 3"/>
                <a:ea typeface="Source Sans 3"/>
                <a:cs typeface="Source Sans 3"/>
                <a:sym typeface="Source Sans 3"/>
              </a:rPr>
              <a:t>120</a:t>
            </a:r>
            <a:endParaRPr b="0" i="0" sz="930" u="none" cap="none" strike="noStrike">
              <a:solidFill>
                <a:srgbClr val="1D2A24"/>
              </a:solidFill>
              <a:latin typeface="Calibri"/>
              <a:ea typeface="Calibri"/>
              <a:cs typeface="Calibri"/>
              <a:sym typeface="Calibri"/>
            </a:endParaRPr>
          </a:p>
        </p:txBody>
      </p:sp>
      <p:cxnSp>
        <p:nvCxnSpPr>
          <p:cNvPr id="110" name="Google Shape;110;p7"/>
          <p:cNvCxnSpPr/>
          <p:nvPr/>
        </p:nvCxnSpPr>
        <p:spPr>
          <a:xfrm>
            <a:off x="1510503" y="4353728"/>
            <a:ext cx="3570600" cy="0"/>
          </a:xfrm>
          <a:prstGeom prst="straightConnector1">
            <a:avLst/>
          </a:prstGeom>
          <a:noFill/>
          <a:ln cap="flat" cmpd="sng" w="8850">
            <a:solidFill>
              <a:srgbClr val="E2D8C3"/>
            </a:solidFill>
            <a:prstDash val="solid"/>
            <a:round/>
            <a:headEnd len="sm" w="sm" type="none"/>
            <a:tailEnd len="sm" w="sm" type="none"/>
          </a:ln>
        </p:spPr>
      </p:cxnSp>
      <p:sp>
        <p:nvSpPr>
          <p:cNvPr id="111" name="Google Shape;111;p7"/>
          <p:cNvSpPr txBox="1"/>
          <p:nvPr/>
        </p:nvSpPr>
        <p:spPr>
          <a:xfrm>
            <a:off x="1085425" y="4251710"/>
            <a:ext cx="3570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F7470"/>
              </a:buClr>
              <a:buSzPts val="930"/>
              <a:buFont typeface="Source Sans 3"/>
              <a:buNone/>
            </a:pPr>
            <a:r>
              <a:rPr b="0" i="0" lang="en-US" sz="930" u="none" cap="none" strike="noStrike">
                <a:solidFill>
                  <a:srgbClr val="1D2A24"/>
                </a:solidFill>
                <a:latin typeface="Source Sans 3"/>
                <a:ea typeface="Source Sans 3"/>
                <a:cs typeface="Source Sans 3"/>
                <a:sym typeface="Source Sans 3"/>
              </a:rPr>
              <a:t>140</a:t>
            </a:r>
            <a:endParaRPr b="0" i="0" sz="930" u="none" cap="none" strike="noStrike">
              <a:solidFill>
                <a:srgbClr val="1D2A24"/>
              </a:solidFill>
              <a:latin typeface="Calibri"/>
              <a:ea typeface="Calibri"/>
              <a:cs typeface="Calibri"/>
              <a:sym typeface="Calibri"/>
            </a:endParaRPr>
          </a:p>
        </p:txBody>
      </p:sp>
      <p:cxnSp>
        <p:nvCxnSpPr>
          <p:cNvPr id="112" name="Google Shape;112;p7"/>
          <p:cNvCxnSpPr/>
          <p:nvPr/>
        </p:nvCxnSpPr>
        <p:spPr>
          <a:xfrm>
            <a:off x="1510503" y="3879058"/>
            <a:ext cx="3570600" cy="0"/>
          </a:xfrm>
          <a:prstGeom prst="straightConnector1">
            <a:avLst/>
          </a:prstGeom>
          <a:noFill/>
          <a:ln cap="flat" cmpd="sng" w="8850">
            <a:solidFill>
              <a:srgbClr val="E2D8C3"/>
            </a:solidFill>
            <a:prstDash val="solid"/>
            <a:round/>
            <a:headEnd len="sm" w="sm" type="none"/>
            <a:tailEnd len="sm" w="sm" type="none"/>
          </a:ln>
        </p:spPr>
      </p:cxnSp>
      <p:sp>
        <p:nvSpPr>
          <p:cNvPr id="113" name="Google Shape;113;p7"/>
          <p:cNvSpPr txBox="1"/>
          <p:nvPr/>
        </p:nvSpPr>
        <p:spPr>
          <a:xfrm>
            <a:off x="1085425" y="3777040"/>
            <a:ext cx="3570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F7470"/>
              </a:buClr>
              <a:buSzPts val="930"/>
              <a:buFont typeface="Source Sans 3"/>
              <a:buNone/>
            </a:pPr>
            <a:r>
              <a:rPr b="0" i="0" lang="en-US" sz="930" u="none" cap="none" strike="noStrike">
                <a:solidFill>
                  <a:srgbClr val="1D2A24"/>
                </a:solidFill>
                <a:latin typeface="Source Sans 3"/>
                <a:ea typeface="Source Sans 3"/>
                <a:cs typeface="Source Sans 3"/>
                <a:sym typeface="Source Sans 3"/>
              </a:rPr>
              <a:t>160</a:t>
            </a:r>
            <a:endParaRPr b="0" i="0" sz="930" u="none" cap="none" strike="noStrike">
              <a:solidFill>
                <a:srgbClr val="1D2A24"/>
              </a:solidFill>
              <a:latin typeface="Calibri"/>
              <a:ea typeface="Calibri"/>
              <a:cs typeface="Calibri"/>
              <a:sym typeface="Calibri"/>
            </a:endParaRPr>
          </a:p>
        </p:txBody>
      </p:sp>
      <p:cxnSp>
        <p:nvCxnSpPr>
          <p:cNvPr id="114" name="Google Shape;114;p7"/>
          <p:cNvCxnSpPr/>
          <p:nvPr/>
        </p:nvCxnSpPr>
        <p:spPr>
          <a:xfrm>
            <a:off x="1510503" y="3404389"/>
            <a:ext cx="3570600" cy="0"/>
          </a:xfrm>
          <a:prstGeom prst="straightConnector1">
            <a:avLst/>
          </a:prstGeom>
          <a:noFill/>
          <a:ln cap="flat" cmpd="sng" w="8850">
            <a:solidFill>
              <a:srgbClr val="E2D8C3"/>
            </a:solidFill>
            <a:prstDash val="solid"/>
            <a:round/>
            <a:headEnd len="sm" w="sm" type="none"/>
            <a:tailEnd len="sm" w="sm" type="none"/>
          </a:ln>
        </p:spPr>
      </p:cxnSp>
      <p:sp>
        <p:nvSpPr>
          <p:cNvPr id="115" name="Google Shape;115;p7"/>
          <p:cNvSpPr txBox="1"/>
          <p:nvPr/>
        </p:nvSpPr>
        <p:spPr>
          <a:xfrm>
            <a:off x="1085425" y="3302370"/>
            <a:ext cx="3570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F7470"/>
              </a:buClr>
              <a:buSzPts val="930"/>
              <a:buFont typeface="Source Sans 3"/>
              <a:buNone/>
            </a:pPr>
            <a:r>
              <a:rPr b="0" i="0" lang="en-US" sz="930" u="none" cap="none" strike="noStrike">
                <a:solidFill>
                  <a:srgbClr val="1D2A24"/>
                </a:solidFill>
                <a:latin typeface="Source Sans 3"/>
                <a:ea typeface="Source Sans 3"/>
                <a:cs typeface="Source Sans 3"/>
                <a:sym typeface="Source Sans 3"/>
              </a:rPr>
              <a:t>180</a:t>
            </a:r>
            <a:endParaRPr b="0" i="0" sz="930" u="none" cap="none" strike="noStrike">
              <a:solidFill>
                <a:srgbClr val="1D2A24"/>
              </a:solidFill>
              <a:latin typeface="Calibri"/>
              <a:ea typeface="Calibri"/>
              <a:cs typeface="Calibri"/>
              <a:sym typeface="Calibri"/>
            </a:endParaRPr>
          </a:p>
        </p:txBody>
      </p:sp>
      <p:cxnSp>
        <p:nvCxnSpPr>
          <p:cNvPr id="116" name="Google Shape;116;p7"/>
          <p:cNvCxnSpPr/>
          <p:nvPr/>
        </p:nvCxnSpPr>
        <p:spPr>
          <a:xfrm>
            <a:off x="1510503" y="2929719"/>
            <a:ext cx="3570600" cy="0"/>
          </a:xfrm>
          <a:prstGeom prst="straightConnector1">
            <a:avLst/>
          </a:prstGeom>
          <a:noFill/>
          <a:ln cap="flat" cmpd="sng" w="8850">
            <a:solidFill>
              <a:srgbClr val="E2D8C3"/>
            </a:solidFill>
            <a:prstDash val="solid"/>
            <a:round/>
            <a:headEnd len="sm" w="sm" type="none"/>
            <a:tailEnd len="sm" w="sm" type="none"/>
          </a:ln>
        </p:spPr>
      </p:cxnSp>
      <p:sp>
        <p:nvSpPr>
          <p:cNvPr id="117" name="Google Shape;117;p7"/>
          <p:cNvSpPr txBox="1"/>
          <p:nvPr/>
        </p:nvSpPr>
        <p:spPr>
          <a:xfrm>
            <a:off x="1085425" y="2827701"/>
            <a:ext cx="3570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F7470"/>
              </a:buClr>
              <a:buSzPts val="930"/>
              <a:buFont typeface="Source Sans 3"/>
              <a:buNone/>
            </a:pPr>
            <a:r>
              <a:rPr b="0" i="0" lang="en-US" sz="930" u="none" cap="none" strike="noStrike">
                <a:solidFill>
                  <a:srgbClr val="1D2A24"/>
                </a:solidFill>
                <a:latin typeface="Source Sans 3"/>
                <a:ea typeface="Source Sans 3"/>
                <a:cs typeface="Source Sans 3"/>
                <a:sym typeface="Source Sans 3"/>
              </a:rPr>
              <a:t>200</a:t>
            </a:r>
            <a:endParaRPr b="0" i="0" sz="930" u="none" cap="none" strike="noStrike">
              <a:solidFill>
                <a:srgbClr val="1D2A24"/>
              </a:solidFill>
              <a:latin typeface="Calibri"/>
              <a:ea typeface="Calibri"/>
              <a:cs typeface="Calibri"/>
              <a:sym typeface="Calibri"/>
            </a:endParaRPr>
          </a:p>
        </p:txBody>
      </p:sp>
      <p:cxnSp>
        <p:nvCxnSpPr>
          <p:cNvPr id="118" name="Google Shape;118;p7"/>
          <p:cNvCxnSpPr/>
          <p:nvPr/>
        </p:nvCxnSpPr>
        <p:spPr>
          <a:xfrm>
            <a:off x="1510503" y="2455050"/>
            <a:ext cx="3570600" cy="0"/>
          </a:xfrm>
          <a:prstGeom prst="straightConnector1">
            <a:avLst/>
          </a:prstGeom>
          <a:noFill/>
          <a:ln cap="flat" cmpd="sng" w="8850">
            <a:solidFill>
              <a:srgbClr val="E2D8C3"/>
            </a:solidFill>
            <a:prstDash val="solid"/>
            <a:round/>
            <a:headEnd len="sm" w="sm" type="none"/>
            <a:tailEnd len="sm" w="sm" type="none"/>
          </a:ln>
        </p:spPr>
      </p:cxnSp>
      <p:sp>
        <p:nvSpPr>
          <p:cNvPr id="119" name="Google Shape;119;p7"/>
          <p:cNvSpPr txBox="1"/>
          <p:nvPr/>
        </p:nvSpPr>
        <p:spPr>
          <a:xfrm>
            <a:off x="1085425" y="2353031"/>
            <a:ext cx="3570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F7470"/>
              </a:buClr>
              <a:buSzPts val="930"/>
              <a:buFont typeface="Source Sans 3"/>
              <a:buNone/>
            </a:pPr>
            <a:r>
              <a:rPr b="0" i="0" lang="en-US" sz="930" u="none" cap="none" strike="noStrike">
                <a:solidFill>
                  <a:srgbClr val="1D2A24"/>
                </a:solidFill>
                <a:latin typeface="Source Sans 3"/>
                <a:ea typeface="Source Sans 3"/>
                <a:cs typeface="Source Sans 3"/>
                <a:sym typeface="Source Sans 3"/>
              </a:rPr>
              <a:t>220</a:t>
            </a:r>
            <a:endParaRPr b="0" i="0" sz="930" u="none" cap="none" strike="noStrike">
              <a:solidFill>
                <a:srgbClr val="1D2A24"/>
              </a:solidFill>
              <a:latin typeface="Calibri"/>
              <a:ea typeface="Calibri"/>
              <a:cs typeface="Calibri"/>
              <a:sym typeface="Calibri"/>
            </a:endParaRPr>
          </a:p>
        </p:txBody>
      </p:sp>
      <p:sp>
        <p:nvSpPr>
          <p:cNvPr id="120" name="Google Shape;120;p7"/>
          <p:cNvSpPr txBox="1"/>
          <p:nvPr/>
        </p:nvSpPr>
        <p:spPr>
          <a:xfrm>
            <a:off x="1212948"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2017</a:t>
            </a:r>
            <a:endParaRPr b="0" i="0" sz="976" u="none" cap="none" strike="noStrike">
              <a:solidFill>
                <a:schemeClr val="dk1"/>
              </a:solidFill>
              <a:latin typeface="Calibri"/>
              <a:ea typeface="Calibri"/>
              <a:cs typeface="Calibri"/>
              <a:sym typeface="Calibri"/>
            </a:endParaRPr>
          </a:p>
        </p:txBody>
      </p:sp>
      <p:sp>
        <p:nvSpPr>
          <p:cNvPr id="121" name="Google Shape;121;p7"/>
          <p:cNvSpPr txBox="1"/>
          <p:nvPr/>
        </p:nvSpPr>
        <p:spPr>
          <a:xfrm>
            <a:off x="1609687"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18</a:t>
            </a:r>
            <a:endParaRPr b="0" i="0" sz="976" u="none" cap="none" strike="noStrike">
              <a:solidFill>
                <a:schemeClr val="dk1"/>
              </a:solidFill>
              <a:latin typeface="Calibri"/>
              <a:ea typeface="Calibri"/>
              <a:cs typeface="Calibri"/>
              <a:sym typeface="Calibri"/>
            </a:endParaRPr>
          </a:p>
        </p:txBody>
      </p:sp>
      <p:sp>
        <p:nvSpPr>
          <p:cNvPr id="122" name="Google Shape;122;p7"/>
          <p:cNvSpPr txBox="1"/>
          <p:nvPr/>
        </p:nvSpPr>
        <p:spPr>
          <a:xfrm>
            <a:off x="2006426"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19</a:t>
            </a:r>
            <a:endParaRPr b="0" i="0" sz="976" u="none" cap="none" strike="noStrike">
              <a:solidFill>
                <a:schemeClr val="dk1"/>
              </a:solidFill>
              <a:latin typeface="Calibri"/>
              <a:ea typeface="Calibri"/>
              <a:cs typeface="Calibri"/>
              <a:sym typeface="Calibri"/>
            </a:endParaRPr>
          </a:p>
        </p:txBody>
      </p:sp>
      <p:sp>
        <p:nvSpPr>
          <p:cNvPr id="123" name="Google Shape;123;p7"/>
          <p:cNvSpPr txBox="1"/>
          <p:nvPr/>
        </p:nvSpPr>
        <p:spPr>
          <a:xfrm>
            <a:off x="2403165"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20</a:t>
            </a:r>
            <a:endParaRPr b="0" i="0" sz="976" u="none" cap="none" strike="noStrike">
              <a:solidFill>
                <a:schemeClr val="dk1"/>
              </a:solidFill>
              <a:latin typeface="Calibri"/>
              <a:ea typeface="Calibri"/>
              <a:cs typeface="Calibri"/>
              <a:sym typeface="Calibri"/>
            </a:endParaRPr>
          </a:p>
        </p:txBody>
      </p:sp>
      <p:sp>
        <p:nvSpPr>
          <p:cNvPr id="124" name="Google Shape;124;p7"/>
          <p:cNvSpPr txBox="1"/>
          <p:nvPr/>
        </p:nvSpPr>
        <p:spPr>
          <a:xfrm>
            <a:off x="2799904"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21</a:t>
            </a:r>
            <a:endParaRPr b="0" i="0" sz="976" u="none" cap="none" strike="noStrike">
              <a:solidFill>
                <a:schemeClr val="dk1"/>
              </a:solidFill>
              <a:latin typeface="Calibri"/>
              <a:ea typeface="Calibri"/>
              <a:cs typeface="Calibri"/>
              <a:sym typeface="Calibri"/>
            </a:endParaRPr>
          </a:p>
        </p:txBody>
      </p:sp>
      <p:sp>
        <p:nvSpPr>
          <p:cNvPr id="125" name="Google Shape;125;p7"/>
          <p:cNvSpPr txBox="1"/>
          <p:nvPr/>
        </p:nvSpPr>
        <p:spPr>
          <a:xfrm>
            <a:off x="3196643"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22</a:t>
            </a:r>
            <a:endParaRPr b="0" i="0" sz="976" u="none" cap="none" strike="noStrike">
              <a:solidFill>
                <a:schemeClr val="dk1"/>
              </a:solidFill>
              <a:latin typeface="Calibri"/>
              <a:ea typeface="Calibri"/>
              <a:cs typeface="Calibri"/>
              <a:sym typeface="Calibri"/>
            </a:endParaRPr>
          </a:p>
        </p:txBody>
      </p:sp>
      <p:sp>
        <p:nvSpPr>
          <p:cNvPr id="126" name="Google Shape;126;p7"/>
          <p:cNvSpPr txBox="1"/>
          <p:nvPr/>
        </p:nvSpPr>
        <p:spPr>
          <a:xfrm>
            <a:off x="3593381"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23</a:t>
            </a:r>
            <a:endParaRPr b="0" i="0" sz="976" u="none" cap="none" strike="noStrike">
              <a:solidFill>
                <a:schemeClr val="dk1"/>
              </a:solidFill>
              <a:latin typeface="Calibri"/>
              <a:ea typeface="Calibri"/>
              <a:cs typeface="Calibri"/>
              <a:sym typeface="Calibri"/>
            </a:endParaRPr>
          </a:p>
        </p:txBody>
      </p:sp>
      <p:sp>
        <p:nvSpPr>
          <p:cNvPr id="127" name="Google Shape;127;p7"/>
          <p:cNvSpPr txBox="1"/>
          <p:nvPr/>
        </p:nvSpPr>
        <p:spPr>
          <a:xfrm>
            <a:off x="3990120"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24</a:t>
            </a:r>
            <a:endParaRPr b="0" i="0" sz="976" u="none" cap="none" strike="noStrike">
              <a:solidFill>
                <a:schemeClr val="dk1"/>
              </a:solidFill>
              <a:latin typeface="Calibri"/>
              <a:ea typeface="Calibri"/>
              <a:cs typeface="Calibri"/>
              <a:sym typeface="Calibri"/>
            </a:endParaRPr>
          </a:p>
        </p:txBody>
      </p:sp>
      <p:sp>
        <p:nvSpPr>
          <p:cNvPr id="128" name="Google Shape;128;p7"/>
          <p:cNvSpPr txBox="1"/>
          <p:nvPr/>
        </p:nvSpPr>
        <p:spPr>
          <a:xfrm>
            <a:off x="4386859"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25</a:t>
            </a:r>
            <a:endParaRPr b="0" i="0" sz="976" u="none" cap="none" strike="noStrike">
              <a:solidFill>
                <a:schemeClr val="dk1"/>
              </a:solidFill>
              <a:latin typeface="Calibri"/>
              <a:ea typeface="Calibri"/>
              <a:cs typeface="Calibri"/>
              <a:sym typeface="Calibri"/>
            </a:endParaRPr>
          </a:p>
        </p:txBody>
      </p:sp>
      <p:sp>
        <p:nvSpPr>
          <p:cNvPr id="129" name="Google Shape;129;p7"/>
          <p:cNvSpPr txBox="1"/>
          <p:nvPr/>
        </p:nvSpPr>
        <p:spPr>
          <a:xfrm>
            <a:off x="4783598" y="5371080"/>
            <a:ext cx="595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Jun 26</a:t>
            </a:r>
            <a:endParaRPr b="0" i="0" sz="976" u="none" cap="none" strike="noStrike">
              <a:solidFill>
                <a:schemeClr val="dk1"/>
              </a:solidFill>
              <a:latin typeface="Calibri"/>
              <a:ea typeface="Calibri"/>
              <a:cs typeface="Calibri"/>
              <a:sym typeface="Calibri"/>
            </a:endParaRPr>
          </a:p>
        </p:txBody>
      </p:sp>
      <p:cxnSp>
        <p:nvCxnSpPr>
          <p:cNvPr id="130" name="Google Shape;130;p7"/>
          <p:cNvCxnSpPr/>
          <p:nvPr/>
        </p:nvCxnSpPr>
        <p:spPr>
          <a:xfrm flipH="1" rot="10800000">
            <a:off x="1510503" y="5082567"/>
            <a:ext cx="396300" cy="220500"/>
          </a:xfrm>
          <a:prstGeom prst="straightConnector1">
            <a:avLst/>
          </a:prstGeom>
          <a:noFill/>
          <a:ln cap="flat" cmpd="sng" w="35425">
            <a:solidFill>
              <a:srgbClr val="9E1B32"/>
            </a:solidFill>
            <a:prstDash val="solid"/>
            <a:round/>
            <a:headEnd len="sm" w="sm" type="none"/>
            <a:tailEnd len="sm" w="sm" type="none"/>
          </a:ln>
        </p:spPr>
      </p:cxnSp>
      <p:cxnSp>
        <p:nvCxnSpPr>
          <p:cNvPr id="131" name="Google Shape;131;p7"/>
          <p:cNvCxnSpPr/>
          <p:nvPr/>
        </p:nvCxnSpPr>
        <p:spPr>
          <a:xfrm flipH="1" rot="10800000">
            <a:off x="1907241" y="4800046"/>
            <a:ext cx="396300" cy="282300"/>
          </a:xfrm>
          <a:prstGeom prst="straightConnector1">
            <a:avLst/>
          </a:prstGeom>
          <a:noFill/>
          <a:ln cap="flat" cmpd="sng" w="35425">
            <a:solidFill>
              <a:srgbClr val="9E1B32"/>
            </a:solidFill>
            <a:prstDash val="solid"/>
            <a:round/>
            <a:headEnd len="sm" w="sm" type="none"/>
            <a:tailEnd len="sm" w="sm" type="none"/>
          </a:ln>
        </p:spPr>
      </p:cxnSp>
      <p:cxnSp>
        <p:nvCxnSpPr>
          <p:cNvPr id="132" name="Google Shape;132;p7"/>
          <p:cNvCxnSpPr/>
          <p:nvPr/>
        </p:nvCxnSpPr>
        <p:spPr>
          <a:xfrm flipH="1" rot="10800000">
            <a:off x="2303980" y="4643317"/>
            <a:ext cx="396300" cy="156600"/>
          </a:xfrm>
          <a:prstGeom prst="straightConnector1">
            <a:avLst/>
          </a:prstGeom>
          <a:noFill/>
          <a:ln cap="flat" cmpd="sng" w="35425">
            <a:solidFill>
              <a:srgbClr val="9E1B32"/>
            </a:solidFill>
            <a:prstDash val="solid"/>
            <a:round/>
            <a:headEnd len="sm" w="sm" type="none"/>
            <a:tailEnd len="sm" w="sm" type="none"/>
          </a:ln>
        </p:spPr>
      </p:cxnSp>
      <p:cxnSp>
        <p:nvCxnSpPr>
          <p:cNvPr id="133" name="Google Shape;133;p7"/>
          <p:cNvCxnSpPr/>
          <p:nvPr/>
        </p:nvCxnSpPr>
        <p:spPr>
          <a:xfrm flipH="1" rot="10800000">
            <a:off x="2700719" y="4410777"/>
            <a:ext cx="396300" cy="232500"/>
          </a:xfrm>
          <a:prstGeom prst="straightConnector1">
            <a:avLst/>
          </a:prstGeom>
          <a:noFill/>
          <a:ln cap="flat" cmpd="sng" w="35425">
            <a:solidFill>
              <a:srgbClr val="9E1B32"/>
            </a:solidFill>
            <a:prstDash val="solid"/>
            <a:round/>
            <a:headEnd len="sm" w="sm" type="none"/>
            <a:tailEnd len="sm" w="sm" type="none"/>
          </a:ln>
        </p:spPr>
      </p:cxnSp>
      <p:cxnSp>
        <p:nvCxnSpPr>
          <p:cNvPr id="134" name="Google Shape;134;p7"/>
          <p:cNvCxnSpPr/>
          <p:nvPr/>
        </p:nvCxnSpPr>
        <p:spPr>
          <a:xfrm flipH="1" rot="10800000">
            <a:off x="3097458" y="4152389"/>
            <a:ext cx="396300" cy="258300"/>
          </a:xfrm>
          <a:prstGeom prst="straightConnector1">
            <a:avLst/>
          </a:prstGeom>
          <a:noFill/>
          <a:ln cap="flat" cmpd="sng" w="35425">
            <a:solidFill>
              <a:srgbClr val="9E1B32"/>
            </a:solidFill>
            <a:prstDash val="solid"/>
            <a:round/>
            <a:headEnd len="sm" w="sm" type="none"/>
            <a:tailEnd len="sm" w="sm" type="none"/>
          </a:ln>
        </p:spPr>
      </p:cxnSp>
      <p:cxnSp>
        <p:nvCxnSpPr>
          <p:cNvPr id="135" name="Google Shape;135;p7"/>
          <p:cNvCxnSpPr/>
          <p:nvPr/>
        </p:nvCxnSpPr>
        <p:spPr>
          <a:xfrm flipH="1" rot="10800000">
            <a:off x="3494197" y="3779694"/>
            <a:ext cx="396300" cy="372300"/>
          </a:xfrm>
          <a:prstGeom prst="straightConnector1">
            <a:avLst/>
          </a:prstGeom>
          <a:noFill/>
          <a:ln cap="flat" cmpd="sng" w="35425">
            <a:solidFill>
              <a:srgbClr val="9E1B32"/>
            </a:solidFill>
            <a:prstDash val="solid"/>
            <a:round/>
            <a:headEnd len="sm" w="sm" type="none"/>
            <a:tailEnd len="sm" w="sm" type="none"/>
          </a:ln>
        </p:spPr>
      </p:cxnSp>
      <p:cxnSp>
        <p:nvCxnSpPr>
          <p:cNvPr id="136" name="Google Shape;136;p7"/>
          <p:cNvCxnSpPr/>
          <p:nvPr/>
        </p:nvCxnSpPr>
        <p:spPr>
          <a:xfrm flipH="1" rot="10800000">
            <a:off x="3890936" y="3368978"/>
            <a:ext cx="396300" cy="410400"/>
          </a:xfrm>
          <a:prstGeom prst="straightConnector1">
            <a:avLst/>
          </a:prstGeom>
          <a:noFill/>
          <a:ln cap="flat" cmpd="sng" w="35425">
            <a:solidFill>
              <a:srgbClr val="9E1B32"/>
            </a:solidFill>
            <a:prstDash val="solid"/>
            <a:round/>
            <a:headEnd len="sm" w="sm" type="none"/>
            <a:tailEnd len="sm" w="sm" type="none"/>
          </a:ln>
        </p:spPr>
      </p:cxnSp>
      <p:cxnSp>
        <p:nvCxnSpPr>
          <p:cNvPr id="137" name="Google Shape;137;p7"/>
          <p:cNvCxnSpPr/>
          <p:nvPr/>
        </p:nvCxnSpPr>
        <p:spPr>
          <a:xfrm flipH="1" rot="10800000">
            <a:off x="4287674" y="2950588"/>
            <a:ext cx="396300" cy="418200"/>
          </a:xfrm>
          <a:prstGeom prst="straightConnector1">
            <a:avLst/>
          </a:prstGeom>
          <a:noFill/>
          <a:ln cap="flat" cmpd="sng" w="35425">
            <a:solidFill>
              <a:srgbClr val="9E1B32"/>
            </a:solidFill>
            <a:prstDash val="solid"/>
            <a:round/>
            <a:headEnd len="sm" w="sm" type="none"/>
            <a:tailEnd len="sm" w="sm" type="none"/>
          </a:ln>
        </p:spPr>
      </p:cxnSp>
      <p:cxnSp>
        <p:nvCxnSpPr>
          <p:cNvPr id="138" name="Google Shape;138;p7"/>
          <p:cNvCxnSpPr/>
          <p:nvPr/>
        </p:nvCxnSpPr>
        <p:spPr>
          <a:xfrm flipH="1" rot="10800000">
            <a:off x="4684413" y="2711380"/>
            <a:ext cx="396300" cy="239700"/>
          </a:xfrm>
          <a:prstGeom prst="straightConnector1">
            <a:avLst/>
          </a:prstGeom>
          <a:noFill/>
          <a:ln cap="flat" cmpd="sng" w="35425">
            <a:solidFill>
              <a:srgbClr val="9E1B32"/>
            </a:solidFill>
            <a:prstDash val="solid"/>
            <a:round/>
            <a:headEnd len="sm" w="sm" type="none"/>
            <a:tailEnd len="sm" w="sm" type="none"/>
          </a:ln>
        </p:spPr>
      </p:cxnSp>
      <p:sp>
        <p:nvSpPr>
          <p:cNvPr id="139" name="Google Shape;139;p7"/>
          <p:cNvSpPr/>
          <p:nvPr/>
        </p:nvSpPr>
        <p:spPr>
          <a:xfrm>
            <a:off x="1467995" y="5260560"/>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0" name="Google Shape;140;p7"/>
          <p:cNvSpPr/>
          <p:nvPr/>
        </p:nvSpPr>
        <p:spPr>
          <a:xfrm>
            <a:off x="1864734" y="5039838"/>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1" name="Google Shape;141;p7"/>
          <p:cNvSpPr/>
          <p:nvPr/>
        </p:nvSpPr>
        <p:spPr>
          <a:xfrm>
            <a:off x="2261473" y="4757410"/>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2" name="Google Shape;142;p7"/>
          <p:cNvSpPr/>
          <p:nvPr/>
        </p:nvSpPr>
        <p:spPr>
          <a:xfrm>
            <a:off x="2658211" y="4600768"/>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3" name="Google Shape;143;p7"/>
          <p:cNvSpPr/>
          <p:nvPr/>
        </p:nvSpPr>
        <p:spPr>
          <a:xfrm>
            <a:off x="3054950" y="4368181"/>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4" name="Google Shape;144;p7"/>
          <p:cNvSpPr/>
          <p:nvPr/>
        </p:nvSpPr>
        <p:spPr>
          <a:xfrm>
            <a:off x="3451689" y="4109486"/>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5" name="Google Shape;145;p7"/>
          <p:cNvSpPr/>
          <p:nvPr/>
        </p:nvSpPr>
        <p:spPr>
          <a:xfrm>
            <a:off x="3848428" y="3736870"/>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6" name="Google Shape;146;p7"/>
          <p:cNvSpPr/>
          <p:nvPr/>
        </p:nvSpPr>
        <p:spPr>
          <a:xfrm>
            <a:off x="4245167" y="3326281"/>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7" name="Google Shape;147;p7"/>
          <p:cNvSpPr/>
          <p:nvPr/>
        </p:nvSpPr>
        <p:spPr>
          <a:xfrm>
            <a:off x="4641906" y="2908571"/>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8" name="Google Shape;148;p7"/>
          <p:cNvSpPr/>
          <p:nvPr/>
        </p:nvSpPr>
        <p:spPr>
          <a:xfrm>
            <a:off x="5038644" y="2668864"/>
            <a:ext cx="85200" cy="85200"/>
          </a:xfrm>
          <a:prstGeom prst="ellipse">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49" name="Google Shape;149;p7"/>
          <p:cNvSpPr txBox="1"/>
          <p:nvPr/>
        </p:nvSpPr>
        <p:spPr>
          <a:xfrm>
            <a:off x="5183171" y="2473328"/>
            <a:ext cx="935100" cy="47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1B32"/>
              </a:buClr>
              <a:buSzPts val="1209"/>
              <a:buFont typeface="Source Sans 3"/>
              <a:buNone/>
            </a:pPr>
            <a:r>
              <a:rPr b="1" i="0" lang="en-US" sz="1209" u="none" cap="none" strike="noStrike">
                <a:solidFill>
                  <a:srgbClr val="9E1B32"/>
                </a:solidFill>
                <a:latin typeface="Source Sans 3"/>
                <a:ea typeface="Source Sans 3"/>
                <a:cs typeface="Source Sans 3"/>
                <a:sym typeface="Source Sans 3"/>
              </a:rPr>
              <a:t>Rent</a:t>
            </a:r>
            <a:endParaRPr b="0" i="0" sz="120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9E1B32"/>
              </a:buClr>
              <a:buSzPts val="1209"/>
              <a:buFont typeface="Source Sans 3"/>
              <a:buNone/>
            </a:pPr>
            <a:r>
              <a:rPr b="1" i="0" lang="en-US" sz="1209" u="none" cap="none" strike="noStrike">
                <a:solidFill>
                  <a:srgbClr val="9E1B32"/>
                </a:solidFill>
                <a:latin typeface="Source Sans 3"/>
                <a:ea typeface="Source Sans 3"/>
                <a:cs typeface="Source Sans 3"/>
                <a:sym typeface="Source Sans 3"/>
              </a:rPr>
              <a:t>+109%</a:t>
            </a:r>
            <a:endParaRPr b="0" i="0" sz="1209" u="none" cap="none" strike="noStrike">
              <a:solidFill>
                <a:schemeClr val="dk1"/>
              </a:solidFill>
              <a:latin typeface="Calibri"/>
              <a:ea typeface="Calibri"/>
              <a:cs typeface="Calibri"/>
              <a:sym typeface="Calibri"/>
            </a:endParaRPr>
          </a:p>
        </p:txBody>
      </p:sp>
      <p:cxnSp>
        <p:nvCxnSpPr>
          <p:cNvPr id="150" name="Google Shape;150;p7"/>
          <p:cNvCxnSpPr/>
          <p:nvPr/>
        </p:nvCxnSpPr>
        <p:spPr>
          <a:xfrm flipH="1" rot="10800000">
            <a:off x="1510503" y="5252967"/>
            <a:ext cx="396300" cy="50100"/>
          </a:xfrm>
          <a:prstGeom prst="straightConnector1">
            <a:avLst/>
          </a:prstGeom>
          <a:noFill/>
          <a:ln cap="flat" cmpd="sng" w="35425">
            <a:solidFill>
              <a:srgbClr val="2E6B52"/>
            </a:solidFill>
            <a:prstDash val="solid"/>
            <a:round/>
            <a:headEnd len="sm" w="sm" type="none"/>
            <a:tailEnd len="sm" w="sm" type="none"/>
          </a:ln>
        </p:spPr>
      </p:cxnSp>
      <p:cxnSp>
        <p:nvCxnSpPr>
          <p:cNvPr id="151" name="Google Shape;151;p7"/>
          <p:cNvCxnSpPr/>
          <p:nvPr/>
        </p:nvCxnSpPr>
        <p:spPr>
          <a:xfrm flipH="1" rot="10800000">
            <a:off x="1907241" y="5184527"/>
            <a:ext cx="396300" cy="68700"/>
          </a:xfrm>
          <a:prstGeom prst="straightConnector1">
            <a:avLst/>
          </a:prstGeom>
          <a:noFill/>
          <a:ln cap="flat" cmpd="sng" w="35425">
            <a:solidFill>
              <a:srgbClr val="2E6B52"/>
            </a:solidFill>
            <a:prstDash val="solid"/>
            <a:round/>
            <a:headEnd len="sm" w="sm" type="none"/>
            <a:tailEnd len="sm" w="sm" type="none"/>
          </a:ln>
        </p:spPr>
      </p:cxnSp>
      <p:cxnSp>
        <p:nvCxnSpPr>
          <p:cNvPr id="152" name="Google Shape;152;p7"/>
          <p:cNvCxnSpPr/>
          <p:nvPr/>
        </p:nvCxnSpPr>
        <p:spPr>
          <a:xfrm flipH="1" rot="10800000">
            <a:off x="2303980" y="5106100"/>
            <a:ext cx="396300" cy="78300"/>
          </a:xfrm>
          <a:prstGeom prst="straightConnector1">
            <a:avLst/>
          </a:prstGeom>
          <a:noFill/>
          <a:ln cap="flat" cmpd="sng" w="35425">
            <a:solidFill>
              <a:srgbClr val="2E6B52"/>
            </a:solidFill>
            <a:prstDash val="solid"/>
            <a:round/>
            <a:headEnd len="sm" w="sm" type="none"/>
            <a:tailEnd len="sm" w="sm" type="none"/>
          </a:ln>
        </p:spPr>
      </p:cxnSp>
      <p:cxnSp>
        <p:nvCxnSpPr>
          <p:cNvPr id="153" name="Google Shape;153;p7"/>
          <p:cNvCxnSpPr/>
          <p:nvPr/>
        </p:nvCxnSpPr>
        <p:spPr>
          <a:xfrm flipH="1" rot="10800000">
            <a:off x="2700719" y="5018180"/>
            <a:ext cx="396300" cy="87900"/>
          </a:xfrm>
          <a:prstGeom prst="straightConnector1">
            <a:avLst/>
          </a:prstGeom>
          <a:noFill/>
          <a:ln cap="flat" cmpd="sng" w="35425">
            <a:solidFill>
              <a:srgbClr val="2E6B52"/>
            </a:solidFill>
            <a:prstDash val="solid"/>
            <a:round/>
            <a:headEnd len="sm" w="sm" type="none"/>
            <a:tailEnd len="sm" w="sm" type="none"/>
          </a:ln>
        </p:spPr>
      </p:cxnSp>
      <p:cxnSp>
        <p:nvCxnSpPr>
          <p:cNvPr id="154" name="Google Shape;154;p7"/>
          <p:cNvCxnSpPr/>
          <p:nvPr/>
        </p:nvCxnSpPr>
        <p:spPr>
          <a:xfrm flipH="1" rot="10800000">
            <a:off x="3097458" y="4921066"/>
            <a:ext cx="396300" cy="97200"/>
          </a:xfrm>
          <a:prstGeom prst="straightConnector1">
            <a:avLst/>
          </a:prstGeom>
          <a:noFill/>
          <a:ln cap="flat" cmpd="sng" w="35425">
            <a:solidFill>
              <a:srgbClr val="2E6B52"/>
            </a:solidFill>
            <a:prstDash val="solid"/>
            <a:round/>
            <a:headEnd len="sm" w="sm" type="none"/>
            <a:tailEnd len="sm" w="sm" type="none"/>
          </a:ln>
        </p:spPr>
      </p:cxnSp>
      <p:cxnSp>
        <p:nvCxnSpPr>
          <p:cNvPr id="155" name="Google Shape;155;p7"/>
          <p:cNvCxnSpPr/>
          <p:nvPr/>
        </p:nvCxnSpPr>
        <p:spPr>
          <a:xfrm flipH="1" rot="10800000">
            <a:off x="3494197" y="4735859"/>
            <a:ext cx="396300" cy="185100"/>
          </a:xfrm>
          <a:prstGeom prst="straightConnector1">
            <a:avLst/>
          </a:prstGeom>
          <a:noFill/>
          <a:ln cap="flat" cmpd="sng" w="35425">
            <a:solidFill>
              <a:srgbClr val="2E6B52"/>
            </a:solidFill>
            <a:prstDash val="solid"/>
            <a:round/>
            <a:headEnd len="sm" w="sm" type="none"/>
            <a:tailEnd len="sm" w="sm" type="none"/>
          </a:ln>
        </p:spPr>
      </p:cxnSp>
      <p:cxnSp>
        <p:nvCxnSpPr>
          <p:cNvPr id="156" name="Google Shape;156;p7"/>
          <p:cNvCxnSpPr/>
          <p:nvPr/>
        </p:nvCxnSpPr>
        <p:spPr>
          <a:xfrm flipH="1" rot="10800000">
            <a:off x="3890936" y="4545937"/>
            <a:ext cx="396300" cy="189900"/>
          </a:xfrm>
          <a:prstGeom prst="straightConnector1">
            <a:avLst/>
          </a:prstGeom>
          <a:noFill/>
          <a:ln cap="flat" cmpd="sng" w="35425">
            <a:solidFill>
              <a:srgbClr val="2E6B52"/>
            </a:solidFill>
            <a:prstDash val="solid"/>
            <a:round/>
            <a:headEnd len="sm" w="sm" type="none"/>
            <a:tailEnd len="sm" w="sm" type="none"/>
          </a:ln>
        </p:spPr>
      </p:cxnSp>
      <p:cxnSp>
        <p:nvCxnSpPr>
          <p:cNvPr id="157" name="Google Shape;157;p7"/>
          <p:cNvCxnSpPr/>
          <p:nvPr/>
        </p:nvCxnSpPr>
        <p:spPr>
          <a:xfrm flipH="1" rot="10800000">
            <a:off x="4287674" y="4365370"/>
            <a:ext cx="396300" cy="180600"/>
          </a:xfrm>
          <a:prstGeom prst="straightConnector1">
            <a:avLst/>
          </a:prstGeom>
          <a:noFill/>
          <a:ln cap="flat" cmpd="sng" w="35425">
            <a:solidFill>
              <a:srgbClr val="2E6B52"/>
            </a:solidFill>
            <a:prstDash val="solid"/>
            <a:round/>
            <a:headEnd len="sm" w="sm" type="none"/>
            <a:tailEnd len="sm" w="sm" type="none"/>
          </a:ln>
        </p:spPr>
      </p:cxnSp>
      <p:cxnSp>
        <p:nvCxnSpPr>
          <p:cNvPr id="158" name="Google Shape;158;p7"/>
          <p:cNvCxnSpPr/>
          <p:nvPr/>
        </p:nvCxnSpPr>
        <p:spPr>
          <a:xfrm flipH="1" rot="10800000">
            <a:off x="4684413" y="4282494"/>
            <a:ext cx="396300" cy="83100"/>
          </a:xfrm>
          <a:prstGeom prst="straightConnector1">
            <a:avLst/>
          </a:prstGeom>
          <a:noFill/>
          <a:ln cap="flat" cmpd="sng" w="35425">
            <a:solidFill>
              <a:srgbClr val="2E6B52"/>
            </a:solidFill>
            <a:prstDash val="solid"/>
            <a:round/>
            <a:headEnd len="sm" w="sm" type="none"/>
            <a:tailEnd len="sm" w="sm" type="none"/>
          </a:ln>
        </p:spPr>
      </p:cxnSp>
      <p:sp>
        <p:nvSpPr>
          <p:cNvPr id="159" name="Google Shape;159;p7"/>
          <p:cNvSpPr/>
          <p:nvPr/>
        </p:nvSpPr>
        <p:spPr>
          <a:xfrm>
            <a:off x="1467995" y="5260560"/>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0" name="Google Shape;160;p7"/>
          <p:cNvSpPr/>
          <p:nvPr/>
        </p:nvSpPr>
        <p:spPr>
          <a:xfrm>
            <a:off x="1864734" y="5210719"/>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1" name="Google Shape;161;p7"/>
          <p:cNvSpPr/>
          <p:nvPr/>
        </p:nvSpPr>
        <p:spPr>
          <a:xfrm>
            <a:off x="2261473" y="5141892"/>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2" name="Google Shape;162;p7"/>
          <p:cNvSpPr/>
          <p:nvPr/>
        </p:nvSpPr>
        <p:spPr>
          <a:xfrm>
            <a:off x="2658211" y="5063572"/>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3" name="Google Shape;163;p7"/>
          <p:cNvSpPr/>
          <p:nvPr/>
        </p:nvSpPr>
        <p:spPr>
          <a:xfrm>
            <a:off x="3054950" y="4975758"/>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4" name="Google Shape;164;p7"/>
          <p:cNvSpPr/>
          <p:nvPr/>
        </p:nvSpPr>
        <p:spPr>
          <a:xfrm>
            <a:off x="3451689" y="4878450"/>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5" name="Google Shape;165;p7"/>
          <p:cNvSpPr/>
          <p:nvPr/>
        </p:nvSpPr>
        <p:spPr>
          <a:xfrm>
            <a:off x="3848428" y="4693330"/>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6" name="Google Shape;166;p7"/>
          <p:cNvSpPr/>
          <p:nvPr/>
        </p:nvSpPr>
        <p:spPr>
          <a:xfrm>
            <a:off x="4245167" y="4503462"/>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7" name="Google Shape;167;p7"/>
          <p:cNvSpPr/>
          <p:nvPr/>
        </p:nvSpPr>
        <p:spPr>
          <a:xfrm>
            <a:off x="4641906" y="4323088"/>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8" name="Google Shape;168;p7"/>
          <p:cNvSpPr/>
          <p:nvPr/>
        </p:nvSpPr>
        <p:spPr>
          <a:xfrm>
            <a:off x="5038644" y="4240020"/>
            <a:ext cx="85200" cy="85200"/>
          </a:xfrm>
          <a:prstGeom prst="ellipse">
            <a:avLst/>
          </a:prstGeom>
          <a:solidFill>
            <a:srgbClr val="2E6B52"/>
          </a:solidFill>
          <a:ln cap="flat" cmpd="sng" w="11825">
            <a:solidFill>
              <a:srgbClr val="2E6B5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69" name="Google Shape;169;p7"/>
          <p:cNvSpPr txBox="1"/>
          <p:nvPr/>
        </p:nvSpPr>
        <p:spPr>
          <a:xfrm>
            <a:off x="5183171" y="4044484"/>
            <a:ext cx="935100" cy="476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6B52"/>
              </a:buClr>
              <a:buSzPts val="1209"/>
              <a:buFont typeface="Source Sans 3"/>
              <a:buNone/>
            </a:pPr>
            <a:r>
              <a:rPr b="1" i="0" lang="en-US" sz="1209" u="none" cap="none" strike="noStrike">
                <a:solidFill>
                  <a:srgbClr val="2E6B52"/>
                </a:solidFill>
                <a:latin typeface="Source Sans 3"/>
                <a:ea typeface="Source Sans 3"/>
                <a:cs typeface="Source Sans 3"/>
                <a:sym typeface="Source Sans 3"/>
              </a:rPr>
              <a:t>Wages</a:t>
            </a:r>
            <a:endParaRPr b="0" i="0" sz="1209"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E6B52"/>
              </a:buClr>
              <a:buSzPts val="1209"/>
              <a:buFont typeface="Source Sans 3"/>
              <a:buNone/>
            </a:pPr>
            <a:r>
              <a:rPr b="1" i="0" lang="en-US" sz="1209" u="none" cap="none" strike="noStrike">
                <a:solidFill>
                  <a:srgbClr val="2E6B52"/>
                </a:solidFill>
                <a:latin typeface="Source Sans 3"/>
                <a:ea typeface="Source Sans 3"/>
                <a:cs typeface="Source Sans 3"/>
                <a:sym typeface="Source Sans 3"/>
              </a:rPr>
              <a:t>+43%</a:t>
            </a:r>
            <a:endParaRPr b="0" i="0" sz="1209" u="none" cap="none" strike="noStrike">
              <a:solidFill>
                <a:schemeClr val="dk1"/>
              </a:solidFill>
              <a:latin typeface="Calibri"/>
              <a:ea typeface="Calibri"/>
              <a:cs typeface="Calibri"/>
              <a:sym typeface="Calibri"/>
            </a:endParaRPr>
          </a:p>
        </p:txBody>
      </p:sp>
      <p:sp>
        <p:nvSpPr>
          <p:cNvPr id="170" name="Google Shape;170;p7"/>
          <p:cNvSpPr txBox="1"/>
          <p:nvPr/>
        </p:nvSpPr>
        <p:spPr>
          <a:xfrm>
            <a:off x="1510503" y="2183000"/>
            <a:ext cx="1700400" cy="18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7470"/>
              </a:buClr>
              <a:buSzPts val="837"/>
              <a:buFont typeface="Source Sans 3"/>
              <a:buNone/>
            </a:pPr>
            <a:r>
              <a:rPr b="0" i="0" lang="en-US" sz="837" u="none" cap="none" strike="noStrike">
                <a:solidFill>
                  <a:srgbClr val="6F7470"/>
                </a:solidFill>
                <a:latin typeface="Source Sans 3"/>
                <a:ea typeface="Source Sans 3"/>
                <a:cs typeface="Source Sans 3"/>
                <a:sym typeface="Source Sans 3"/>
              </a:rPr>
              <a:t>Index, 2017 = 100</a:t>
            </a:r>
            <a:endParaRPr b="0" i="0" sz="837" u="none" cap="none" strike="noStrike">
              <a:solidFill>
                <a:schemeClr val="dk1"/>
              </a:solidFill>
              <a:latin typeface="Calibri"/>
              <a:ea typeface="Calibri"/>
              <a:cs typeface="Calibri"/>
              <a:sym typeface="Calibri"/>
            </a:endParaRPr>
          </a:p>
        </p:txBody>
      </p:sp>
      <p:sp>
        <p:nvSpPr>
          <p:cNvPr id="171" name="Google Shape;171;p7"/>
          <p:cNvSpPr/>
          <p:nvPr/>
        </p:nvSpPr>
        <p:spPr>
          <a:xfrm>
            <a:off x="6530155" y="3564288"/>
            <a:ext cx="315300" cy="1781100"/>
          </a:xfrm>
          <a:prstGeom prst="rect">
            <a:avLst/>
          </a:prstGeom>
          <a:solidFill>
            <a:srgbClr val="A9C2B3"/>
          </a:solidFill>
          <a:ln cap="flat" cmpd="sng" w="11825">
            <a:solidFill>
              <a:srgbClr val="A9C2B3"/>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72" name="Google Shape;172;p7"/>
          <p:cNvSpPr txBox="1"/>
          <p:nvPr/>
        </p:nvSpPr>
        <p:spPr>
          <a:xfrm>
            <a:off x="6317617" y="3292239"/>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29%</a:t>
            </a:r>
            <a:endParaRPr b="0" i="0" sz="1069" u="none" cap="none" strike="noStrike">
              <a:solidFill>
                <a:schemeClr val="dk1"/>
              </a:solidFill>
              <a:latin typeface="Calibri"/>
              <a:ea typeface="Calibri"/>
              <a:cs typeface="Calibri"/>
              <a:sym typeface="Calibri"/>
            </a:endParaRPr>
          </a:p>
        </p:txBody>
      </p:sp>
      <p:sp>
        <p:nvSpPr>
          <p:cNvPr id="173" name="Google Shape;173;p7"/>
          <p:cNvSpPr txBox="1"/>
          <p:nvPr/>
        </p:nvSpPr>
        <p:spPr>
          <a:xfrm>
            <a:off x="6441399"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2017</a:t>
            </a:r>
            <a:endParaRPr b="0" i="0" sz="976" u="none" cap="none" strike="noStrike">
              <a:solidFill>
                <a:schemeClr val="dk1"/>
              </a:solidFill>
              <a:latin typeface="Calibri"/>
              <a:ea typeface="Calibri"/>
              <a:cs typeface="Calibri"/>
              <a:sym typeface="Calibri"/>
            </a:endParaRPr>
          </a:p>
        </p:txBody>
      </p:sp>
      <p:sp>
        <p:nvSpPr>
          <p:cNvPr id="174" name="Google Shape;174;p7"/>
          <p:cNvSpPr/>
          <p:nvPr/>
        </p:nvSpPr>
        <p:spPr>
          <a:xfrm>
            <a:off x="7023245" y="3434853"/>
            <a:ext cx="315300" cy="1910400"/>
          </a:xfrm>
          <a:prstGeom prst="rect">
            <a:avLst/>
          </a:prstGeom>
          <a:solidFill>
            <a:srgbClr val="A9C2B3"/>
          </a:solidFill>
          <a:ln cap="flat" cmpd="sng" w="11825">
            <a:solidFill>
              <a:srgbClr val="A9C2B3"/>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75" name="Google Shape;175;p7"/>
          <p:cNvSpPr txBox="1"/>
          <p:nvPr/>
        </p:nvSpPr>
        <p:spPr>
          <a:xfrm>
            <a:off x="6810706" y="3162803"/>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31%</a:t>
            </a:r>
            <a:endParaRPr b="0" i="0" sz="1069" u="none" cap="none" strike="noStrike">
              <a:solidFill>
                <a:schemeClr val="dk1"/>
              </a:solidFill>
              <a:latin typeface="Calibri"/>
              <a:ea typeface="Calibri"/>
              <a:cs typeface="Calibri"/>
              <a:sym typeface="Calibri"/>
            </a:endParaRPr>
          </a:p>
        </p:txBody>
      </p:sp>
      <p:sp>
        <p:nvSpPr>
          <p:cNvPr id="176" name="Google Shape;176;p7"/>
          <p:cNvSpPr txBox="1"/>
          <p:nvPr/>
        </p:nvSpPr>
        <p:spPr>
          <a:xfrm>
            <a:off x="6934489"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18</a:t>
            </a:r>
            <a:endParaRPr b="0" i="0" sz="976" u="none" cap="none" strike="noStrike">
              <a:solidFill>
                <a:schemeClr val="dk1"/>
              </a:solidFill>
              <a:latin typeface="Calibri"/>
              <a:ea typeface="Calibri"/>
              <a:cs typeface="Calibri"/>
              <a:sym typeface="Calibri"/>
            </a:endParaRPr>
          </a:p>
        </p:txBody>
      </p:sp>
      <p:sp>
        <p:nvSpPr>
          <p:cNvPr id="177" name="Google Shape;177;p7"/>
          <p:cNvSpPr/>
          <p:nvPr/>
        </p:nvSpPr>
        <p:spPr>
          <a:xfrm>
            <a:off x="7516335" y="3286925"/>
            <a:ext cx="315300" cy="2058600"/>
          </a:xfrm>
          <a:prstGeom prst="rect">
            <a:avLst/>
          </a:prstGeom>
          <a:solidFill>
            <a:srgbClr val="A9C2B3"/>
          </a:solidFill>
          <a:ln cap="flat" cmpd="sng" w="11825">
            <a:solidFill>
              <a:srgbClr val="A9C2B3"/>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78" name="Google Shape;178;p7"/>
          <p:cNvSpPr txBox="1"/>
          <p:nvPr/>
        </p:nvSpPr>
        <p:spPr>
          <a:xfrm>
            <a:off x="7303796" y="3014876"/>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33%</a:t>
            </a:r>
            <a:endParaRPr b="0" i="0" sz="1069" u="none" cap="none" strike="noStrike">
              <a:solidFill>
                <a:schemeClr val="dk1"/>
              </a:solidFill>
              <a:latin typeface="Calibri"/>
              <a:ea typeface="Calibri"/>
              <a:cs typeface="Calibri"/>
              <a:sym typeface="Calibri"/>
            </a:endParaRPr>
          </a:p>
        </p:txBody>
      </p:sp>
      <p:sp>
        <p:nvSpPr>
          <p:cNvPr id="179" name="Google Shape;179;p7"/>
          <p:cNvSpPr txBox="1"/>
          <p:nvPr/>
        </p:nvSpPr>
        <p:spPr>
          <a:xfrm>
            <a:off x="7427579"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19</a:t>
            </a:r>
            <a:endParaRPr b="0" i="0" sz="976" u="none" cap="none" strike="noStrike">
              <a:solidFill>
                <a:schemeClr val="dk1"/>
              </a:solidFill>
              <a:latin typeface="Calibri"/>
              <a:ea typeface="Calibri"/>
              <a:cs typeface="Calibri"/>
              <a:sym typeface="Calibri"/>
            </a:endParaRPr>
          </a:p>
        </p:txBody>
      </p:sp>
      <p:sp>
        <p:nvSpPr>
          <p:cNvPr id="180" name="Google Shape;180;p7"/>
          <p:cNvSpPr/>
          <p:nvPr/>
        </p:nvSpPr>
        <p:spPr>
          <a:xfrm>
            <a:off x="8009424" y="3243781"/>
            <a:ext cx="315300" cy="2101800"/>
          </a:xfrm>
          <a:prstGeom prst="rect">
            <a:avLst/>
          </a:prstGeom>
          <a:solidFill>
            <a:srgbClr val="A9C2B3"/>
          </a:solidFill>
          <a:ln cap="flat" cmpd="sng" w="11825">
            <a:solidFill>
              <a:srgbClr val="A9C2B3"/>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81" name="Google Shape;181;p7"/>
          <p:cNvSpPr txBox="1"/>
          <p:nvPr/>
        </p:nvSpPr>
        <p:spPr>
          <a:xfrm>
            <a:off x="7796886" y="2971731"/>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34%</a:t>
            </a:r>
            <a:endParaRPr b="0" i="0" sz="1069" u="none" cap="none" strike="noStrike">
              <a:solidFill>
                <a:schemeClr val="dk1"/>
              </a:solidFill>
              <a:latin typeface="Calibri"/>
              <a:ea typeface="Calibri"/>
              <a:cs typeface="Calibri"/>
              <a:sym typeface="Calibri"/>
            </a:endParaRPr>
          </a:p>
        </p:txBody>
      </p:sp>
      <p:sp>
        <p:nvSpPr>
          <p:cNvPr id="182" name="Google Shape;182;p7"/>
          <p:cNvSpPr txBox="1"/>
          <p:nvPr/>
        </p:nvSpPr>
        <p:spPr>
          <a:xfrm>
            <a:off x="7920669"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20</a:t>
            </a:r>
            <a:endParaRPr b="0" i="0" sz="976" u="none" cap="none" strike="noStrike">
              <a:solidFill>
                <a:schemeClr val="dk1"/>
              </a:solidFill>
              <a:latin typeface="Calibri"/>
              <a:ea typeface="Calibri"/>
              <a:cs typeface="Calibri"/>
              <a:sym typeface="Calibri"/>
            </a:endParaRPr>
          </a:p>
        </p:txBody>
      </p:sp>
      <p:sp>
        <p:nvSpPr>
          <p:cNvPr id="183" name="Google Shape;183;p7"/>
          <p:cNvSpPr/>
          <p:nvPr/>
        </p:nvSpPr>
        <p:spPr>
          <a:xfrm>
            <a:off x="8502514" y="3157490"/>
            <a:ext cx="315300" cy="2188200"/>
          </a:xfrm>
          <a:prstGeom prst="rect">
            <a:avLst/>
          </a:prstGeom>
          <a:solidFill>
            <a:srgbClr val="A9C2B3"/>
          </a:solidFill>
          <a:ln cap="flat" cmpd="sng" w="11825">
            <a:solidFill>
              <a:srgbClr val="A9C2B3"/>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84" name="Google Shape;184;p7"/>
          <p:cNvSpPr txBox="1"/>
          <p:nvPr/>
        </p:nvSpPr>
        <p:spPr>
          <a:xfrm>
            <a:off x="8289975" y="2885440"/>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36%</a:t>
            </a:r>
            <a:endParaRPr b="0" i="0" sz="1069" u="none" cap="none" strike="noStrike">
              <a:solidFill>
                <a:schemeClr val="dk1"/>
              </a:solidFill>
              <a:latin typeface="Calibri"/>
              <a:ea typeface="Calibri"/>
              <a:cs typeface="Calibri"/>
              <a:sym typeface="Calibri"/>
            </a:endParaRPr>
          </a:p>
        </p:txBody>
      </p:sp>
      <p:sp>
        <p:nvSpPr>
          <p:cNvPr id="185" name="Google Shape;185;p7"/>
          <p:cNvSpPr txBox="1"/>
          <p:nvPr/>
        </p:nvSpPr>
        <p:spPr>
          <a:xfrm>
            <a:off x="8413758"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21</a:t>
            </a:r>
            <a:endParaRPr b="0" i="0" sz="976" u="none" cap="none" strike="noStrike">
              <a:solidFill>
                <a:schemeClr val="dk1"/>
              </a:solidFill>
              <a:latin typeface="Calibri"/>
              <a:ea typeface="Calibri"/>
              <a:cs typeface="Calibri"/>
              <a:sym typeface="Calibri"/>
            </a:endParaRPr>
          </a:p>
        </p:txBody>
      </p:sp>
      <p:sp>
        <p:nvSpPr>
          <p:cNvPr id="186" name="Google Shape;186;p7"/>
          <p:cNvSpPr/>
          <p:nvPr/>
        </p:nvSpPr>
        <p:spPr>
          <a:xfrm>
            <a:off x="8995604" y="3065035"/>
            <a:ext cx="315300" cy="2280300"/>
          </a:xfrm>
          <a:prstGeom prst="rect">
            <a:avLst/>
          </a:prstGeom>
          <a:solidFill>
            <a:srgbClr val="A9C2B3"/>
          </a:solidFill>
          <a:ln cap="flat" cmpd="sng" w="11825">
            <a:solidFill>
              <a:srgbClr val="A9C2B3"/>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87" name="Google Shape;187;p7"/>
          <p:cNvSpPr txBox="1"/>
          <p:nvPr/>
        </p:nvSpPr>
        <p:spPr>
          <a:xfrm>
            <a:off x="8783065" y="2792986"/>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37%</a:t>
            </a:r>
            <a:endParaRPr b="0" i="0" sz="1069" u="none" cap="none" strike="noStrike">
              <a:solidFill>
                <a:schemeClr val="dk1"/>
              </a:solidFill>
              <a:latin typeface="Calibri"/>
              <a:ea typeface="Calibri"/>
              <a:cs typeface="Calibri"/>
              <a:sym typeface="Calibri"/>
            </a:endParaRPr>
          </a:p>
        </p:txBody>
      </p:sp>
      <p:sp>
        <p:nvSpPr>
          <p:cNvPr id="188" name="Google Shape;188;p7"/>
          <p:cNvSpPr txBox="1"/>
          <p:nvPr/>
        </p:nvSpPr>
        <p:spPr>
          <a:xfrm>
            <a:off x="8906848"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22</a:t>
            </a:r>
            <a:endParaRPr b="0" i="0" sz="976" u="none" cap="none" strike="noStrike">
              <a:solidFill>
                <a:schemeClr val="dk1"/>
              </a:solidFill>
              <a:latin typeface="Calibri"/>
              <a:ea typeface="Calibri"/>
              <a:cs typeface="Calibri"/>
              <a:sym typeface="Calibri"/>
            </a:endParaRPr>
          </a:p>
        </p:txBody>
      </p:sp>
      <p:sp>
        <p:nvSpPr>
          <p:cNvPr id="189" name="Google Shape;189;p7"/>
          <p:cNvSpPr/>
          <p:nvPr/>
        </p:nvSpPr>
        <p:spPr>
          <a:xfrm>
            <a:off x="9488693" y="2984909"/>
            <a:ext cx="315300" cy="2360700"/>
          </a:xfrm>
          <a:prstGeom prst="rect">
            <a:avLst/>
          </a:prstGeom>
          <a:solidFill>
            <a:srgbClr val="A9C2B3"/>
          </a:solidFill>
          <a:ln cap="flat" cmpd="sng" w="11825">
            <a:solidFill>
              <a:srgbClr val="A9C2B3"/>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90" name="Google Shape;190;p7"/>
          <p:cNvSpPr txBox="1"/>
          <p:nvPr/>
        </p:nvSpPr>
        <p:spPr>
          <a:xfrm>
            <a:off x="9276155" y="2712859"/>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38%</a:t>
            </a:r>
            <a:endParaRPr b="0" i="0" sz="1069" u="none" cap="none" strike="noStrike">
              <a:solidFill>
                <a:schemeClr val="dk1"/>
              </a:solidFill>
              <a:latin typeface="Calibri"/>
              <a:ea typeface="Calibri"/>
              <a:cs typeface="Calibri"/>
              <a:sym typeface="Calibri"/>
            </a:endParaRPr>
          </a:p>
        </p:txBody>
      </p:sp>
      <p:sp>
        <p:nvSpPr>
          <p:cNvPr id="191" name="Google Shape;191;p7"/>
          <p:cNvSpPr txBox="1"/>
          <p:nvPr/>
        </p:nvSpPr>
        <p:spPr>
          <a:xfrm>
            <a:off x="9399938"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23</a:t>
            </a:r>
            <a:endParaRPr b="0" i="0" sz="976" u="none" cap="none" strike="noStrike">
              <a:solidFill>
                <a:schemeClr val="dk1"/>
              </a:solidFill>
              <a:latin typeface="Calibri"/>
              <a:ea typeface="Calibri"/>
              <a:cs typeface="Calibri"/>
              <a:sym typeface="Calibri"/>
            </a:endParaRPr>
          </a:p>
        </p:txBody>
      </p:sp>
      <p:sp>
        <p:nvSpPr>
          <p:cNvPr id="192" name="Google Shape;192;p7"/>
          <p:cNvSpPr/>
          <p:nvPr/>
        </p:nvSpPr>
        <p:spPr>
          <a:xfrm>
            <a:off x="9981783" y="2892454"/>
            <a:ext cx="315300" cy="2453400"/>
          </a:xfrm>
          <a:prstGeom prst="rect">
            <a:avLst/>
          </a:prstGeom>
          <a:solidFill>
            <a:srgbClr val="A9C2B3"/>
          </a:solidFill>
          <a:ln cap="flat" cmpd="sng" w="11825">
            <a:solidFill>
              <a:srgbClr val="A9C2B3"/>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93" name="Google Shape;193;p7"/>
          <p:cNvSpPr txBox="1"/>
          <p:nvPr/>
        </p:nvSpPr>
        <p:spPr>
          <a:xfrm>
            <a:off x="9769244" y="2620405"/>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40%</a:t>
            </a:r>
            <a:endParaRPr b="0" i="0" sz="1069" u="none" cap="none" strike="noStrike">
              <a:solidFill>
                <a:schemeClr val="dk1"/>
              </a:solidFill>
              <a:latin typeface="Calibri"/>
              <a:ea typeface="Calibri"/>
              <a:cs typeface="Calibri"/>
              <a:sym typeface="Calibri"/>
            </a:endParaRPr>
          </a:p>
        </p:txBody>
      </p:sp>
      <p:sp>
        <p:nvSpPr>
          <p:cNvPr id="194" name="Google Shape;194;p7"/>
          <p:cNvSpPr txBox="1"/>
          <p:nvPr/>
        </p:nvSpPr>
        <p:spPr>
          <a:xfrm>
            <a:off x="9893027"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24</a:t>
            </a:r>
            <a:endParaRPr b="0" i="0" sz="976" u="none" cap="none" strike="noStrike">
              <a:solidFill>
                <a:schemeClr val="dk1"/>
              </a:solidFill>
              <a:latin typeface="Calibri"/>
              <a:ea typeface="Calibri"/>
              <a:cs typeface="Calibri"/>
              <a:sym typeface="Calibri"/>
            </a:endParaRPr>
          </a:p>
        </p:txBody>
      </p:sp>
      <p:sp>
        <p:nvSpPr>
          <p:cNvPr id="195" name="Google Shape;195;p7"/>
          <p:cNvSpPr/>
          <p:nvPr/>
        </p:nvSpPr>
        <p:spPr>
          <a:xfrm>
            <a:off x="10474873" y="2800000"/>
            <a:ext cx="315300" cy="2545500"/>
          </a:xfrm>
          <a:prstGeom prst="rect">
            <a:avLst/>
          </a:prstGeom>
          <a:solidFill>
            <a:srgbClr val="A9C2B3"/>
          </a:solidFill>
          <a:ln cap="flat" cmpd="sng" w="11825">
            <a:solidFill>
              <a:srgbClr val="A9C2B3"/>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96" name="Google Shape;196;p7"/>
          <p:cNvSpPr txBox="1"/>
          <p:nvPr/>
        </p:nvSpPr>
        <p:spPr>
          <a:xfrm>
            <a:off x="10262334" y="2527950"/>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41%</a:t>
            </a:r>
            <a:endParaRPr b="0" i="0" sz="1069" u="none" cap="none" strike="noStrike">
              <a:solidFill>
                <a:schemeClr val="dk1"/>
              </a:solidFill>
              <a:latin typeface="Calibri"/>
              <a:ea typeface="Calibri"/>
              <a:cs typeface="Calibri"/>
              <a:sym typeface="Calibri"/>
            </a:endParaRPr>
          </a:p>
        </p:txBody>
      </p:sp>
      <p:sp>
        <p:nvSpPr>
          <p:cNvPr id="197" name="Google Shape;197;p7"/>
          <p:cNvSpPr txBox="1"/>
          <p:nvPr/>
        </p:nvSpPr>
        <p:spPr>
          <a:xfrm>
            <a:off x="10386117"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25</a:t>
            </a:r>
            <a:endParaRPr b="0" i="0" sz="976" u="none" cap="none" strike="noStrike">
              <a:solidFill>
                <a:schemeClr val="dk1"/>
              </a:solidFill>
              <a:latin typeface="Calibri"/>
              <a:ea typeface="Calibri"/>
              <a:cs typeface="Calibri"/>
              <a:sym typeface="Calibri"/>
            </a:endParaRPr>
          </a:p>
        </p:txBody>
      </p:sp>
      <p:sp>
        <p:nvSpPr>
          <p:cNvPr id="198" name="Google Shape;198;p7"/>
          <p:cNvSpPr/>
          <p:nvPr/>
        </p:nvSpPr>
        <p:spPr>
          <a:xfrm>
            <a:off x="10967963" y="2738364"/>
            <a:ext cx="315300" cy="2607000"/>
          </a:xfrm>
          <a:prstGeom prst="rect">
            <a:avLst/>
          </a:prstGeom>
          <a:solidFill>
            <a:srgbClr val="9E1B32"/>
          </a:solidFill>
          <a:ln cap="flat" cmpd="sng" w="11825">
            <a:solidFill>
              <a:srgbClr val="9E1B32"/>
            </a:solidFill>
            <a:prstDash val="solid"/>
            <a:round/>
            <a:headEnd len="sm" w="sm" type="none"/>
            <a:tailEnd len="sm" w="sm" type="none"/>
          </a:ln>
        </p:spPr>
        <p:txBody>
          <a:bodyPr anchorCtr="0" anchor="ctr" bIns="85000" lIns="85000" spcFirstLastPara="1" rIns="85000" wrap="square" tIns="85000">
            <a:noAutofit/>
          </a:bodyPr>
          <a:lstStyle/>
          <a:p>
            <a:pPr indent="0" lvl="0" marL="0" rtl="0" algn="l">
              <a:spcBef>
                <a:spcPts val="0"/>
              </a:spcBef>
              <a:spcAft>
                <a:spcPts val="0"/>
              </a:spcAft>
              <a:buNone/>
            </a:pPr>
            <a:r>
              <a:t/>
            </a:r>
            <a:endParaRPr/>
          </a:p>
        </p:txBody>
      </p:sp>
      <p:sp>
        <p:nvSpPr>
          <p:cNvPr id="199" name="Google Shape;199;p7"/>
          <p:cNvSpPr txBox="1"/>
          <p:nvPr/>
        </p:nvSpPr>
        <p:spPr>
          <a:xfrm>
            <a:off x="10755424" y="2466314"/>
            <a:ext cx="740400" cy="255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069"/>
              <a:buFont typeface="Source Sans 3"/>
              <a:buNone/>
            </a:pPr>
            <a:r>
              <a:rPr b="0" i="0" lang="en-US" sz="1069" u="none" cap="none" strike="noStrike">
                <a:solidFill>
                  <a:srgbClr val="1D2A24"/>
                </a:solidFill>
                <a:latin typeface="Source Sans 3"/>
                <a:ea typeface="Source Sans 3"/>
                <a:cs typeface="Source Sans 3"/>
                <a:sym typeface="Source Sans 3"/>
              </a:rPr>
              <a:t>42%</a:t>
            </a:r>
            <a:endParaRPr b="0" i="0" sz="1069" u="none" cap="none" strike="noStrike">
              <a:solidFill>
                <a:schemeClr val="dk1"/>
              </a:solidFill>
              <a:latin typeface="Calibri"/>
              <a:ea typeface="Calibri"/>
              <a:cs typeface="Calibri"/>
              <a:sym typeface="Calibri"/>
            </a:endParaRPr>
          </a:p>
        </p:txBody>
      </p:sp>
      <p:sp>
        <p:nvSpPr>
          <p:cNvPr id="200" name="Google Shape;200;p7"/>
          <p:cNvSpPr txBox="1"/>
          <p:nvPr/>
        </p:nvSpPr>
        <p:spPr>
          <a:xfrm>
            <a:off x="10879207" y="5396584"/>
            <a:ext cx="493200" cy="33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976"/>
              <a:buFont typeface="Source Sans 3"/>
              <a:buNone/>
            </a:pPr>
            <a:r>
              <a:rPr b="0" i="0" lang="en-US" sz="976" u="none" cap="none" strike="noStrike">
                <a:solidFill>
                  <a:srgbClr val="1D2A24"/>
                </a:solidFill>
                <a:latin typeface="Source Sans 3"/>
                <a:ea typeface="Source Sans 3"/>
                <a:cs typeface="Source Sans 3"/>
                <a:sym typeface="Source Sans 3"/>
              </a:rPr>
              <a:t>Jun 26</a:t>
            </a:r>
            <a:endParaRPr b="0" i="0" sz="976" u="none" cap="none" strike="noStrike">
              <a:solidFill>
                <a:schemeClr val="dk1"/>
              </a:solidFill>
              <a:latin typeface="Calibri"/>
              <a:ea typeface="Calibri"/>
              <a:cs typeface="Calibri"/>
              <a:sym typeface="Calibri"/>
            </a:endParaRPr>
          </a:p>
        </p:txBody>
      </p:sp>
      <p:cxnSp>
        <p:nvCxnSpPr>
          <p:cNvPr id="201" name="Google Shape;201;p7"/>
          <p:cNvCxnSpPr/>
          <p:nvPr/>
        </p:nvCxnSpPr>
        <p:spPr>
          <a:xfrm>
            <a:off x="6441399" y="5345575"/>
            <a:ext cx="4930800" cy="0"/>
          </a:xfrm>
          <a:prstGeom prst="straightConnector1">
            <a:avLst/>
          </a:prstGeom>
          <a:noFill/>
          <a:ln cap="flat" cmpd="sng" w="11825">
            <a:solidFill>
              <a:srgbClr val="C9BFA9"/>
            </a:solidFill>
            <a:prstDash val="solid"/>
            <a:round/>
            <a:headEnd len="sm" w="sm" type="none"/>
            <a:tailEnd len="sm" w="sm" type="none"/>
          </a:ln>
        </p:spPr>
      </p:cxnSp>
      <p:sp>
        <p:nvSpPr>
          <p:cNvPr id="202" name="Google Shape;202;p7"/>
          <p:cNvSpPr txBox="1"/>
          <p:nvPr/>
        </p:nvSpPr>
        <p:spPr>
          <a:xfrm>
            <a:off x="812800" y="5879508"/>
            <a:ext cx="10803300" cy="375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E1B32"/>
              </a:buClr>
              <a:buSzPts val="1074"/>
              <a:buFont typeface="Source Sans 3"/>
              <a:buNone/>
            </a:pPr>
            <a:r>
              <a:rPr b="1" i="0" lang="en-US" sz="1074" u="none" cap="none" strike="noStrike">
                <a:solidFill>
                  <a:srgbClr val="9E1B32"/>
                </a:solidFill>
                <a:latin typeface="Source Sans 3"/>
                <a:ea typeface="Source Sans 3"/>
                <a:cs typeface="Source Sans 3"/>
                <a:sym typeface="Source Sans 3"/>
              </a:rPr>
              <a:t>Method: </a:t>
            </a:r>
            <a:r>
              <a:rPr lang="en-US" sz="1074">
                <a:solidFill>
                  <a:srgbClr val="6F7470"/>
                </a:solidFill>
                <a:latin typeface="Source Sans 3"/>
                <a:ea typeface="Source Sans 3"/>
                <a:cs typeface="Source Sans 3"/>
                <a:sym typeface="Source Sans 3"/>
              </a:rPr>
              <a:t>Rent = median of new lease contracts · Wage = average gross monthly earnings · National comparison</a:t>
            </a:r>
            <a:endParaRPr b="0" i="0" sz="1074" u="none" cap="none" strike="noStrike">
              <a:solidFill>
                <a:schemeClr val="dk1"/>
              </a:solidFill>
              <a:latin typeface="Calibri"/>
              <a:ea typeface="Calibri"/>
              <a:cs typeface="Calibri"/>
              <a:sym typeface="Calibri"/>
            </a:endParaRPr>
          </a:p>
        </p:txBody>
      </p:sp>
      <p:sp>
        <p:nvSpPr>
          <p:cNvPr id="203" name="Google Shape;203;p7"/>
          <p:cNvSpPr/>
          <p:nvPr/>
        </p:nvSpPr>
        <p:spPr>
          <a:xfrm>
            <a:off x="812800" y="1816001"/>
            <a:ext cx="52848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3D2E"/>
              </a:buClr>
              <a:buSzPts val="1300"/>
              <a:buFont typeface="Source Sans 3"/>
              <a:buNone/>
            </a:pPr>
            <a:r>
              <a:rPr b="1" lang="en-US" sz="1300">
                <a:solidFill>
                  <a:srgbClr val="0F3D2E"/>
                </a:solidFill>
                <a:latin typeface="Source Sans 3"/>
                <a:ea typeface="Source Sans 3"/>
                <a:cs typeface="Source Sans 3"/>
                <a:sym typeface="Source Sans 3"/>
              </a:rPr>
              <a:t>Rent vs wages</a:t>
            </a:r>
            <a:r>
              <a:rPr lang="en-US" sz="1300">
                <a:solidFill>
                  <a:srgbClr val="0F3D2E"/>
                </a:solidFill>
                <a:latin typeface="Source Sans 3"/>
                <a:ea typeface="Source Sans 3"/>
                <a:cs typeface="Source Sans 3"/>
                <a:sym typeface="Source Sans 3"/>
              </a:rPr>
              <a:t>, index 2017 = 100</a:t>
            </a:r>
            <a:endParaRPr sz="1300">
              <a:solidFill>
                <a:srgbClr val="0F3D2E"/>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0F3D2E"/>
              </a:buClr>
              <a:buSzPts val="1300"/>
              <a:buFont typeface="Source Sans 3"/>
              <a:buNone/>
            </a:pPr>
            <a:r>
              <a:t/>
            </a:r>
            <a:endParaRPr b="1" sz="1300">
              <a:solidFill>
                <a:srgbClr val="0F3D2E"/>
              </a:solidFill>
              <a:latin typeface="Source Sans 3"/>
              <a:ea typeface="Source Sans 3"/>
              <a:cs typeface="Source Sans 3"/>
              <a:sym typeface="Source Sans 3"/>
            </a:endParaRPr>
          </a:p>
        </p:txBody>
      </p:sp>
      <p:sp>
        <p:nvSpPr>
          <p:cNvPr id="204" name="Google Shape;204;p7"/>
          <p:cNvSpPr/>
          <p:nvPr/>
        </p:nvSpPr>
        <p:spPr>
          <a:xfrm>
            <a:off x="6248400" y="1816001"/>
            <a:ext cx="52848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3D2E"/>
              </a:buClr>
              <a:buSzPts val="1300"/>
              <a:buFont typeface="Source Sans 3"/>
              <a:buNone/>
            </a:pPr>
            <a:r>
              <a:rPr b="1" lang="en-US" sz="1300">
                <a:solidFill>
                  <a:srgbClr val="0F3D2E"/>
                </a:solidFill>
                <a:latin typeface="Source Sans 3"/>
                <a:ea typeface="Source Sans 3"/>
                <a:cs typeface="Source Sans 3"/>
                <a:sym typeface="Source Sans 3"/>
              </a:rPr>
              <a:t>Illustrative 80 m² flat · s</a:t>
            </a:r>
            <a:r>
              <a:rPr b="1" lang="en-US" sz="1300">
                <a:solidFill>
                  <a:srgbClr val="0F3D2E"/>
                </a:solidFill>
                <a:latin typeface="Source Sans 3"/>
                <a:ea typeface="Source Sans 3"/>
                <a:cs typeface="Source Sans 3"/>
                <a:sym typeface="Source Sans 3"/>
              </a:rPr>
              <a:t>hare of average gross salary</a:t>
            </a:r>
            <a:endParaRPr b="1" sz="1300">
              <a:solidFill>
                <a:srgbClr val="0F3D2E"/>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0F3D2E"/>
              </a:buClr>
              <a:buSzPts val="1300"/>
              <a:buFont typeface="Source Sans 3"/>
              <a:buNone/>
            </a:pPr>
            <a:r>
              <a:t/>
            </a:r>
            <a:endParaRPr b="1" sz="1300">
              <a:solidFill>
                <a:srgbClr val="0F3D2E"/>
              </a:solidFill>
              <a:latin typeface="Source Sans 3"/>
              <a:ea typeface="Source Sans 3"/>
              <a:cs typeface="Source Sans 3"/>
              <a:sym typeface="Source Sans 3"/>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EE"/>
        </a:solidFill>
      </p:bgPr>
    </p:bg>
    <p:spTree>
      <p:nvGrpSpPr>
        <p:cNvPr id="209" name="Shape 209"/>
        <p:cNvGrpSpPr/>
        <p:nvPr/>
      </p:nvGrpSpPr>
      <p:grpSpPr>
        <a:xfrm>
          <a:off x="0" y="0"/>
          <a:ext cx="0" cy="0"/>
          <a:chOff x="0" y="0"/>
          <a:chExt cx="0" cy="0"/>
        </a:xfrm>
      </p:grpSpPr>
      <p:sp>
        <p:nvSpPr>
          <p:cNvPr id="210" name="Google Shape;210;p8"/>
          <p:cNvSpPr/>
          <p:nvPr/>
        </p:nvSpPr>
        <p:spPr>
          <a:xfrm>
            <a:off x="0" y="0"/>
            <a:ext cx="12192000" cy="888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E1B32"/>
              </a:buClr>
              <a:buSzPts val="1200"/>
              <a:buFont typeface="Source Sans 3"/>
              <a:buNone/>
            </a:pPr>
            <a:r>
              <a:rPr b="1" lang="en-US" sz="1200">
                <a:solidFill>
                  <a:srgbClr val="9E1B32"/>
                </a:solidFill>
                <a:latin typeface="Source Sans 3"/>
                <a:ea typeface="Source Sans 3"/>
                <a:cs typeface="Source Sans 3"/>
                <a:sym typeface="Source Sans 3"/>
              </a:rPr>
              <a:t>FINDINGS FOR H2</a:t>
            </a:r>
            <a:endParaRPr b="0" i="0" sz="1200" u="none" cap="none" strike="noStrike">
              <a:solidFill>
                <a:schemeClr val="dk1"/>
              </a:solidFill>
              <a:latin typeface="Calibri"/>
              <a:ea typeface="Calibri"/>
              <a:cs typeface="Calibri"/>
              <a:sym typeface="Calibri"/>
            </a:endParaRPr>
          </a:p>
        </p:txBody>
      </p:sp>
      <p:sp>
        <p:nvSpPr>
          <p:cNvPr id="212" name="Google Shape;212;p8"/>
          <p:cNvSpPr/>
          <p:nvPr/>
        </p:nvSpPr>
        <p:spPr>
          <a:xfrm>
            <a:off x="812800" y="11150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A24"/>
              </a:buClr>
              <a:buSzPts val="3200"/>
              <a:buFont typeface="Playfair Display"/>
              <a:buNone/>
            </a:pPr>
            <a:r>
              <a:rPr b="1" lang="en-US" sz="3200">
                <a:solidFill>
                  <a:srgbClr val="1D2A24"/>
                </a:solidFill>
                <a:latin typeface="Playfair Display"/>
                <a:ea typeface="Playfair Display"/>
                <a:cs typeface="Playfair Display"/>
                <a:sym typeface="Playfair Display"/>
              </a:rPr>
              <a:t>Where and when short-term rentals grew</a:t>
            </a:r>
            <a:endParaRPr b="1" sz="3200">
              <a:solidFill>
                <a:srgbClr val="1D2A24"/>
              </a:solidFill>
              <a:latin typeface="Playfair Display"/>
              <a:ea typeface="Playfair Display"/>
              <a:cs typeface="Playfair Display"/>
              <a:sym typeface="Playfair Display"/>
            </a:endParaRPr>
          </a:p>
          <a:p>
            <a:pPr indent="0" lvl="0" marL="0" marR="0" rtl="0" algn="l">
              <a:lnSpc>
                <a:spcPct val="110000"/>
              </a:lnSpc>
              <a:spcBef>
                <a:spcPts val="0"/>
              </a:spcBef>
              <a:spcAft>
                <a:spcPts val="0"/>
              </a:spcAft>
              <a:buClr>
                <a:srgbClr val="1D2A24"/>
              </a:buClr>
              <a:buSzPts val="3200"/>
              <a:buFont typeface="Playfair Display"/>
              <a:buNone/>
            </a:pPr>
            <a:r>
              <a:t/>
            </a:r>
            <a:endParaRPr b="1" sz="3200">
              <a:solidFill>
                <a:srgbClr val="1D2A24"/>
              </a:solidFill>
              <a:latin typeface="Playfair Display"/>
              <a:ea typeface="Playfair Display"/>
              <a:cs typeface="Playfair Display"/>
              <a:sym typeface="Playfair Display"/>
            </a:endParaRPr>
          </a:p>
        </p:txBody>
      </p:sp>
      <p:sp>
        <p:nvSpPr>
          <p:cNvPr id="213" name="Google Shape;213;p8"/>
          <p:cNvSpPr/>
          <p:nvPr/>
        </p:nvSpPr>
        <p:spPr>
          <a:xfrm>
            <a:off x="812800" y="5552281"/>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1" lang="en-US" sz="1100">
                <a:solidFill>
                  <a:srgbClr val="9E1B32"/>
                </a:solidFill>
                <a:latin typeface="Source Sans 3"/>
                <a:ea typeface="Source Sans 3"/>
                <a:cs typeface="Source Sans 3"/>
                <a:sym typeface="Source Sans 3"/>
              </a:rPr>
              <a:t>Method:</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crosstab of RNAL registrations by municipality and year · peaks in red · * 2026 = 1 January to 29 September</a:t>
            </a:r>
            <a:endParaRPr b="0" i="0" sz="1200" u="none" cap="none" strike="noStrike">
              <a:solidFill>
                <a:schemeClr val="dk1"/>
              </a:solidFill>
              <a:latin typeface="Calibri"/>
              <a:ea typeface="Calibri"/>
              <a:cs typeface="Calibri"/>
              <a:sym typeface="Calibri"/>
            </a:endParaRPr>
          </a:p>
        </p:txBody>
      </p:sp>
      <p:sp>
        <p:nvSpPr>
          <p:cNvPr id="214" name="Google Shape;214;p8"/>
          <p:cNvSpPr/>
          <p:nvPr/>
        </p:nvSpPr>
        <p:spPr>
          <a:xfrm>
            <a:off x="812800" y="62382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6</a:t>
            </a:r>
            <a:endParaRPr b="0" i="0" sz="1200" u="none" cap="none" strike="noStrike">
              <a:solidFill>
                <a:schemeClr val="dk1"/>
              </a:solidFill>
              <a:latin typeface="Calibri"/>
              <a:ea typeface="Calibri"/>
              <a:cs typeface="Calibri"/>
              <a:sym typeface="Calibri"/>
            </a:endParaRPr>
          </a:p>
        </p:txBody>
      </p:sp>
      <p:sp>
        <p:nvSpPr>
          <p:cNvPr id="215" name="Google Shape;215;p8"/>
          <p:cNvSpPr/>
          <p:nvPr/>
        </p:nvSpPr>
        <p:spPr>
          <a:xfrm>
            <a:off x="1090450" y="3281523"/>
            <a:ext cx="264900" cy="1777200"/>
          </a:xfrm>
          <a:prstGeom prst="rect">
            <a:avLst/>
          </a:prstGeom>
          <a:solidFill>
            <a:srgbClr val="2E6B52"/>
          </a:solidFill>
          <a:ln cap="flat" cmpd="sng" w="10850">
            <a:solidFill>
              <a:srgbClr val="2E6B52"/>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16" name="Google Shape;216;p8"/>
          <p:cNvSpPr txBox="1"/>
          <p:nvPr/>
        </p:nvSpPr>
        <p:spPr>
          <a:xfrm>
            <a:off x="895250" y="3031668"/>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10.8k</a:t>
            </a:r>
            <a:endParaRPr b="0" i="0" sz="939" u="none" cap="none" strike="noStrike">
              <a:solidFill>
                <a:schemeClr val="dk1"/>
              </a:solidFill>
              <a:latin typeface="Calibri"/>
              <a:ea typeface="Calibri"/>
              <a:cs typeface="Calibri"/>
              <a:sym typeface="Calibri"/>
            </a:endParaRPr>
          </a:p>
        </p:txBody>
      </p:sp>
      <p:sp>
        <p:nvSpPr>
          <p:cNvPr id="217" name="Google Shape;217;p8"/>
          <p:cNvSpPr txBox="1"/>
          <p:nvPr/>
        </p:nvSpPr>
        <p:spPr>
          <a:xfrm>
            <a:off x="1015961"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2017</a:t>
            </a:r>
            <a:endParaRPr b="0" i="0" sz="897" u="none" cap="none" strike="noStrike">
              <a:solidFill>
                <a:schemeClr val="dk1"/>
              </a:solidFill>
              <a:latin typeface="Calibri"/>
              <a:ea typeface="Calibri"/>
              <a:cs typeface="Calibri"/>
              <a:sym typeface="Calibri"/>
            </a:endParaRPr>
          </a:p>
        </p:txBody>
      </p:sp>
      <p:sp>
        <p:nvSpPr>
          <p:cNvPr id="218" name="Google Shape;218;p8"/>
          <p:cNvSpPr/>
          <p:nvPr/>
        </p:nvSpPr>
        <p:spPr>
          <a:xfrm>
            <a:off x="1504275" y="2641915"/>
            <a:ext cx="264900" cy="2416800"/>
          </a:xfrm>
          <a:prstGeom prst="rect">
            <a:avLst/>
          </a:prstGeom>
          <a:solidFill>
            <a:srgbClr val="9E1B32"/>
          </a:solidFill>
          <a:ln cap="flat" cmpd="sng" w="10850">
            <a:solidFill>
              <a:srgbClr val="9E1B32"/>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19" name="Google Shape;219;p8"/>
          <p:cNvSpPr txBox="1"/>
          <p:nvPr/>
        </p:nvSpPr>
        <p:spPr>
          <a:xfrm>
            <a:off x="1309074" y="2392060"/>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14.7k</a:t>
            </a:r>
            <a:endParaRPr b="0" i="0" sz="939" u="none" cap="none" strike="noStrike">
              <a:solidFill>
                <a:schemeClr val="dk1"/>
              </a:solidFill>
              <a:latin typeface="Calibri"/>
              <a:ea typeface="Calibri"/>
              <a:cs typeface="Calibri"/>
              <a:sym typeface="Calibri"/>
            </a:endParaRPr>
          </a:p>
        </p:txBody>
      </p:sp>
      <p:sp>
        <p:nvSpPr>
          <p:cNvPr id="220" name="Google Shape;220;p8"/>
          <p:cNvSpPr txBox="1"/>
          <p:nvPr/>
        </p:nvSpPr>
        <p:spPr>
          <a:xfrm>
            <a:off x="1429786"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18</a:t>
            </a:r>
            <a:endParaRPr b="0" i="0" sz="897" u="none" cap="none" strike="noStrike">
              <a:solidFill>
                <a:schemeClr val="dk1"/>
              </a:solidFill>
              <a:latin typeface="Calibri"/>
              <a:ea typeface="Calibri"/>
              <a:cs typeface="Calibri"/>
              <a:sym typeface="Calibri"/>
            </a:endParaRPr>
          </a:p>
        </p:txBody>
      </p:sp>
      <p:sp>
        <p:nvSpPr>
          <p:cNvPr id="221" name="Google Shape;221;p8"/>
          <p:cNvSpPr/>
          <p:nvPr/>
        </p:nvSpPr>
        <p:spPr>
          <a:xfrm>
            <a:off x="1918099" y="3573826"/>
            <a:ext cx="264900" cy="1485000"/>
          </a:xfrm>
          <a:prstGeom prst="rect">
            <a:avLst/>
          </a:prstGeom>
          <a:solidFill>
            <a:srgbClr val="2E6B52"/>
          </a:solidFill>
          <a:ln cap="flat" cmpd="sng" w="10850">
            <a:solidFill>
              <a:srgbClr val="2E6B52"/>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22" name="Google Shape;222;p8"/>
          <p:cNvSpPr txBox="1"/>
          <p:nvPr/>
        </p:nvSpPr>
        <p:spPr>
          <a:xfrm>
            <a:off x="1722899" y="3323970"/>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9.0k</a:t>
            </a:r>
            <a:endParaRPr b="0" i="0" sz="939" u="none" cap="none" strike="noStrike">
              <a:solidFill>
                <a:schemeClr val="dk1"/>
              </a:solidFill>
              <a:latin typeface="Calibri"/>
              <a:ea typeface="Calibri"/>
              <a:cs typeface="Calibri"/>
              <a:sym typeface="Calibri"/>
            </a:endParaRPr>
          </a:p>
        </p:txBody>
      </p:sp>
      <p:sp>
        <p:nvSpPr>
          <p:cNvPr id="223" name="Google Shape;223;p8"/>
          <p:cNvSpPr txBox="1"/>
          <p:nvPr/>
        </p:nvSpPr>
        <p:spPr>
          <a:xfrm>
            <a:off x="1843610"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19</a:t>
            </a:r>
            <a:endParaRPr b="0" i="0" sz="897" u="none" cap="none" strike="noStrike">
              <a:solidFill>
                <a:schemeClr val="dk1"/>
              </a:solidFill>
              <a:latin typeface="Calibri"/>
              <a:ea typeface="Calibri"/>
              <a:cs typeface="Calibri"/>
              <a:sym typeface="Calibri"/>
            </a:endParaRPr>
          </a:p>
        </p:txBody>
      </p:sp>
      <p:sp>
        <p:nvSpPr>
          <p:cNvPr id="224" name="Google Shape;224;p8"/>
          <p:cNvSpPr/>
          <p:nvPr/>
        </p:nvSpPr>
        <p:spPr>
          <a:xfrm>
            <a:off x="2331923" y="4288856"/>
            <a:ext cx="264900" cy="769800"/>
          </a:xfrm>
          <a:prstGeom prst="rect">
            <a:avLst/>
          </a:prstGeom>
          <a:solidFill>
            <a:srgbClr val="2E6B52"/>
          </a:solidFill>
          <a:ln cap="flat" cmpd="sng" w="10850">
            <a:solidFill>
              <a:srgbClr val="2E6B52"/>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25" name="Google Shape;225;p8"/>
          <p:cNvSpPr txBox="1"/>
          <p:nvPr/>
        </p:nvSpPr>
        <p:spPr>
          <a:xfrm>
            <a:off x="2136723" y="4039001"/>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4.7k</a:t>
            </a:r>
            <a:endParaRPr b="0" i="0" sz="939" u="none" cap="none" strike="noStrike">
              <a:solidFill>
                <a:schemeClr val="dk1"/>
              </a:solidFill>
              <a:latin typeface="Calibri"/>
              <a:ea typeface="Calibri"/>
              <a:cs typeface="Calibri"/>
              <a:sym typeface="Calibri"/>
            </a:endParaRPr>
          </a:p>
        </p:txBody>
      </p:sp>
      <p:sp>
        <p:nvSpPr>
          <p:cNvPr id="226" name="Google Shape;226;p8"/>
          <p:cNvSpPr txBox="1"/>
          <p:nvPr/>
        </p:nvSpPr>
        <p:spPr>
          <a:xfrm>
            <a:off x="2257435"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20</a:t>
            </a:r>
            <a:endParaRPr b="0" i="0" sz="897" u="none" cap="none" strike="noStrike">
              <a:solidFill>
                <a:schemeClr val="dk1"/>
              </a:solidFill>
              <a:latin typeface="Calibri"/>
              <a:ea typeface="Calibri"/>
              <a:cs typeface="Calibri"/>
              <a:sym typeface="Calibri"/>
            </a:endParaRPr>
          </a:p>
        </p:txBody>
      </p:sp>
      <p:sp>
        <p:nvSpPr>
          <p:cNvPr id="227" name="Google Shape;227;p8"/>
          <p:cNvSpPr/>
          <p:nvPr/>
        </p:nvSpPr>
        <p:spPr>
          <a:xfrm>
            <a:off x="2745748" y="4108369"/>
            <a:ext cx="264900" cy="950400"/>
          </a:xfrm>
          <a:prstGeom prst="rect">
            <a:avLst/>
          </a:prstGeom>
          <a:solidFill>
            <a:srgbClr val="2E6B52"/>
          </a:solidFill>
          <a:ln cap="flat" cmpd="sng" w="10850">
            <a:solidFill>
              <a:srgbClr val="2E6B52"/>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28" name="Google Shape;228;p8"/>
          <p:cNvSpPr txBox="1"/>
          <p:nvPr/>
        </p:nvSpPr>
        <p:spPr>
          <a:xfrm>
            <a:off x="2550548" y="3858514"/>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5.8k</a:t>
            </a:r>
            <a:endParaRPr b="0" i="0" sz="939" u="none" cap="none" strike="noStrike">
              <a:solidFill>
                <a:schemeClr val="dk1"/>
              </a:solidFill>
              <a:latin typeface="Calibri"/>
              <a:ea typeface="Calibri"/>
              <a:cs typeface="Calibri"/>
              <a:sym typeface="Calibri"/>
            </a:endParaRPr>
          </a:p>
        </p:txBody>
      </p:sp>
      <p:sp>
        <p:nvSpPr>
          <p:cNvPr id="229" name="Google Shape;229;p8"/>
          <p:cNvSpPr txBox="1"/>
          <p:nvPr/>
        </p:nvSpPr>
        <p:spPr>
          <a:xfrm>
            <a:off x="2671259"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21</a:t>
            </a:r>
            <a:endParaRPr b="0" i="0" sz="897" u="none" cap="none" strike="noStrike">
              <a:solidFill>
                <a:schemeClr val="dk1"/>
              </a:solidFill>
              <a:latin typeface="Calibri"/>
              <a:ea typeface="Calibri"/>
              <a:cs typeface="Calibri"/>
              <a:sym typeface="Calibri"/>
            </a:endParaRPr>
          </a:p>
        </p:txBody>
      </p:sp>
      <p:sp>
        <p:nvSpPr>
          <p:cNvPr id="230" name="Google Shape;230;p8"/>
          <p:cNvSpPr/>
          <p:nvPr/>
        </p:nvSpPr>
        <p:spPr>
          <a:xfrm>
            <a:off x="3159572" y="3480948"/>
            <a:ext cx="264900" cy="1577700"/>
          </a:xfrm>
          <a:prstGeom prst="rect">
            <a:avLst/>
          </a:prstGeom>
          <a:solidFill>
            <a:srgbClr val="2E6B52"/>
          </a:solidFill>
          <a:ln cap="flat" cmpd="sng" w="10850">
            <a:solidFill>
              <a:srgbClr val="2E6B52"/>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31" name="Google Shape;231;p8"/>
          <p:cNvSpPr txBox="1"/>
          <p:nvPr/>
        </p:nvSpPr>
        <p:spPr>
          <a:xfrm>
            <a:off x="2964372" y="3231092"/>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9.6k</a:t>
            </a:r>
            <a:endParaRPr b="0" i="0" sz="939" u="none" cap="none" strike="noStrike">
              <a:solidFill>
                <a:schemeClr val="dk1"/>
              </a:solidFill>
              <a:latin typeface="Calibri"/>
              <a:ea typeface="Calibri"/>
              <a:cs typeface="Calibri"/>
              <a:sym typeface="Calibri"/>
            </a:endParaRPr>
          </a:p>
        </p:txBody>
      </p:sp>
      <p:sp>
        <p:nvSpPr>
          <p:cNvPr id="232" name="Google Shape;232;p8"/>
          <p:cNvSpPr txBox="1"/>
          <p:nvPr/>
        </p:nvSpPr>
        <p:spPr>
          <a:xfrm>
            <a:off x="3085084"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22</a:t>
            </a:r>
            <a:endParaRPr b="0" i="0" sz="897" u="none" cap="none" strike="noStrike">
              <a:solidFill>
                <a:schemeClr val="dk1"/>
              </a:solidFill>
              <a:latin typeface="Calibri"/>
              <a:ea typeface="Calibri"/>
              <a:cs typeface="Calibri"/>
              <a:sym typeface="Calibri"/>
            </a:endParaRPr>
          </a:p>
        </p:txBody>
      </p:sp>
      <p:sp>
        <p:nvSpPr>
          <p:cNvPr id="233" name="Google Shape;233;p8"/>
          <p:cNvSpPr/>
          <p:nvPr/>
        </p:nvSpPr>
        <p:spPr>
          <a:xfrm>
            <a:off x="3573397" y="2950357"/>
            <a:ext cx="264900" cy="2108100"/>
          </a:xfrm>
          <a:prstGeom prst="rect">
            <a:avLst/>
          </a:prstGeom>
          <a:solidFill>
            <a:srgbClr val="9E1B32"/>
          </a:solidFill>
          <a:ln cap="flat" cmpd="sng" w="10850">
            <a:solidFill>
              <a:srgbClr val="9E1B32"/>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34" name="Google Shape;234;p8"/>
          <p:cNvSpPr txBox="1"/>
          <p:nvPr/>
        </p:nvSpPr>
        <p:spPr>
          <a:xfrm>
            <a:off x="3378197" y="2700501"/>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12.8k</a:t>
            </a:r>
            <a:endParaRPr b="0" i="0" sz="939" u="none" cap="none" strike="noStrike">
              <a:solidFill>
                <a:schemeClr val="dk1"/>
              </a:solidFill>
              <a:latin typeface="Calibri"/>
              <a:ea typeface="Calibri"/>
              <a:cs typeface="Calibri"/>
              <a:sym typeface="Calibri"/>
            </a:endParaRPr>
          </a:p>
        </p:txBody>
      </p:sp>
      <p:sp>
        <p:nvSpPr>
          <p:cNvPr id="235" name="Google Shape;235;p8"/>
          <p:cNvSpPr txBox="1"/>
          <p:nvPr/>
        </p:nvSpPr>
        <p:spPr>
          <a:xfrm>
            <a:off x="3498908"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23</a:t>
            </a:r>
            <a:endParaRPr b="0" i="0" sz="897" u="none" cap="none" strike="noStrike">
              <a:solidFill>
                <a:schemeClr val="dk1"/>
              </a:solidFill>
              <a:latin typeface="Calibri"/>
              <a:ea typeface="Calibri"/>
              <a:cs typeface="Calibri"/>
              <a:sym typeface="Calibri"/>
            </a:endParaRPr>
          </a:p>
        </p:txBody>
      </p:sp>
      <p:sp>
        <p:nvSpPr>
          <p:cNvPr id="236" name="Google Shape;236;p8"/>
          <p:cNvSpPr/>
          <p:nvPr/>
        </p:nvSpPr>
        <p:spPr>
          <a:xfrm>
            <a:off x="3987221" y="4299395"/>
            <a:ext cx="264900" cy="759300"/>
          </a:xfrm>
          <a:prstGeom prst="rect">
            <a:avLst/>
          </a:prstGeom>
          <a:solidFill>
            <a:srgbClr val="2E6B52"/>
          </a:solidFill>
          <a:ln cap="flat" cmpd="sng" w="10850">
            <a:solidFill>
              <a:srgbClr val="2E6B52"/>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37" name="Google Shape;237;p8"/>
          <p:cNvSpPr txBox="1"/>
          <p:nvPr/>
        </p:nvSpPr>
        <p:spPr>
          <a:xfrm>
            <a:off x="3792021" y="4049540"/>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4.6k</a:t>
            </a:r>
            <a:endParaRPr b="0" i="0" sz="939" u="none" cap="none" strike="noStrike">
              <a:solidFill>
                <a:schemeClr val="dk1"/>
              </a:solidFill>
              <a:latin typeface="Calibri"/>
              <a:ea typeface="Calibri"/>
              <a:cs typeface="Calibri"/>
              <a:sym typeface="Calibri"/>
            </a:endParaRPr>
          </a:p>
        </p:txBody>
      </p:sp>
      <p:sp>
        <p:nvSpPr>
          <p:cNvPr id="238" name="Google Shape;238;p8"/>
          <p:cNvSpPr txBox="1"/>
          <p:nvPr/>
        </p:nvSpPr>
        <p:spPr>
          <a:xfrm>
            <a:off x="3912733"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24</a:t>
            </a:r>
            <a:endParaRPr b="0" i="0" sz="897" u="none" cap="none" strike="noStrike">
              <a:solidFill>
                <a:schemeClr val="dk1"/>
              </a:solidFill>
              <a:latin typeface="Calibri"/>
              <a:ea typeface="Calibri"/>
              <a:cs typeface="Calibri"/>
              <a:sym typeface="Calibri"/>
            </a:endParaRPr>
          </a:p>
        </p:txBody>
      </p:sp>
      <p:sp>
        <p:nvSpPr>
          <p:cNvPr id="239" name="Google Shape;239;p8"/>
          <p:cNvSpPr/>
          <p:nvPr/>
        </p:nvSpPr>
        <p:spPr>
          <a:xfrm>
            <a:off x="4401046" y="3477325"/>
            <a:ext cx="264900" cy="1581300"/>
          </a:xfrm>
          <a:prstGeom prst="rect">
            <a:avLst/>
          </a:prstGeom>
          <a:solidFill>
            <a:srgbClr val="2E6B52"/>
          </a:solidFill>
          <a:ln cap="flat" cmpd="sng" w="10850">
            <a:solidFill>
              <a:srgbClr val="2E6B52"/>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40" name="Google Shape;240;p8"/>
          <p:cNvSpPr txBox="1"/>
          <p:nvPr/>
        </p:nvSpPr>
        <p:spPr>
          <a:xfrm>
            <a:off x="4205846" y="3227469"/>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9.6k</a:t>
            </a:r>
            <a:endParaRPr b="0" i="0" sz="939" u="none" cap="none" strike="noStrike">
              <a:solidFill>
                <a:schemeClr val="dk1"/>
              </a:solidFill>
              <a:latin typeface="Calibri"/>
              <a:ea typeface="Calibri"/>
              <a:cs typeface="Calibri"/>
              <a:sym typeface="Calibri"/>
            </a:endParaRPr>
          </a:p>
        </p:txBody>
      </p:sp>
      <p:sp>
        <p:nvSpPr>
          <p:cNvPr id="241" name="Google Shape;241;p8"/>
          <p:cNvSpPr txBox="1"/>
          <p:nvPr/>
        </p:nvSpPr>
        <p:spPr>
          <a:xfrm>
            <a:off x="4326557"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25</a:t>
            </a:r>
            <a:endParaRPr b="0" i="0" sz="897" u="none" cap="none" strike="noStrike">
              <a:solidFill>
                <a:schemeClr val="dk1"/>
              </a:solidFill>
              <a:latin typeface="Calibri"/>
              <a:ea typeface="Calibri"/>
              <a:cs typeface="Calibri"/>
              <a:sym typeface="Calibri"/>
            </a:endParaRPr>
          </a:p>
        </p:txBody>
      </p:sp>
      <p:sp>
        <p:nvSpPr>
          <p:cNvPr id="242" name="Google Shape;242;p8"/>
          <p:cNvSpPr/>
          <p:nvPr/>
        </p:nvSpPr>
        <p:spPr>
          <a:xfrm>
            <a:off x="4814870" y="3842415"/>
            <a:ext cx="264900" cy="1216200"/>
          </a:xfrm>
          <a:prstGeom prst="rect">
            <a:avLst/>
          </a:prstGeom>
          <a:solidFill>
            <a:srgbClr val="A9C2B3"/>
          </a:solidFill>
          <a:ln cap="flat" cmpd="sng" w="10850">
            <a:solidFill>
              <a:srgbClr val="A9C2B3"/>
            </a:solidFill>
            <a:prstDash val="solid"/>
            <a:round/>
            <a:headEnd len="sm" w="sm" type="none"/>
            <a:tailEnd len="sm" w="sm" type="none"/>
          </a:ln>
        </p:spPr>
        <p:txBody>
          <a:bodyPr anchorCtr="0" anchor="ctr" bIns="78075" lIns="78075" spcFirstLastPara="1" rIns="78075" wrap="square" tIns="78075">
            <a:noAutofit/>
          </a:bodyPr>
          <a:lstStyle/>
          <a:p>
            <a:pPr indent="0" lvl="0" marL="0" rtl="0" algn="l">
              <a:spcBef>
                <a:spcPts val="0"/>
              </a:spcBef>
              <a:spcAft>
                <a:spcPts val="0"/>
              </a:spcAft>
              <a:buNone/>
            </a:pPr>
            <a:r>
              <a:t/>
            </a:r>
            <a:endParaRPr/>
          </a:p>
        </p:txBody>
      </p:sp>
      <p:sp>
        <p:nvSpPr>
          <p:cNvPr id="243" name="Google Shape;243;p8"/>
          <p:cNvSpPr txBox="1"/>
          <p:nvPr/>
        </p:nvSpPr>
        <p:spPr>
          <a:xfrm>
            <a:off x="4619670" y="3592560"/>
            <a:ext cx="6552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39"/>
              <a:buFont typeface="Source Sans 3"/>
              <a:buNone/>
            </a:pPr>
            <a:r>
              <a:rPr b="0" i="0" lang="en-US" sz="939" u="none" cap="none" strike="noStrike">
                <a:solidFill>
                  <a:srgbClr val="1D2A24"/>
                </a:solidFill>
                <a:latin typeface="Source Sans 3"/>
                <a:ea typeface="Source Sans 3"/>
                <a:cs typeface="Source Sans 3"/>
                <a:sym typeface="Source Sans 3"/>
              </a:rPr>
              <a:t>7.4k</a:t>
            </a:r>
            <a:endParaRPr b="0" i="0" sz="939" u="none" cap="none" strike="noStrike">
              <a:solidFill>
                <a:schemeClr val="dk1"/>
              </a:solidFill>
              <a:latin typeface="Calibri"/>
              <a:ea typeface="Calibri"/>
              <a:cs typeface="Calibri"/>
              <a:sym typeface="Calibri"/>
            </a:endParaRPr>
          </a:p>
        </p:txBody>
      </p:sp>
      <p:sp>
        <p:nvSpPr>
          <p:cNvPr id="244" name="Google Shape;244;p8"/>
          <p:cNvSpPr txBox="1"/>
          <p:nvPr/>
        </p:nvSpPr>
        <p:spPr>
          <a:xfrm>
            <a:off x="4740382" y="5105572"/>
            <a:ext cx="413700" cy="312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97"/>
              <a:buFont typeface="Source Sans 3"/>
              <a:buNone/>
            </a:pPr>
            <a:r>
              <a:rPr b="0" i="0" lang="en-US" sz="897" u="none" cap="none" strike="noStrike">
                <a:solidFill>
                  <a:srgbClr val="1D2A24"/>
                </a:solidFill>
                <a:latin typeface="Source Sans 3"/>
                <a:ea typeface="Source Sans 3"/>
                <a:cs typeface="Source Sans 3"/>
                <a:sym typeface="Source Sans 3"/>
              </a:rPr>
              <a:t>26*</a:t>
            </a:r>
            <a:endParaRPr b="0" i="0" sz="897" u="none" cap="none" strike="noStrike">
              <a:solidFill>
                <a:schemeClr val="dk1"/>
              </a:solidFill>
              <a:latin typeface="Calibri"/>
              <a:ea typeface="Calibri"/>
              <a:cs typeface="Calibri"/>
              <a:sym typeface="Calibri"/>
            </a:endParaRPr>
          </a:p>
        </p:txBody>
      </p:sp>
      <p:cxnSp>
        <p:nvCxnSpPr>
          <p:cNvPr id="245" name="Google Shape;245;p8"/>
          <p:cNvCxnSpPr/>
          <p:nvPr/>
        </p:nvCxnSpPr>
        <p:spPr>
          <a:xfrm>
            <a:off x="1015961" y="5058724"/>
            <a:ext cx="4138200" cy="0"/>
          </a:xfrm>
          <a:prstGeom prst="straightConnector1">
            <a:avLst/>
          </a:prstGeom>
          <a:noFill/>
          <a:ln cap="flat" cmpd="sng" w="10850">
            <a:solidFill>
              <a:srgbClr val="C9BFA9"/>
            </a:solidFill>
            <a:prstDash val="solid"/>
            <a:round/>
            <a:headEnd len="sm" w="sm" type="none"/>
            <a:tailEnd len="sm" w="sm" type="none"/>
          </a:ln>
        </p:spPr>
      </p:cxnSp>
      <p:sp>
        <p:nvSpPr>
          <p:cNvPr id="246" name="Google Shape;246;p8"/>
          <p:cNvSpPr/>
          <p:nvPr/>
        </p:nvSpPr>
        <p:spPr>
          <a:xfrm>
            <a:off x="812800" y="1816000"/>
            <a:ext cx="44622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3D2E"/>
              </a:buClr>
              <a:buSzPts val="1300"/>
              <a:buFont typeface="Source Sans 3"/>
              <a:buNone/>
            </a:pPr>
            <a:r>
              <a:rPr lang="en-US" sz="1300">
                <a:solidFill>
                  <a:srgbClr val="0F3D2E"/>
                </a:solidFill>
                <a:latin typeface="Source Sans 3"/>
                <a:ea typeface="Source Sans 3"/>
                <a:cs typeface="Source Sans 3"/>
                <a:sym typeface="Source Sans 3"/>
              </a:rPr>
              <a:t>Thousands of new </a:t>
            </a:r>
            <a:r>
              <a:rPr lang="en-US" sz="1300">
                <a:solidFill>
                  <a:srgbClr val="0F3D2E"/>
                </a:solidFill>
                <a:latin typeface="Source Sans 3"/>
                <a:ea typeface="Source Sans 3"/>
                <a:cs typeface="Source Sans 3"/>
                <a:sym typeface="Source Sans 3"/>
              </a:rPr>
              <a:t>registrations</a:t>
            </a:r>
            <a:r>
              <a:rPr lang="en-US" sz="1300">
                <a:solidFill>
                  <a:srgbClr val="0F3D2E"/>
                </a:solidFill>
                <a:latin typeface="Source Sans 3"/>
                <a:ea typeface="Source Sans 3"/>
                <a:cs typeface="Source Sans 3"/>
                <a:sym typeface="Source Sans 3"/>
              </a:rPr>
              <a:t> every year, </a:t>
            </a:r>
            <a:r>
              <a:rPr b="1" lang="en-US" sz="1300">
                <a:solidFill>
                  <a:srgbClr val="0F3D2E"/>
                </a:solidFill>
                <a:latin typeface="Source Sans 3"/>
                <a:ea typeface="Source Sans 3"/>
                <a:cs typeface="Source Sans 3"/>
                <a:sym typeface="Source Sans 3"/>
              </a:rPr>
              <a:t>with p</a:t>
            </a:r>
            <a:r>
              <a:rPr b="1" lang="en-US" sz="1300">
                <a:solidFill>
                  <a:srgbClr val="0F3D2E"/>
                </a:solidFill>
                <a:latin typeface="Source Sans 3"/>
                <a:ea typeface="Source Sans 3"/>
                <a:cs typeface="Source Sans 3"/>
                <a:sym typeface="Source Sans 3"/>
              </a:rPr>
              <a:t>eaks in 2018 and 2023</a:t>
            </a:r>
            <a:endParaRPr b="1" sz="1300">
              <a:solidFill>
                <a:srgbClr val="0F3D2E"/>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0F3D2E"/>
              </a:buClr>
              <a:buSzPts val="1300"/>
              <a:buFont typeface="Source Sans 3"/>
              <a:buNone/>
            </a:pPr>
            <a:r>
              <a:t/>
            </a:r>
            <a:endParaRPr b="1" sz="1300">
              <a:solidFill>
                <a:srgbClr val="0F3D2E"/>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0F3D2E"/>
              </a:buClr>
              <a:buSzPts val="1300"/>
              <a:buFont typeface="Source Sans 3"/>
              <a:buNone/>
            </a:pPr>
            <a:r>
              <a:t/>
            </a:r>
            <a:endParaRPr b="1" sz="1300">
              <a:solidFill>
                <a:srgbClr val="0F3D2E"/>
              </a:solidFill>
              <a:latin typeface="Source Sans 3"/>
              <a:ea typeface="Source Sans 3"/>
              <a:cs typeface="Source Sans 3"/>
              <a:sym typeface="Source Sans 3"/>
            </a:endParaRPr>
          </a:p>
        </p:txBody>
      </p:sp>
      <p:graphicFrame>
        <p:nvGraphicFramePr>
          <p:cNvPr id="247" name="Google Shape;247;p8"/>
          <p:cNvGraphicFramePr/>
          <p:nvPr/>
        </p:nvGraphicFramePr>
        <p:xfrm>
          <a:off x="6292259" y="2437607"/>
          <a:ext cx="3000000" cy="3000000"/>
        </p:xfrm>
        <a:graphic>
          <a:graphicData uri="http://schemas.openxmlformats.org/drawingml/2006/table">
            <a:tbl>
              <a:tblPr>
                <a:noFill/>
                <a:tableStyleId>{551AF02A-7453-4268-BA4E-05D28735F682}</a:tableStyleId>
              </a:tblPr>
              <a:tblGrid>
                <a:gridCol w="827650"/>
                <a:gridCol w="398775"/>
                <a:gridCol w="398775"/>
                <a:gridCol w="398775"/>
                <a:gridCol w="398775"/>
                <a:gridCol w="398775"/>
                <a:gridCol w="398775"/>
                <a:gridCol w="398775"/>
                <a:gridCol w="398775"/>
                <a:gridCol w="398775"/>
                <a:gridCol w="398775"/>
              </a:tblGrid>
              <a:tr h="258700">
                <a:tc>
                  <a:txBody>
                    <a:bodyPr/>
                    <a:lstStyle/>
                    <a:p>
                      <a:pPr indent="0" lvl="0" marL="0" marR="0" rtl="0" algn="ctr">
                        <a:spcBef>
                          <a:spcPts val="0"/>
                        </a:spcBef>
                        <a:spcAft>
                          <a:spcPts val="0"/>
                        </a:spcAft>
                        <a:buClr>
                          <a:schemeClr val="dk1"/>
                        </a:buClr>
                        <a:buSzPts val="950"/>
                        <a:buFont typeface="Calibri"/>
                        <a:buNone/>
                      </a:pPr>
                      <a:r>
                        <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2017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18</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19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20</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21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22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23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24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25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b="1" lang="en-US" sz="950" u="none" cap="none" strike="noStrike">
                          <a:solidFill>
                            <a:srgbClr val="1D2A24"/>
                          </a:solidFill>
                          <a:latin typeface="Source Sans 3"/>
                          <a:ea typeface="Source Sans 3"/>
                          <a:cs typeface="Source Sans 3"/>
                          <a:sym typeface="Source Sans 3"/>
                        </a:rPr>
                        <a:t>26*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r>
              <a:tr h="258700">
                <a:tc>
                  <a:txBody>
                    <a:bodyPr/>
                    <a:lstStyle/>
                    <a:p>
                      <a:pPr indent="0" lvl="0" marL="0" marR="0" rtl="0" algn="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Porto</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1,184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FFFFFF"/>
                        </a:buClr>
                        <a:buSzPts val="950"/>
                        <a:buFont typeface="Source Sans 3"/>
                        <a:buNone/>
                      </a:pPr>
                      <a:r>
                        <a:rPr lang="en-US" sz="950" u="none" cap="none" strike="noStrike">
                          <a:solidFill>
                            <a:srgbClr val="FFFFFF"/>
                          </a:solidFill>
                          <a:latin typeface="Source Sans 3"/>
                          <a:ea typeface="Source Sans 3"/>
                          <a:cs typeface="Source Sans 3"/>
                          <a:sym typeface="Source Sans 3"/>
                        </a:rPr>
                        <a:t>1,346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4F8A70"/>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971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475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723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FFFFFF"/>
                        </a:buClr>
                        <a:buSzPts val="950"/>
                        <a:buFont typeface="Source Sans 3"/>
                        <a:buNone/>
                      </a:pPr>
                      <a:r>
                        <a:rPr lang="en-US" sz="950" u="none" cap="none" strike="noStrike">
                          <a:solidFill>
                            <a:srgbClr val="FFFFFF"/>
                          </a:solidFill>
                          <a:latin typeface="Source Sans 3"/>
                          <a:ea typeface="Source Sans 3"/>
                          <a:cs typeface="Source Sans 3"/>
                          <a:sym typeface="Source Sans 3"/>
                        </a:rPr>
                        <a:t>1,607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4F8A70"/>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713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216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834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562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r>
              <a:tr h="258700">
                <a:tc>
                  <a:txBody>
                    <a:bodyPr/>
                    <a:lstStyle/>
                    <a:p>
                      <a:pPr indent="0" lvl="0" marL="0" marR="0" rtl="0" algn="r">
                        <a:spcBef>
                          <a:spcPts val="0"/>
                        </a:spcBef>
                        <a:spcAft>
                          <a:spcPts val="0"/>
                        </a:spcAft>
                        <a:buClr>
                          <a:srgbClr val="9E1B32"/>
                        </a:buClr>
                        <a:buSzPts val="950"/>
                        <a:buFont typeface="Source Sans 3"/>
                        <a:buNone/>
                      </a:pPr>
                      <a:r>
                        <a:rPr b="1" lang="en-US" sz="950" u="none" cap="none" strike="noStrike">
                          <a:solidFill>
                            <a:srgbClr val="9E1B32"/>
                          </a:solidFill>
                          <a:latin typeface="Source Sans 3"/>
                          <a:ea typeface="Source Sans 3"/>
                          <a:cs typeface="Source Sans 3"/>
                          <a:sym typeface="Source Sans 3"/>
                        </a:rPr>
                        <a:t>Lisbon</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FFFFFF"/>
                        </a:buClr>
                        <a:buSzPts val="950"/>
                        <a:buFont typeface="Source Sans 3"/>
                        <a:buNone/>
                      </a:pPr>
                      <a:r>
                        <a:rPr lang="en-US" sz="950" u="none" cap="none" strike="noStrike">
                          <a:solidFill>
                            <a:srgbClr val="FFFFFF"/>
                          </a:solidFill>
                          <a:latin typeface="Source Sans 3"/>
                          <a:ea typeface="Source Sans 3"/>
                          <a:cs typeface="Source Sans 3"/>
                          <a:sym typeface="Source Sans 3"/>
                        </a:rPr>
                        <a:t>2,054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2E6B52"/>
                    </a:solidFill>
                  </a:tcPr>
                </a:tc>
                <a:tc>
                  <a:txBody>
                    <a:bodyPr/>
                    <a:lstStyle/>
                    <a:p>
                      <a:pPr indent="0" lvl="0" marL="0" marR="0" rtl="0" algn="ctr">
                        <a:spcBef>
                          <a:spcPts val="0"/>
                        </a:spcBef>
                        <a:spcAft>
                          <a:spcPts val="0"/>
                        </a:spcAft>
                        <a:buClr>
                          <a:srgbClr val="FFFFFF"/>
                        </a:buClr>
                        <a:buSzPts val="950"/>
                        <a:buFont typeface="Source Sans 3"/>
                        <a:buNone/>
                      </a:pPr>
                      <a:r>
                        <a:rPr b="1" lang="en-US" sz="950" u="none" cap="none" strike="noStrike">
                          <a:solidFill>
                            <a:srgbClr val="FFFFFF"/>
                          </a:solidFill>
                          <a:latin typeface="Source Sans 3"/>
                          <a:ea typeface="Source Sans 3"/>
                          <a:cs typeface="Source Sans 3"/>
                          <a:sym typeface="Source Sans 3"/>
                        </a:rPr>
                        <a:t>3,714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0F3D2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1,160</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254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436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571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163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28</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DE4D2"/>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30</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DE4D2"/>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109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r>
              <a:tr h="258700">
                <a:tc>
                  <a:txBody>
                    <a:bodyPr/>
                    <a:lstStyle/>
                    <a:p>
                      <a:pPr indent="0" lvl="0" marL="0" marR="0" rtl="0" algn="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Albufeira</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763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945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626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405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499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807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1,080</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298</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703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513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r>
              <a:tr h="258700">
                <a:tc>
                  <a:txBody>
                    <a:bodyPr/>
                    <a:lstStyle/>
                    <a:p>
                      <a:pPr indent="0" lvl="0" marL="0" marR="0" rtl="0" algn="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Loulé</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643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812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601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299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326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542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839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170</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515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527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r>
              <a:tr h="258700">
                <a:tc>
                  <a:txBody>
                    <a:bodyPr/>
                    <a:lstStyle/>
                    <a:p>
                      <a:pPr indent="0" lvl="0" marL="0" marR="0" rtl="0" algn="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Portimão</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527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733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439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275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291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471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802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66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DE4D2"/>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484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375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r>
              <a:tr h="258700">
                <a:tc>
                  <a:txBody>
                    <a:bodyPr/>
                    <a:lstStyle/>
                    <a:p>
                      <a:pPr indent="0" lvl="0" marL="0" marR="0" rtl="0" algn="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Lagos</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413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457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351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199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193</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459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701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7FA79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122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405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468</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r>
              <a:tr h="258700">
                <a:tc>
                  <a:txBody>
                    <a:bodyPr/>
                    <a:lstStyle/>
                    <a:p>
                      <a:pPr indent="0" lvl="0" marL="0" marR="0" rtl="0" algn="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Tavira</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222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337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238</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160</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124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244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410</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88</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249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182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r>
              <a:tr h="258700">
                <a:tc>
                  <a:txBody>
                    <a:bodyPr/>
                    <a:lstStyle/>
                    <a:p>
                      <a:pPr indent="0" lvl="0" marL="0" marR="0" rtl="0" algn="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Cascais</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225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356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241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116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85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239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435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62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DE4D2"/>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231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126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r>
              <a:tr h="258700">
                <a:tc>
                  <a:txBody>
                    <a:bodyPr/>
                    <a:lstStyle/>
                    <a:p>
                      <a:pPr indent="0" lvl="0" marL="0" marR="0" rtl="0" algn="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Silves</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222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289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199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95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102</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247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411</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105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224</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206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r>
              <a:tr h="258700">
                <a:tc>
                  <a:txBody>
                    <a:bodyPr/>
                    <a:lstStyle/>
                    <a:p>
                      <a:pPr indent="0" lvl="0" marL="0" marR="0" rtl="0" algn="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Lagoa</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AF6EE"/>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269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329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207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107</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145</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208</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339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A9C2B3"/>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109</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210</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c>
                  <a:txBody>
                    <a:bodyPr/>
                    <a:lstStyle/>
                    <a:p>
                      <a:pPr indent="0" lvl="0" marL="0" marR="0" rtl="0" algn="ctr">
                        <a:spcBef>
                          <a:spcPts val="0"/>
                        </a:spcBef>
                        <a:spcAft>
                          <a:spcPts val="0"/>
                        </a:spcAft>
                        <a:buClr>
                          <a:srgbClr val="1D2A24"/>
                        </a:buClr>
                        <a:buSzPts val="950"/>
                        <a:buFont typeface="Source Sans 3"/>
                        <a:buNone/>
                      </a:pPr>
                      <a:r>
                        <a:rPr lang="en-US" sz="950" u="none" cap="none" strike="noStrike">
                          <a:solidFill>
                            <a:srgbClr val="1D2A24"/>
                          </a:solidFill>
                          <a:latin typeface="Source Sans 3"/>
                          <a:ea typeface="Source Sans 3"/>
                          <a:cs typeface="Source Sans 3"/>
                          <a:sym typeface="Source Sans 3"/>
                        </a:rPr>
                        <a:t>166</a:t>
                      </a:r>
                      <a:endParaRPr sz="950" u="none" cap="none" strike="noStrike">
                        <a:latin typeface="Source Sans 3"/>
                        <a:ea typeface="Source Sans 3"/>
                        <a:cs typeface="Source Sans 3"/>
                        <a:sym typeface="Source Sans 3"/>
                      </a:endParaRPr>
                    </a:p>
                  </a:txBody>
                  <a:tcPr marT="12700" marB="12700" marR="25400" marL="25400"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D6E3DA"/>
                    </a:solidFill>
                  </a:tcPr>
                </a:tc>
              </a:tr>
            </a:tbl>
          </a:graphicData>
        </a:graphic>
      </p:graphicFrame>
      <p:sp>
        <p:nvSpPr>
          <p:cNvPr id="248" name="Google Shape;248;p8"/>
          <p:cNvSpPr/>
          <p:nvPr/>
        </p:nvSpPr>
        <p:spPr>
          <a:xfrm>
            <a:off x="7109885" y="2724775"/>
            <a:ext cx="3997800" cy="785400"/>
          </a:xfrm>
          <a:prstGeom prst="rect">
            <a:avLst/>
          </a:prstGeom>
          <a:noFill/>
          <a:ln cap="flat" cmpd="sng" w="19050">
            <a:solidFill>
              <a:srgbClr val="A61C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8"/>
          <p:cNvSpPr/>
          <p:nvPr/>
        </p:nvSpPr>
        <p:spPr>
          <a:xfrm>
            <a:off x="6248400" y="1816001"/>
            <a:ext cx="5284800" cy="2565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0F3D2E"/>
              </a:buClr>
              <a:buSzPts val="1300"/>
              <a:buFont typeface="Source Sans 3"/>
              <a:buNone/>
            </a:pPr>
            <a:r>
              <a:rPr b="1" lang="en-US" sz="1300">
                <a:solidFill>
                  <a:srgbClr val="0F3D2E"/>
                </a:solidFill>
                <a:latin typeface="Source Sans 3"/>
                <a:ea typeface="Source Sans 3"/>
                <a:cs typeface="Source Sans 3"/>
                <a:sym typeface="Source Sans 3"/>
              </a:rPr>
              <a:t>Lisbon’s boom stopped after 2019</a:t>
            </a:r>
            <a:endParaRPr b="1" sz="1300">
              <a:solidFill>
                <a:srgbClr val="0F3D2E"/>
              </a:solidFill>
              <a:latin typeface="Source Sans 3"/>
              <a:ea typeface="Source Sans 3"/>
              <a:cs typeface="Source Sans 3"/>
              <a:sym typeface="Source Sans 3"/>
            </a:endParaRPr>
          </a:p>
          <a:p>
            <a:pPr indent="0" lvl="0" marL="0" rtl="0" algn="l">
              <a:lnSpc>
                <a:spcPct val="140000"/>
              </a:lnSpc>
              <a:spcBef>
                <a:spcPts val="0"/>
              </a:spcBef>
              <a:spcAft>
                <a:spcPts val="0"/>
              </a:spcAft>
              <a:buClr>
                <a:srgbClr val="0F3D2E"/>
              </a:buClr>
              <a:buSzPts val="1300"/>
              <a:buFont typeface="Source Sans 3"/>
              <a:buNone/>
            </a:pPr>
            <a:r>
              <a:rPr b="1" lang="en-US" sz="1300">
                <a:solidFill>
                  <a:srgbClr val="0F3D2E"/>
                </a:solidFill>
                <a:latin typeface="Source Sans 3"/>
                <a:ea typeface="Source Sans 3"/>
                <a:cs typeface="Source Sans 3"/>
                <a:sym typeface="Source Sans 3"/>
              </a:rPr>
              <a:t>T</a:t>
            </a:r>
            <a:r>
              <a:rPr b="1" lang="en-US" sz="1300">
                <a:solidFill>
                  <a:srgbClr val="0F3D2E"/>
                </a:solidFill>
                <a:latin typeface="Source Sans 3"/>
                <a:ea typeface="Source Sans 3"/>
                <a:cs typeface="Source Sans 3"/>
                <a:sym typeface="Source Sans 3"/>
              </a:rPr>
              <a:t>op 10 municipalities</a:t>
            </a:r>
            <a:r>
              <a:rPr lang="en-US" sz="1300">
                <a:solidFill>
                  <a:srgbClr val="0F3D2E"/>
                </a:solidFill>
                <a:latin typeface="Source Sans 3"/>
                <a:ea typeface="Source Sans 3"/>
                <a:cs typeface="Source Sans 3"/>
                <a:sym typeface="Source Sans 3"/>
              </a:rPr>
              <a:t>, new registrations per year</a:t>
            </a:r>
            <a:endParaRPr sz="1300">
              <a:solidFill>
                <a:srgbClr val="0F3D2E"/>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0F3D2E"/>
              </a:buClr>
              <a:buSzPts val="1300"/>
              <a:buFont typeface="Source Sans 3"/>
              <a:buNone/>
            </a:pPr>
            <a:r>
              <a:t/>
            </a:r>
            <a:endParaRPr b="1" sz="1300">
              <a:solidFill>
                <a:srgbClr val="0F3D2E"/>
              </a:solidFill>
              <a:latin typeface="Source Sans 3"/>
              <a:ea typeface="Source Sans 3"/>
              <a:cs typeface="Source Sans 3"/>
              <a:sym typeface="Source Sans 3"/>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EE"/>
        </a:solidFill>
      </p:bgPr>
    </p:bg>
    <p:spTree>
      <p:nvGrpSpPr>
        <p:cNvPr id="254" name="Shape 254"/>
        <p:cNvGrpSpPr/>
        <p:nvPr/>
      </p:nvGrpSpPr>
      <p:grpSpPr>
        <a:xfrm>
          <a:off x="0" y="0"/>
          <a:ext cx="0" cy="0"/>
          <a:chOff x="0" y="0"/>
          <a:chExt cx="0" cy="0"/>
        </a:xfrm>
      </p:grpSpPr>
      <p:sp>
        <p:nvSpPr>
          <p:cNvPr id="255" name="Google Shape;255;p9"/>
          <p:cNvSpPr/>
          <p:nvPr/>
        </p:nvSpPr>
        <p:spPr>
          <a:xfrm>
            <a:off x="0" y="0"/>
            <a:ext cx="12192000" cy="888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9E1B32"/>
              </a:buClr>
              <a:buSzPts val="1200"/>
              <a:buFont typeface="Source Sans 3"/>
              <a:buNone/>
            </a:pPr>
            <a:r>
              <a:rPr b="1" lang="en-US" sz="1200">
                <a:solidFill>
                  <a:srgbClr val="9E1B32"/>
                </a:solidFill>
                <a:latin typeface="Source Sans 3"/>
                <a:ea typeface="Source Sans 3"/>
                <a:cs typeface="Source Sans 3"/>
                <a:sym typeface="Source Sans 3"/>
              </a:rPr>
              <a:t>FINDINGS FOR H2</a:t>
            </a:r>
            <a:endParaRPr sz="120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9E1B32"/>
              </a:buClr>
              <a:buSzPts val="1200"/>
              <a:buFont typeface="Source Sans 3"/>
              <a:buNone/>
            </a:pPr>
            <a:r>
              <a:t/>
            </a:r>
            <a:endParaRPr b="1" sz="1200">
              <a:solidFill>
                <a:srgbClr val="9E1B32"/>
              </a:solidFill>
              <a:latin typeface="Source Sans 3"/>
              <a:ea typeface="Source Sans 3"/>
              <a:cs typeface="Source Sans 3"/>
              <a:sym typeface="Source Sans 3"/>
            </a:endParaRPr>
          </a:p>
        </p:txBody>
      </p:sp>
      <p:sp>
        <p:nvSpPr>
          <p:cNvPr id="257" name="Google Shape;257;p9"/>
          <p:cNvSpPr/>
          <p:nvPr/>
        </p:nvSpPr>
        <p:spPr>
          <a:xfrm>
            <a:off x="812800" y="11150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A24"/>
              </a:buClr>
              <a:buSzPts val="3200"/>
              <a:buFont typeface="Playfair Display"/>
              <a:buNone/>
            </a:pPr>
            <a:r>
              <a:rPr b="1" lang="en-US" sz="3200">
                <a:solidFill>
                  <a:srgbClr val="1D2A24"/>
                </a:solidFill>
                <a:latin typeface="Playfair Display"/>
                <a:ea typeface="Playfair Display"/>
                <a:cs typeface="Playfair Display"/>
                <a:sym typeface="Playfair Display"/>
              </a:rPr>
              <a:t>LT prices x ST rentals -</a:t>
            </a:r>
            <a:r>
              <a:rPr b="1" lang="en-US" sz="3200">
                <a:solidFill>
                  <a:srgbClr val="1D2A24"/>
                </a:solidFill>
                <a:latin typeface="Playfair Display"/>
                <a:ea typeface="Playfair Display"/>
                <a:cs typeface="Playfair Display"/>
                <a:sym typeface="Playfair Display"/>
              </a:rPr>
              <a:t> a fair comparasion €/m²</a:t>
            </a:r>
            <a:endParaRPr b="1" sz="3200">
              <a:solidFill>
                <a:srgbClr val="1D2A24"/>
              </a:solidFill>
              <a:latin typeface="Playfair Display"/>
              <a:ea typeface="Playfair Display"/>
              <a:cs typeface="Playfair Display"/>
              <a:sym typeface="Playfair Display"/>
            </a:endParaRPr>
          </a:p>
          <a:p>
            <a:pPr indent="0" lvl="0" marL="0" marR="0" rtl="0" algn="l">
              <a:lnSpc>
                <a:spcPct val="110000"/>
              </a:lnSpc>
              <a:spcBef>
                <a:spcPts val="0"/>
              </a:spcBef>
              <a:spcAft>
                <a:spcPts val="0"/>
              </a:spcAft>
              <a:buClr>
                <a:srgbClr val="1D2A24"/>
              </a:buClr>
              <a:buSzPts val="3200"/>
              <a:buFont typeface="Playfair Display"/>
              <a:buNone/>
            </a:pPr>
            <a:r>
              <a:t/>
            </a:r>
            <a:endParaRPr b="1" sz="3200">
              <a:solidFill>
                <a:srgbClr val="1D2A24"/>
              </a:solidFill>
              <a:latin typeface="Playfair Display"/>
              <a:ea typeface="Playfair Display"/>
              <a:cs typeface="Playfair Display"/>
              <a:sym typeface="Playfair Display"/>
            </a:endParaRPr>
          </a:p>
        </p:txBody>
      </p:sp>
      <p:sp>
        <p:nvSpPr>
          <p:cNvPr id="258" name="Google Shape;258;p9"/>
          <p:cNvSpPr/>
          <p:nvPr/>
        </p:nvSpPr>
        <p:spPr>
          <a:xfrm>
            <a:off x="812800" y="5552281"/>
            <a:ext cx="10883400" cy="238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9E1B32"/>
              </a:buClr>
              <a:buSzPts val="1100"/>
              <a:buFont typeface="Source Sans 3"/>
              <a:buNone/>
            </a:pPr>
            <a:r>
              <a:rPr b="1" lang="en-US" sz="1100">
                <a:solidFill>
                  <a:srgbClr val="9E1B32"/>
                </a:solidFill>
                <a:latin typeface="Source Sans 3"/>
                <a:ea typeface="Source Sans 3"/>
                <a:cs typeface="Source Sans 3"/>
                <a:sym typeface="Source Sans 3"/>
              </a:rPr>
              <a:t>Method: </a:t>
            </a:r>
            <a:r>
              <a:rPr lang="en-US" sz="1100">
                <a:solidFill>
                  <a:srgbClr val="6F7470"/>
                </a:solidFill>
                <a:latin typeface="Source Sans 3"/>
                <a:ea typeface="Source Sans 3"/>
                <a:cs typeface="Source Sans 3"/>
                <a:sym typeface="Source Sans 3"/>
              </a:rPr>
              <a:t>rent growth 1Q 2020 → 2Q 2026 · above / below the median of NEW short-term rentals (since April 2020) per 1,000 residents, within the same size group</a:t>
            </a:r>
            <a:endParaRPr sz="110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6F7470"/>
              </a:buClr>
              <a:buSzPts val="1200"/>
              <a:buFont typeface="Source Sans 3"/>
              <a:buNone/>
            </a:pPr>
            <a:r>
              <a:t/>
            </a:r>
            <a:endParaRPr b="1" sz="1200">
              <a:solidFill>
                <a:srgbClr val="6F7470"/>
              </a:solidFill>
              <a:latin typeface="Source Sans 3"/>
              <a:ea typeface="Source Sans 3"/>
              <a:cs typeface="Source Sans 3"/>
              <a:sym typeface="Source Sans 3"/>
            </a:endParaRPr>
          </a:p>
        </p:txBody>
      </p:sp>
      <p:sp>
        <p:nvSpPr>
          <p:cNvPr id="259" name="Google Shape;259;p9"/>
          <p:cNvSpPr/>
          <p:nvPr/>
        </p:nvSpPr>
        <p:spPr>
          <a:xfrm>
            <a:off x="812800" y="62382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7</a:t>
            </a:r>
            <a:endParaRPr b="0" i="0" sz="1200" u="none" cap="none" strike="noStrike">
              <a:solidFill>
                <a:schemeClr val="dk1"/>
              </a:solidFill>
              <a:latin typeface="Calibri"/>
              <a:ea typeface="Calibri"/>
              <a:cs typeface="Calibri"/>
              <a:sym typeface="Calibri"/>
            </a:endParaRPr>
          </a:p>
        </p:txBody>
      </p:sp>
      <p:grpSp>
        <p:nvGrpSpPr>
          <p:cNvPr id="260" name="Google Shape;260;p9"/>
          <p:cNvGrpSpPr/>
          <p:nvPr/>
        </p:nvGrpSpPr>
        <p:grpSpPr>
          <a:xfrm>
            <a:off x="808971" y="2536495"/>
            <a:ext cx="1906042" cy="439050"/>
            <a:chOff x="2502171" y="2490482"/>
            <a:chExt cx="1906042" cy="439050"/>
          </a:xfrm>
        </p:grpSpPr>
        <p:sp>
          <p:nvSpPr>
            <p:cNvPr id="261" name="Google Shape;261;p9"/>
            <p:cNvSpPr/>
            <p:nvPr/>
          </p:nvSpPr>
          <p:spPr>
            <a:xfrm>
              <a:off x="2502171" y="2524751"/>
              <a:ext cx="137100" cy="137100"/>
            </a:xfrm>
            <a:prstGeom prst="rect">
              <a:avLst/>
            </a:prstGeom>
            <a:solidFill>
              <a:srgbClr val="A9C2B3"/>
            </a:solidFill>
            <a:ln cap="flat" cmpd="sng" w="9525">
              <a:solidFill>
                <a:srgbClr val="A9C2B3"/>
              </a:solidFill>
              <a:prstDash val="solid"/>
              <a:round/>
              <a:headEnd len="sm" w="sm" type="none"/>
              <a:tailEnd len="sm" w="sm" type="none"/>
            </a:ln>
          </p:spPr>
          <p:txBody>
            <a:bodyPr anchorCtr="0" anchor="ctr" bIns="68525" lIns="68525" spcFirstLastPara="1" rIns="68525" wrap="square" tIns="68525">
              <a:noAutofit/>
            </a:bodyPr>
            <a:lstStyle/>
            <a:p>
              <a:pPr indent="0" lvl="0" marL="0" rtl="0" algn="l">
                <a:spcBef>
                  <a:spcPts val="0"/>
                </a:spcBef>
                <a:spcAft>
                  <a:spcPts val="0"/>
                </a:spcAft>
                <a:buNone/>
              </a:pPr>
              <a:r>
                <a:t/>
              </a:r>
              <a:endParaRPr/>
            </a:p>
          </p:txBody>
        </p:sp>
        <p:sp>
          <p:nvSpPr>
            <p:cNvPr id="262" name="Google Shape;262;p9"/>
            <p:cNvSpPr txBox="1"/>
            <p:nvPr/>
          </p:nvSpPr>
          <p:spPr>
            <a:xfrm>
              <a:off x="2694075" y="2490482"/>
              <a:ext cx="1713300" cy="20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50"/>
                </a:buClr>
                <a:buSzPts val="824"/>
                <a:buFont typeface="Source Sans 3"/>
                <a:buNone/>
              </a:pPr>
              <a:r>
                <a:rPr b="1" i="0" lang="en-US" sz="750" u="none" cap="none" strike="noStrike">
                  <a:solidFill>
                    <a:srgbClr val="4B5550"/>
                  </a:solidFill>
                  <a:latin typeface="Source Sans 3"/>
                  <a:ea typeface="Source Sans 3"/>
                  <a:cs typeface="Source Sans 3"/>
                  <a:sym typeface="Source Sans 3"/>
                </a:rPr>
                <a:t>Fewer short-term rentals</a:t>
              </a:r>
              <a:endParaRPr b="1" i="0" sz="750" u="none" cap="none" strike="noStrike">
                <a:solidFill>
                  <a:srgbClr val="000000"/>
                </a:solidFill>
                <a:latin typeface="Calibri"/>
                <a:ea typeface="Calibri"/>
                <a:cs typeface="Calibri"/>
                <a:sym typeface="Calibri"/>
              </a:endParaRPr>
            </a:p>
          </p:txBody>
        </p:sp>
        <p:sp>
          <p:nvSpPr>
            <p:cNvPr id="263" name="Google Shape;263;p9"/>
            <p:cNvSpPr/>
            <p:nvPr/>
          </p:nvSpPr>
          <p:spPr>
            <a:xfrm>
              <a:off x="2503009" y="2758301"/>
              <a:ext cx="137100" cy="137100"/>
            </a:xfrm>
            <a:prstGeom prst="rect">
              <a:avLst/>
            </a:prstGeom>
            <a:solidFill>
              <a:srgbClr val="2E6B52"/>
            </a:solidFill>
            <a:ln cap="flat" cmpd="sng" w="9525">
              <a:solidFill>
                <a:srgbClr val="2E6B52"/>
              </a:solidFill>
              <a:prstDash val="solid"/>
              <a:round/>
              <a:headEnd len="sm" w="sm" type="none"/>
              <a:tailEnd len="sm" w="sm" type="none"/>
            </a:ln>
          </p:spPr>
          <p:txBody>
            <a:bodyPr anchorCtr="0" anchor="ctr" bIns="68525" lIns="68525" spcFirstLastPara="1" rIns="68525" wrap="square" tIns="68525">
              <a:noAutofit/>
            </a:bodyPr>
            <a:lstStyle/>
            <a:p>
              <a:pPr indent="0" lvl="0" marL="0" rtl="0" algn="l">
                <a:spcBef>
                  <a:spcPts val="0"/>
                </a:spcBef>
                <a:spcAft>
                  <a:spcPts val="0"/>
                </a:spcAft>
                <a:buNone/>
              </a:pPr>
              <a:r>
                <a:t/>
              </a:r>
              <a:endParaRPr/>
            </a:p>
          </p:txBody>
        </p:sp>
        <p:sp>
          <p:nvSpPr>
            <p:cNvPr id="264" name="Google Shape;264;p9"/>
            <p:cNvSpPr txBox="1"/>
            <p:nvPr/>
          </p:nvSpPr>
          <p:spPr>
            <a:xfrm>
              <a:off x="2694913" y="2724032"/>
              <a:ext cx="1713300" cy="20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50"/>
                </a:buClr>
                <a:buSzPts val="824"/>
                <a:buFont typeface="Source Sans 3"/>
                <a:buNone/>
              </a:pPr>
              <a:r>
                <a:rPr b="1" i="0" lang="en-US" sz="750" u="none" cap="none" strike="noStrike">
                  <a:solidFill>
                    <a:srgbClr val="4B5550"/>
                  </a:solidFill>
                  <a:latin typeface="Source Sans 3"/>
                  <a:ea typeface="Source Sans 3"/>
                  <a:cs typeface="Source Sans 3"/>
                  <a:sym typeface="Source Sans 3"/>
                </a:rPr>
                <a:t>More short-term rentals</a:t>
              </a:r>
              <a:endParaRPr b="1" i="0" sz="750" u="none" cap="none" strike="noStrike">
                <a:solidFill>
                  <a:srgbClr val="000000"/>
                </a:solidFill>
                <a:latin typeface="Calibri"/>
                <a:ea typeface="Calibri"/>
                <a:cs typeface="Calibri"/>
                <a:sym typeface="Calibri"/>
              </a:endParaRPr>
            </a:p>
          </p:txBody>
        </p:sp>
      </p:grpSp>
      <p:sp>
        <p:nvSpPr>
          <p:cNvPr id="265" name="Google Shape;265;p9"/>
          <p:cNvSpPr/>
          <p:nvPr/>
        </p:nvSpPr>
        <p:spPr>
          <a:xfrm>
            <a:off x="995669" y="4014603"/>
            <a:ext cx="731100" cy="812700"/>
          </a:xfrm>
          <a:prstGeom prst="rect">
            <a:avLst/>
          </a:prstGeom>
          <a:solidFill>
            <a:srgbClr val="A9C2B3"/>
          </a:solidFill>
          <a:ln cap="flat" cmpd="sng" w="9675">
            <a:solidFill>
              <a:srgbClr val="A9C2B3"/>
            </a:solidFill>
            <a:prstDash val="solid"/>
            <a:round/>
            <a:headEnd len="sm" w="sm" type="none"/>
            <a:tailEnd len="sm" w="sm" type="none"/>
          </a:ln>
        </p:spPr>
        <p:txBody>
          <a:bodyPr anchorCtr="0" anchor="ctr" bIns="69650" lIns="69650" spcFirstLastPara="1" rIns="69650" wrap="square" tIns="69650">
            <a:noAutofit/>
          </a:bodyPr>
          <a:lstStyle/>
          <a:p>
            <a:pPr indent="0" lvl="0" marL="0" rtl="0" algn="l">
              <a:spcBef>
                <a:spcPts val="0"/>
              </a:spcBef>
              <a:spcAft>
                <a:spcPts val="0"/>
              </a:spcAft>
              <a:buNone/>
            </a:pPr>
            <a:r>
              <a:t/>
            </a:r>
            <a:endParaRPr/>
          </a:p>
        </p:txBody>
      </p:sp>
      <p:sp>
        <p:nvSpPr>
          <p:cNvPr id="266" name="Google Shape;266;p9"/>
          <p:cNvSpPr txBox="1"/>
          <p:nvPr/>
        </p:nvSpPr>
        <p:spPr>
          <a:xfrm>
            <a:off x="821508" y="3666280"/>
            <a:ext cx="1080000" cy="3207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1D2A24"/>
              </a:buClr>
              <a:buSzPts val="1067"/>
              <a:buFont typeface="Source Sans 3"/>
              <a:buNone/>
            </a:pPr>
            <a:r>
              <a:rPr b="1" i="0" lang="en-US" sz="1100" u="none" cap="none" strike="noStrike">
                <a:solidFill>
                  <a:srgbClr val="4B5550"/>
                </a:solidFill>
                <a:latin typeface="Source Sans 3"/>
                <a:ea typeface="Source Sans 3"/>
                <a:cs typeface="Source Sans 3"/>
                <a:sym typeface="Source Sans 3"/>
              </a:rPr>
              <a:t>5.26 €</a:t>
            </a:r>
            <a:endParaRPr b="0" i="0" sz="1100" u="none" cap="none" strike="noStrike">
              <a:solidFill>
                <a:srgbClr val="4B5550"/>
              </a:solidFill>
              <a:latin typeface="Calibri"/>
              <a:ea typeface="Calibri"/>
              <a:cs typeface="Calibri"/>
              <a:sym typeface="Calibri"/>
            </a:endParaRPr>
          </a:p>
        </p:txBody>
      </p:sp>
      <p:sp>
        <p:nvSpPr>
          <p:cNvPr id="267" name="Google Shape;267;p9"/>
          <p:cNvSpPr/>
          <p:nvPr/>
        </p:nvSpPr>
        <p:spPr>
          <a:xfrm>
            <a:off x="1796807" y="4040862"/>
            <a:ext cx="731100" cy="786300"/>
          </a:xfrm>
          <a:prstGeom prst="rect">
            <a:avLst/>
          </a:prstGeom>
          <a:solidFill>
            <a:srgbClr val="2E6B52"/>
          </a:solidFill>
          <a:ln cap="flat" cmpd="sng" w="9675">
            <a:solidFill>
              <a:srgbClr val="2E6B52"/>
            </a:solidFill>
            <a:prstDash val="solid"/>
            <a:round/>
            <a:headEnd len="sm" w="sm" type="none"/>
            <a:tailEnd len="sm" w="sm" type="none"/>
          </a:ln>
        </p:spPr>
        <p:txBody>
          <a:bodyPr anchorCtr="0" anchor="ctr" bIns="69650" lIns="69650" spcFirstLastPara="1" rIns="69650" wrap="square" tIns="69650">
            <a:noAutofit/>
          </a:bodyPr>
          <a:lstStyle/>
          <a:p>
            <a:pPr indent="0" lvl="0" marL="0" rtl="0" algn="l">
              <a:spcBef>
                <a:spcPts val="0"/>
              </a:spcBef>
              <a:spcAft>
                <a:spcPts val="0"/>
              </a:spcAft>
              <a:buNone/>
            </a:pPr>
            <a:r>
              <a:t/>
            </a:r>
            <a:endParaRPr/>
          </a:p>
        </p:txBody>
      </p:sp>
      <p:sp>
        <p:nvSpPr>
          <p:cNvPr id="268" name="Google Shape;268;p9"/>
          <p:cNvSpPr txBox="1"/>
          <p:nvPr/>
        </p:nvSpPr>
        <p:spPr>
          <a:xfrm>
            <a:off x="1622647" y="3692540"/>
            <a:ext cx="1080000" cy="3207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1D2A24"/>
              </a:buClr>
              <a:buSzPts val="1067"/>
              <a:buFont typeface="Source Sans 3"/>
              <a:buNone/>
            </a:pPr>
            <a:r>
              <a:rPr b="1" i="0" lang="en-US" sz="1100" u="none" cap="none" strike="noStrike">
                <a:solidFill>
                  <a:srgbClr val="4B5550"/>
                </a:solidFill>
                <a:latin typeface="Source Sans 3"/>
                <a:ea typeface="Source Sans 3"/>
                <a:cs typeface="Source Sans 3"/>
                <a:sym typeface="Source Sans 3"/>
              </a:rPr>
              <a:t>5.09 €</a:t>
            </a:r>
            <a:endParaRPr b="0" i="0" sz="1100" u="none" cap="none" strike="noStrike">
              <a:solidFill>
                <a:srgbClr val="4B5550"/>
              </a:solidFill>
              <a:latin typeface="Calibri"/>
              <a:ea typeface="Calibri"/>
              <a:cs typeface="Calibri"/>
              <a:sym typeface="Calibri"/>
            </a:endParaRPr>
          </a:p>
        </p:txBody>
      </p:sp>
      <p:sp>
        <p:nvSpPr>
          <p:cNvPr id="269" name="Google Shape;269;p9"/>
          <p:cNvSpPr txBox="1"/>
          <p:nvPr/>
        </p:nvSpPr>
        <p:spPr>
          <a:xfrm>
            <a:off x="812800" y="4882865"/>
            <a:ext cx="1898400" cy="313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76"/>
              <a:buFont typeface="Source Sans 3"/>
              <a:buNone/>
            </a:pPr>
            <a:r>
              <a:rPr b="0" i="0" lang="en-US" sz="876" u="none" cap="none" strike="noStrike">
                <a:solidFill>
                  <a:srgbClr val="1D2A24"/>
                </a:solidFill>
                <a:latin typeface="Source Sans 3"/>
                <a:ea typeface="Source Sans 3"/>
                <a:cs typeface="Source Sans 3"/>
                <a:sym typeface="Source Sans 3"/>
              </a:rPr>
              <a:t>Small</a:t>
            </a:r>
            <a:endParaRPr b="0" i="0" sz="876"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D2A24"/>
              </a:buClr>
              <a:buSzPts val="876"/>
              <a:buFont typeface="Source Sans 3"/>
              <a:buNone/>
            </a:pPr>
            <a:r>
              <a:rPr b="0" i="0" lang="en-US" sz="876" u="none" cap="none" strike="noStrike">
                <a:solidFill>
                  <a:srgbClr val="1D2A24"/>
                </a:solidFill>
                <a:latin typeface="Source Sans 3"/>
                <a:ea typeface="Source Sans 3"/>
                <a:cs typeface="Source Sans 3"/>
                <a:sym typeface="Source Sans 3"/>
              </a:rPr>
              <a:t>≤ 50,000 residents</a:t>
            </a:r>
            <a:endParaRPr b="0" i="0" sz="876" u="none" cap="none" strike="noStrike">
              <a:solidFill>
                <a:srgbClr val="000000"/>
              </a:solidFill>
              <a:latin typeface="Calibri"/>
              <a:ea typeface="Calibri"/>
              <a:cs typeface="Calibri"/>
              <a:sym typeface="Calibri"/>
            </a:endParaRPr>
          </a:p>
        </p:txBody>
      </p:sp>
      <p:sp>
        <p:nvSpPr>
          <p:cNvPr id="270" name="Google Shape;270;p9"/>
          <p:cNvSpPr/>
          <p:nvPr/>
        </p:nvSpPr>
        <p:spPr>
          <a:xfrm>
            <a:off x="2894019" y="3758176"/>
            <a:ext cx="731100" cy="1069200"/>
          </a:xfrm>
          <a:prstGeom prst="rect">
            <a:avLst/>
          </a:prstGeom>
          <a:solidFill>
            <a:srgbClr val="A9C2B3"/>
          </a:solidFill>
          <a:ln cap="flat" cmpd="sng" w="9675">
            <a:solidFill>
              <a:srgbClr val="A9C2B3"/>
            </a:solidFill>
            <a:prstDash val="solid"/>
            <a:round/>
            <a:headEnd len="sm" w="sm" type="none"/>
            <a:tailEnd len="sm" w="sm" type="none"/>
          </a:ln>
        </p:spPr>
        <p:txBody>
          <a:bodyPr anchorCtr="0" anchor="ctr" bIns="69650" lIns="69650" spcFirstLastPara="1" rIns="69650" wrap="square" tIns="69650">
            <a:noAutofit/>
          </a:bodyPr>
          <a:lstStyle/>
          <a:p>
            <a:pPr indent="0" lvl="0" marL="0" rtl="0" algn="l">
              <a:spcBef>
                <a:spcPts val="0"/>
              </a:spcBef>
              <a:spcAft>
                <a:spcPts val="0"/>
              </a:spcAft>
              <a:buNone/>
            </a:pPr>
            <a:r>
              <a:t/>
            </a:r>
            <a:endParaRPr/>
          </a:p>
        </p:txBody>
      </p:sp>
      <p:sp>
        <p:nvSpPr>
          <p:cNvPr id="271" name="Google Shape;271;p9"/>
          <p:cNvSpPr txBox="1"/>
          <p:nvPr/>
        </p:nvSpPr>
        <p:spPr>
          <a:xfrm>
            <a:off x="2719858" y="3409853"/>
            <a:ext cx="1080000" cy="3207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1D2A24"/>
              </a:buClr>
              <a:buSzPts val="1067"/>
              <a:buFont typeface="Source Sans 3"/>
              <a:buNone/>
            </a:pPr>
            <a:r>
              <a:rPr b="1" i="0" lang="en-US" sz="1100" u="none" cap="none" strike="noStrike">
                <a:solidFill>
                  <a:srgbClr val="4B5550"/>
                </a:solidFill>
                <a:latin typeface="Source Sans 3"/>
                <a:ea typeface="Source Sans 3"/>
                <a:cs typeface="Source Sans 3"/>
                <a:sym typeface="Source Sans 3"/>
              </a:rPr>
              <a:t>6.92 €</a:t>
            </a:r>
            <a:endParaRPr b="0" i="0" sz="1100" u="none" cap="none" strike="noStrike">
              <a:solidFill>
                <a:srgbClr val="4B5550"/>
              </a:solidFill>
              <a:latin typeface="Calibri"/>
              <a:ea typeface="Calibri"/>
              <a:cs typeface="Calibri"/>
              <a:sym typeface="Calibri"/>
            </a:endParaRPr>
          </a:p>
        </p:txBody>
      </p:sp>
      <p:sp>
        <p:nvSpPr>
          <p:cNvPr id="272" name="Google Shape;272;p9"/>
          <p:cNvSpPr/>
          <p:nvPr/>
        </p:nvSpPr>
        <p:spPr>
          <a:xfrm>
            <a:off x="3695157" y="3321016"/>
            <a:ext cx="731100" cy="1506300"/>
          </a:xfrm>
          <a:prstGeom prst="rect">
            <a:avLst/>
          </a:prstGeom>
          <a:solidFill>
            <a:srgbClr val="9E1B32"/>
          </a:solidFill>
          <a:ln cap="flat" cmpd="sng" w="9675">
            <a:solidFill>
              <a:srgbClr val="9E1B32"/>
            </a:solidFill>
            <a:prstDash val="solid"/>
            <a:round/>
            <a:headEnd len="sm" w="sm" type="none"/>
            <a:tailEnd len="sm" w="sm" type="none"/>
          </a:ln>
        </p:spPr>
        <p:txBody>
          <a:bodyPr anchorCtr="0" anchor="ctr" bIns="69650" lIns="69650" spcFirstLastPara="1" rIns="69650" wrap="square" tIns="69650">
            <a:noAutofit/>
          </a:bodyPr>
          <a:lstStyle/>
          <a:p>
            <a:pPr indent="0" lvl="0" marL="0" rtl="0" algn="l">
              <a:spcBef>
                <a:spcPts val="0"/>
              </a:spcBef>
              <a:spcAft>
                <a:spcPts val="0"/>
              </a:spcAft>
              <a:buNone/>
            </a:pPr>
            <a:r>
              <a:t/>
            </a:r>
            <a:endParaRPr/>
          </a:p>
        </p:txBody>
      </p:sp>
      <p:sp>
        <p:nvSpPr>
          <p:cNvPr id="273" name="Google Shape;273;p9"/>
          <p:cNvSpPr txBox="1"/>
          <p:nvPr/>
        </p:nvSpPr>
        <p:spPr>
          <a:xfrm>
            <a:off x="3520997" y="2972693"/>
            <a:ext cx="1080000" cy="3207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Clr>
                <a:srgbClr val="1D2A24"/>
              </a:buClr>
              <a:buSzPts val="1067"/>
              <a:buFont typeface="Source Sans 3"/>
              <a:buNone/>
            </a:pPr>
            <a:r>
              <a:rPr b="1" i="0" lang="en-US" sz="1100" u="none" cap="none" strike="noStrike">
                <a:solidFill>
                  <a:srgbClr val="4B5550"/>
                </a:solidFill>
                <a:latin typeface="Source Sans 3"/>
                <a:ea typeface="Source Sans 3"/>
                <a:cs typeface="Source Sans 3"/>
                <a:sym typeface="Source Sans 3"/>
              </a:rPr>
              <a:t>9.75 €</a:t>
            </a:r>
            <a:endParaRPr b="0" i="0" sz="1100" u="none" cap="none" strike="noStrike">
              <a:solidFill>
                <a:srgbClr val="4B5550"/>
              </a:solidFill>
              <a:latin typeface="Calibri"/>
              <a:ea typeface="Calibri"/>
              <a:cs typeface="Calibri"/>
              <a:sym typeface="Calibri"/>
            </a:endParaRPr>
          </a:p>
        </p:txBody>
      </p:sp>
      <p:sp>
        <p:nvSpPr>
          <p:cNvPr id="274" name="Google Shape;274;p9"/>
          <p:cNvSpPr txBox="1"/>
          <p:nvPr/>
        </p:nvSpPr>
        <p:spPr>
          <a:xfrm>
            <a:off x="2711150" y="4882865"/>
            <a:ext cx="1898400" cy="3135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76"/>
              <a:buFont typeface="Source Sans 3"/>
              <a:buNone/>
            </a:pPr>
            <a:r>
              <a:rPr b="0" i="0" lang="en-US" sz="876" u="none" cap="none" strike="noStrike">
                <a:solidFill>
                  <a:srgbClr val="1D2A24"/>
                </a:solidFill>
                <a:latin typeface="Source Sans 3"/>
                <a:ea typeface="Source Sans 3"/>
                <a:cs typeface="Source Sans 3"/>
                <a:sym typeface="Source Sans 3"/>
              </a:rPr>
              <a:t>Large</a:t>
            </a:r>
            <a:endParaRPr b="0" i="0" sz="876"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1D2A24"/>
              </a:buClr>
              <a:buSzPts val="876"/>
              <a:buFont typeface="Source Sans 3"/>
              <a:buNone/>
            </a:pPr>
            <a:r>
              <a:rPr b="0" i="0" lang="en-US" sz="876" u="none" cap="none" strike="noStrike">
                <a:solidFill>
                  <a:srgbClr val="1D2A24"/>
                </a:solidFill>
                <a:latin typeface="Source Sans 3"/>
                <a:ea typeface="Source Sans 3"/>
                <a:cs typeface="Source Sans 3"/>
                <a:sym typeface="Source Sans 3"/>
              </a:rPr>
              <a:t>&gt; 50,000 residents</a:t>
            </a:r>
            <a:endParaRPr b="0" i="0" sz="876" u="none" cap="none" strike="noStrike">
              <a:solidFill>
                <a:srgbClr val="000000"/>
              </a:solidFill>
              <a:latin typeface="Calibri"/>
              <a:ea typeface="Calibri"/>
              <a:cs typeface="Calibri"/>
              <a:sym typeface="Calibri"/>
            </a:endParaRPr>
          </a:p>
        </p:txBody>
      </p:sp>
      <p:cxnSp>
        <p:nvCxnSpPr>
          <p:cNvPr id="275" name="Google Shape;275;p9"/>
          <p:cNvCxnSpPr/>
          <p:nvPr/>
        </p:nvCxnSpPr>
        <p:spPr>
          <a:xfrm>
            <a:off x="812800" y="4827134"/>
            <a:ext cx="3796800" cy="0"/>
          </a:xfrm>
          <a:prstGeom prst="straightConnector1">
            <a:avLst/>
          </a:prstGeom>
          <a:noFill/>
          <a:ln cap="flat" cmpd="sng" w="9675">
            <a:solidFill>
              <a:srgbClr val="C9BFA9"/>
            </a:solidFill>
            <a:prstDash val="solid"/>
            <a:round/>
            <a:headEnd len="sm" w="sm" type="none"/>
            <a:tailEnd len="sm" w="sm" type="none"/>
          </a:ln>
        </p:spPr>
      </p:cxnSp>
      <p:sp>
        <p:nvSpPr>
          <p:cNvPr id="276" name="Google Shape;276;p9"/>
          <p:cNvSpPr/>
          <p:nvPr/>
        </p:nvSpPr>
        <p:spPr>
          <a:xfrm>
            <a:off x="4065975" y="1809514"/>
            <a:ext cx="1768200" cy="1038900"/>
          </a:xfrm>
          <a:prstGeom prst="roundRect">
            <a:avLst>
              <a:gd fmla="val 5854" name="adj"/>
            </a:avLst>
          </a:prstGeom>
          <a:solidFill>
            <a:srgbClr val="FFFDF8"/>
          </a:solidFill>
          <a:ln cap="flat" cmpd="sng" w="4825">
            <a:solidFill>
              <a:srgbClr val="E2D8C3"/>
            </a:solidFill>
            <a:prstDash val="solid"/>
            <a:round/>
            <a:headEnd len="sm" w="sm" type="none"/>
            <a:tailEnd len="sm" w="sm" type="none"/>
          </a:ln>
          <a:effectLst>
            <a:outerShdw blurRad="38460" rotWithShape="0" algn="bl" dir="5400000" dist="12820">
              <a:srgbClr val="000000">
                <a:alpha val="7840"/>
              </a:srgbClr>
            </a:outerShdw>
          </a:effectLst>
        </p:spPr>
        <p:txBody>
          <a:bodyPr anchorCtr="0" anchor="ctr" bIns="46125" lIns="46125" spcFirstLastPara="1" rIns="46125" wrap="square" tIns="46125">
            <a:noAutofit/>
          </a:bodyPr>
          <a:lstStyle/>
          <a:p>
            <a:pPr indent="0" lvl="0" marL="0" rtl="0" algn="l">
              <a:spcBef>
                <a:spcPts val="0"/>
              </a:spcBef>
              <a:spcAft>
                <a:spcPts val="0"/>
              </a:spcAft>
              <a:buNone/>
            </a:pPr>
            <a:r>
              <a:t/>
            </a:r>
            <a:endParaRPr/>
          </a:p>
        </p:txBody>
      </p:sp>
      <p:sp>
        <p:nvSpPr>
          <p:cNvPr id="277" name="Google Shape;277;p9"/>
          <p:cNvSpPr txBox="1"/>
          <p:nvPr/>
        </p:nvSpPr>
        <p:spPr>
          <a:xfrm>
            <a:off x="4176479" y="1862386"/>
            <a:ext cx="1547100" cy="34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E1B32"/>
              </a:buClr>
              <a:buSzPts val="2374"/>
              <a:buFont typeface="Playfair Display"/>
              <a:buNone/>
            </a:pPr>
            <a:r>
              <a:rPr b="1" lang="en-US" sz="3000">
                <a:solidFill>
                  <a:srgbClr val="9E1B32"/>
                </a:solidFill>
                <a:latin typeface="Playfair Display"/>
                <a:ea typeface="Playfair Display"/>
                <a:cs typeface="Playfair Display"/>
                <a:sym typeface="Playfair Display"/>
              </a:rPr>
              <a:t>+41%</a:t>
            </a:r>
            <a:endParaRPr b="0" i="0" sz="3000" u="none" cap="none" strike="noStrike">
              <a:solidFill>
                <a:schemeClr val="dk1"/>
              </a:solidFill>
              <a:latin typeface="Calibri"/>
              <a:ea typeface="Calibri"/>
              <a:cs typeface="Calibri"/>
              <a:sym typeface="Calibri"/>
            </a:endParaRPr>
          </a:p>
        </p:txBody>
      </p:sp>
      <p:sp>
        <p:nvSpPr>
          <p:cNvPr id="278" name="Google Shape;278;p9"/>
          <p:cNvSpPr txBox="1"/>
          <p:nvPr/>
        </p:nvSpPr>
        <p:spPr>
          <a:xfrm>
            <a:off x="4195675" y="2270328"/>
            <a:ext cx="1638600" cy="43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50"/>
              </a:buClr>
              <a:buSzPts val="656"/>
              <a:buFont typeface="Source Sans 3"/>
              <a:buNone/>
            </a:pPr>
            <a:r>
              <a:rPr lang="en-US" sz="850">
                <a:solidFill>
                  <a:srgbClr val="4B5550"/>
                </a:solidFill>
                <a:latin typeface="Source Sans 3"/>
                <a:ea typeface="Source Sans 3"/>
                <a:cs typeface="Source Sans 3"/>
                <a:sym typeface="Source Sans 3"/>
              </a:rPr>
              <a:t>In Large municipalities with MORE ST rentals, </a:t>
            </a:r>
            <a:r>
              <a:rPr b="1" i="0" lang="en-US" sz="850" u="none" cap="none" strike="noStrike">
                <a:solidFill>
                  <a:srgbClr val="4B5550"/>
                </a:solidFill>
                <a:latin typeface="Source Sans 3"/>
                <a:ea typeface="Source Sans 3"/>
                <a:cs typeface="Source Sans 3"/>
                <a:sym typeface="Source Sans 3"/>
              </a:rPr>
              <a:t>higher prices for long-term rent </a:t>
            </a:r>
            <a:endParaRPr b="1" i="0" sz="850" u="none" cap="none" strike="noStrike">
              <a:solidFill>
                <a:schemeClr val="dk1"/>
              </a:solidFill>
              <a:latin typeface="Calibri"/>
              <a:ea typeface="Calibri"/>
              <a:cs typeface="Calibri"/>
              <a:sym typeface="Calibri"/>
            </a:endParaRPr>
          </a:p>
        </p:txBody>
      </p:sp>
      <p:sp>
        <p:nvSpPr>
          <p:cNvPr id="279" name="Google Shape;279;p9"/>
          <p:cNvSpPr/>
          <p:nvPr/>
        </p:nvSpPr>
        <p:spPr>
          <a:xfrm>
            <a:off x="9685325" y="1824459"/>
            <a:ext cx="1764900" cy="1038900"/>
          </a:xfrm>
          <a:prstGeom prst="roundRect">
            <a:avLst>
              <a:gd fmla="val 5854" name="adj"/>
            </a:avLst>
          </a:prstGeom>
          <a:solidFill>
            <a:srgbClr val="FFFDF8"/>
          </a:solidFill>
          <a:ln cap="flat" cmpd="sng" w="6450">
            <a:solidFill>
              <a:srgbClr val="E2D8C3"/>
            </a:solidFill>
            <a:prstDash val="solid"/>
            <a:round/>
            <a:headEnd len="sm" w="sm" type="none"/>
            <a:tailEnd len="sm" w="sm" type="none"/>
          </a:ln>
          <a:effectLst>
            <a:outerShdw blurRad="51680" rotWithShape="0" algn="bl" dir="5400000" dist="17227">
              <a:srgbClr val="000000">
                <a:alpha val="7840"/>
              </a:srgbClr>
            </a:outerShdw>
          </a:effectLst>
        </p:spPr>
        <p:txBody>
          <a:bodyPr anchorCtr="0" anchor="ctr" bIns="62000" lIns="62000" spcFirstLastPara="1" rIns="62000" wrap="square" tIns="62000">
            <a:noAutofit/>
          </a:bodyPr>
          <a:lstStyle/>
          <a:p>
            <a:pPr indent="0" lvl="0" marL="0" rtl="0" algn="l">
              <a:spcBef>
                <a:spcPts val="0"/>
              </a:spcBef>
              <a:spcAft>
                <a:spcPts val="0"/>
              </a:spcAft>
              <a:buNone/>
            </a:pPr>
            <a:r>
              <a:t/>
            </a:r>
            <a:endParaRPr/>
          </a:p>
        </p:txBody>
      </p:sp>
      <p:sp>
        <p:nvSpPr>
          <p:cNvPr id="280" name="Google Shape;280;p9"/>
          <p:cNvSpPr txBox="1"/>
          <p:nvPr/>
        </p:nvSpPr>
        <p:spPr>
          <a:xfrm>
            <a:off x="9811600" y="1881488"/>
            <a:ext cx="1407600" cy="39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1B32"/>
              </a:buClr>
              <a:buSzPts val="2713"/>
              <a:buFont typeface="Playfair Display"/>
              <a:buNone/>
            </a:pPr>
            <a:r>
              <a:rPr b="1" lang="en-US" sz="3041">
                <a:solidFill>
                  <a:srgbClr val="2E6B52"/>
                </a:solidFill>
                <a:latin typeface="Playfair Display"/>
                <a:ea typeface="Playfair Display"/>
                <a:cs typeface="Playfair Display"/>
                <a:sym typeface="Playfair Display"/>
              </a:rPr>
              <a:t>+71%</a:t>
            </a:r>
            <a:endParaRPr b="0" i="0" sz="2713" u="none" cap="none" strike="noStrike">
              <a:solidFill>
                <a:schemeClr val="dk1"/>
              </a:solidFill>
              <a:latin typeface="Calibri"/>
              <a:ea typeface="Calibri"/>
              <a:cs typeface="Calibri"/>
              <a:sym typeface="Calibri"/>
            </a:endParaRPr>
          </a:p>
        </p:txBody>
      </p:sp>
      <p:sp>
        <p:nvSpPr>
          <p:cNvPr id="281" name="Google Shape;281;p9"/>
          <p:cNvSpPr txBox="1"/>
          <p:nvPr/>
        </p:nvSpPr>
        <p:spPr>
          <a:xfrm>
            <a:off x="9811600" y="2304159"/>
            <a:ext cx="16386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50"/>
              </a:buClr>
              <a:buSzPts val="882"/>
              <a:buFont typeface="Source Sans 3"/>
              <a:buNone/>
            </a:pPr>
            <a:r>
              <a:rPr lang="en-US" sz="882">
                <a:solidFill>
                  <a:srgbClr val="4B5550"/>
                </a:solidFill>
                <a:latin typeface="Source Sans 3"/>
                <a:ea typeface="Source Sans 3"/>
                <a:cs typeface="Source Sans 3"/>
                <a:sym typeface="Source Sans 3"/>
              </a:rPr>
              <a:t>long-term rental prices rose everywhere</a:t>
            </a:r>
            <a:r>
              <a:rPr lang="en-US" sz="882">
                <a:solidFill>
                  <a:srgbClr val="4B5550"/>
                </a:solidFill>
                <a:latin typeface="Source Sans 3"/>
                <a:ea typeface="Source Sans 3"/>
                <a:cs typeface="Source Sans 3"/>
                <a:sym typeface="Source Sans 3"/>
              </a:rPr>
              <a:t> –</a:t>
            </a:r>
            <a:r>
              <a:rPr lang="en-US" sz="882">
                <a:solidFill>
                  <a:srgbClr val="4B5550"/>
                </a:solidFill>
                <a:latin typeface="Source Sans 3"/>
                <a:ea typeface="Source Sans 3"/>
                <a:cs typeface="Source Sans 3"/>
                <a:sym typeface="Source Sans 3"/>
              </a:rPr>
              <a:t> </a:t>
            </a:r>
            <a:r>
              <a:rPr b="1" lang="en-US" sz="882">
                <a:solidFill>
                  <a:srgbClr val="4B5550"/>
                </a:solidFill>
                <a:latin typeface="Source Sans 3"/>
                <a:ea typeface="Source Sans 3"/>
                <a:cs typeface="Source Sans 3"/>
                <a:sym typeface="Source Sans 3"/>
              </a:rPr>
              <a:t>not faster where short-term rentals grew</a:t>
            </a:r>
            <a:endParaRPr b="1" i="0" sz="882" u="none" cap="none" strike="noStrike">
              <a:solidFill>
                <a:schemeClr val="dk1"/>
              </a:solidFill>
              <a:latin typeface="Calibri"/>
              <a:ea typeface="Calibri"/>
              <a:cs typeface="Calibri"/>
              <a:sym typeface="Calibri"/>
            </a:endParaRPr>
          </a:p>
        </p:txBody>
      </p:sp>
      <p:sp>
        <p:nvSpPr>
          <p:cNvPr id="282" name="Google Shape;282;p9"/>
          <p:cNvSpPr/>
          <p:nvPr/>
        </p:nvSpPr>
        <p:spPr>
          <a:xfrm>
            <a:off x="6047371" y="2462007"/>
            <a:ext cx="1542300" cy="401100"/>
          </a:xfrm>
          <a:prstGeom prst="rect">
            <a:avLst/>
          </a:prstGeom>
          <a:noFill/>
          <a:ln>
            <a:noFill/>
          </a:ln>
        </p:spPr>
        <p:txBody>
          <a:bodyPr anchorCtr="0" anchor="ctr" bIns="77600" lIns="77600" spcFirstLastPara="1" rIns="77600" wrap="square" tIns="77600">
            <a:noAutofit/>
          </a:bodyPr>
          <a:lstStyle/>
          <a:p>
            <a:pPr indent="0" lvl="0" marL="0" rtl="0" algn="ctr">
              <a:spcBef>
                <a:spcPts val="0"/>
              </a:spcBef>
              <a:spcAft>
                <a:spcPts val="0"/>
              </a:spcAft>
              <a:buNone/>
            </a:pPr>
            <a:r>
              <a:t/>
            </a:r>
            <a:endParaRPr sz="1188"/>
          </a:p>
        </p:txBody>
      </p:sp>
      <p:sp>
        <p:nvSpPr>
          <p:cNvPr id="283" name="Google Shape;283;p9"/>
          <p:cNvSpPr/>
          <p:nvPr/>
        </p:nvSpPr>
        <p:spPr>
          <a:xfrm>
            <a:off x="6644188" y="3313314"/>
            <a:ext cx="724200" cy="1527900"/>
          </a:xfrm>
          <a:prstGeom prst="rect">
            <a:avLst/>
          </a:prstGeom>
          <a:solidFill>
            <a:srgbClr val="A9C2B3"/>
          </a:solidFill>
          <a:ln cap="flat" cmpd="sng" w="8050">
            <a:solidFill>
              <a:srgbClr val="A9C2B3"/>
            </a:solidFill>
            <a:prstDash val="solid"/>
            <a:round/>
            <a:headEnd len="sm" w="sm" type="none"/>
            <a:tailEnd len="sm" w="sm" type="none"/>
          </a:ln>
        </p:spPr>
        <p:txBody>
          <a:bodyPr anchorCtr="0" anchor="ctr" bIns="57900" lIns="57900" spcFirstLastPara="1" rIns="57900" wrap="square" tIns="57900">
            <a:noAutofit/>
          </a:bodyPr>
          <a:lstStyle/>
          <a:p>
            <a:pPr indent="0" lvl="0" marL="0" rtl="0" algn="l">
              <a:spcBef>
                <a:spcPts val="0"/>
              </a:spcBef>
              <a:spcAft>
                <a:spcPts val="0"/>
              </a:spcAft>
              <a:buNone/>
            </a:pPr>
            <a:r>
              <a:t/>
            </a:r>
            <a:endParaRPr/>
          </a:p>
        </p:txBody>
      </p:sp>
      <p:sp>
        <p:nvSpPr>
          <p:cNvPr id="284" name="Google Shape;284;p9"/>
          <p:cNvSpPr txBox="1"/>
          <p:nvPr/>
        </p:nvSpPr>
        <p:spPr>
          <a:xfrm>
            <a:off x="6528336" y="3108663"/>
            <a:ext cx="955800" cy="18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50"/>
              <a:buFont typeface="Source Sans 3"/>
              <a:buNone/>
            </a:pPr>
            <a:r>
              <a:rPr b="1" i="0" lang="en-US" sz="1100" u="none" cap="none" strike="noStrike">
                <a:solidFill>
                  <a:srgbClr val="4B5550"/>
                </a:solidFill>
                <a:latin typeface="Source Sans 3"/>
                <a:ea typeface="Source Sans 3"/>
                <a:cs typeface="Source Sans 3"/>
                <a:sym typeface="Source Sans 3"/>
              </a:rPr>
              <a:t>+74%</a:t>
            </a:r>
            <a:endParaRPr b="0" i="0" sz="1100" u="none" cap="none" strike="noStrike">
              <a:solidFill>
                <a:srgbClr val="4B5550"/>
              </a:solidFill>
              <a:latin typeface="Calibri"/>
              <a:ea typeface="Calibri"/>
              <a:cs typeface="Calibri"/>
              <a:sym typeface="Calibri"/>
            </a:endParaRPr>
          </a:p>
        </p:txBody>
      </p:sp>
      <p:sp>
        <p:nvSpPr>
          <p:cNvPr id="285" name="Google Shape;285;p9"/>
          <p:cNvSpPr/>
          <p:nvPr/>
        </p:nvSpPr>
        <p:spPr>
          <a:xfrm>
            <a:off x="7437774" y="3510275"/>
            <a:ext cx="724200" cy="1331100"/>
          </a:xfrm>
          <a:prstGeom prst="rect">
            <a:avLst/>
          </a:prstGeom>
          <a:solidFill>
            <a:srgbClr val="2E6B52"/>
          </a:solidFill>
          <a:ln cap="flat" cmpd="sng" w="8050">
            <a:solidFill>
              <a:srgbClr val="2E6B52"/>
            </a:solidFill>
            <a:prstDash val="solid"/>
            <a:round/>
            <a:headEnd len="sm" w="sm" type="none"/>
            <a:tailEnd len="sm" w="sm" type="none"/>
          </a:ln>
        </p:spPr>
        <p:txBody>
          <a:bodyPr anchorCtr="0" anchor="ctr" bIns="57900" lIns="57900" spcFirstLastPara="1" rIns="57900" wrap="square" tIns="57900">
            <a:noAutofit/>
          </a:bodyPr>
          <a:lstStyle/>
          <a:p>
            <a:pPr indent="0" lvl="0" marL="0" rtl="0" algn="l">
              <a:spcBef>
                <a:spcPts val="0"/>
              </a:spcBef>
              <a:spcAft>
                <a:spcPts val="0"/>
              </a:spcAft>
              <a:buNone/>
            </a:pPr>
            <a:r>
              <a:t/>
            </a:r>
            <a:endParaRPr/>
          </a:p>
        </p:txBody>
      </p:sp>
      <p:sp>
        <p:nvSpPr>
          <p:cNvPr id="286" name="Google Shape;286;p9"/>
          <p:cNvSpPr txBox="1"/>
          <p:nvPr/>
        </p:nvSpPr>
        <p:spPr>
          <a:xfrm>
            <a:off x="7321922" y="3305623"/>
            <a:ext cx="955800" cy="18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50"/>
              <a:buFont typeface="Source Sans 3"/>
              <a:buNone/>
            </a:pPr>
            <a:r>
              <a:rPr b="1" i="0" lang="en-US" sz="1100" u="none" cap="none" strike="noStrike">
                <a:solidFill>
                  <a:srgbClr val="4B5550"/>
                </a:solidFill>
                <a:latin typeface="Source Sans 3"/>
                <a:ea typeface="Source Sans 3"/>
                <a:cs typeface="Source Sans 3"/>
                <a:sym typeface="Source Sans 3"/>
              </a:rPr>
              <a:t>+64%</a:t>
            </a:r>
            <a:endParaRPr b="0" i="0" sz="1100" u="none" cap="none" strike="noStrike">
              <a:solidFill>
                <a:srgbClr val="4B5550"/>
              </a:solidFill>
              <a:latin typeface="Calibri"/>
              <a:ea typeface="Calibri"/>
              <a:cs typeface="Calibri"/>
              <a:sym typeface="Calibri"/>
            </a:endParaRPr>
          </a:p>
        </p:txBody>
      </p:sp>
      <p:sp>
        <p:nvSpPr>
          <p:cNvPr id="287" name="Google Shape;287;p9"/>
          <p:cNvSpPr txBox="1"/>
          <p:nvPr/>
        </p:nvSpPr>
        <p:spPr>
          <a:xfrm>
            <a:off x="6302425" y="4886792"/>
            <a:ext cx="2201100" cy="28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760"/>
              <a:buFont typeface="Source Sans 3"/>
              <a:buNone/>
            </a:pPr>
            <a:r>
              <a:rPr b="0" i="0" lang="en-US" sz="760" u="none" cap="none" strike="noStrike">
                <a:solidFill>
                  <a:srgbClr val="1D2A24"/>
                </a:solidFill>
                <a:latin typeface="Source Sans 3"/>
                <a:ea typeface="Source Sans 3"/>
                <a:cs typeface="Source Sans 3"/>
                <a:sym typeface="Source Sans 3"/>
              </a:rPr>
              <a:t>Small municipalities</a:t>
            </a:r>
            <a:endParaRPr b="0" i="0" sz="7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D2A24"/>
              </a:buClr>
              <a:buSzPts val="760"/>
              <a:buFont typeface="Source Sans 3"/>
              <a:buNone/>
            </a:pPr>
            <a:r>
              <a:rPr b="0" i="0" lang="en-US" sz="760" u="none" cap="none" strike="noStrike">
                <a:solidFill>
                  <a:srgbClr val="1D2A24"/>
                </a:solidFill>
                <a:latin typeface="Source Sans 3"/>
                <a:ea typeface="Source Sans 3"/>
                <a:cs typeface="Source Sans 3"/>
                <a:sym typeface="Source Sans 3"/>
              </a:rPr>
              <a:t>≤ 50,000 residents</a:t>
            </a:r>
            <a:endParaRPr b="0" i="0" sz="760" u="none" cap="none" strike="noStrike">
              <a:solidFill>
                <a:schemeClr val="dk1"/>
              </a:solidFill>
              <a:latin typeface="Calibri"/>
              <a:ea typeface="Calibri"/>
              <a:cs typeface="Calibri"/>
              <a:sym typeface="Calibri"/>
            </a:endParaRPr>
          </a:p>
        </p:txBody>
      </p:sp>
      <p:sp>
        <p:nvSpPr>
          <p:cNvPr id="288" name="Google Shape;288;p9"/>
          <p:cNvSpPr/>
          <p:nvPr/>
        </p:nvSpPr>
        <p:spPr>
          <a:xfrm>
            <a:off x="8845376" y="3280142"/>
            <a:ext cx="724200" cy="1561200"/>
          </a:xfrm>
          <a:prstGeom prst="rect">
            <a:avLst/>
          </a:prstGeom>
          <a:solidFill>
            <a:srgbClr val="A9C2B3"/>
          </a:solidFill>
          <a:ln cap="flat" cmpd="sng" w="8050">
            <a:solidFill>
              <a:srgbClr val="A9C2B3"/>
            </a:solidFill>
            <a:prstDash val="solid"/>
            <a:round/>
            <a:headEnd len="sm" w="sm" type="none"/>
            <a:tailEnd len="sm" w="sm" type="none"/>
          </a:ln>
        </p:spPr>
        <p:txBody>
          <a:bodyPr anchorCtr="0" anchor="ctr" bIns="57900" lIns="57900" spcFirstLastPara="1" rIns="57900" wrap="square" tIns="57900">
            <a:noAutofit/>
          </a:bodyPr>
          <a:lstStyle/>
          <a:p>
            <a:pPr indent="0" lvl="0" marL="0" rtl="0" algn="l">
              <a:spcBef>
                <a:spcPts val="0"/>
              </a:spcBef>
              <a:spcAft>
                <a:spcPts val="0"/>
              </a:spcAft>
              <a:buNone/>
            </a:pPr>
            <a:r>
              <a:t/>
            </a:r>
            <a:endParaRPr/>
          </a:p>
        </p:txBody>
      </p:sp>
      <p:sp>
        <p:nvSpPr>
          <p:cNvPr id="289" name="Google Shape;289;p9"/>
          <p:cNvSpPr txBox="1"/>
          <p:nvPr/>
        </p:nvSpPr>
        <p:spPr>
          <a:xfrm>
            <a:off x="8729524" y="3075490"/>
            <a:ext cx="955800" cy="18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50"/>
              <a:buFont typeface="Source Sans 3"/>
              <a:buNone/>
            </a:pPr>
            <a:r>
              <a:rPr b="1" i="0" lang="en-US" sz="1100" u="none" cap="none" strike="noStrike">
                <a:solidFill>
                  <a:srgbClr val="4B5550"/>
                </a:solidFill>
                <a:latin typeface="Source Sans 3"/>
                <a:ea typeface="Source Sans 3"/>
                <a:cs typeface="Source Sans 3"/>
                <a:sym typeface="Source Sans 3"/>
              </a:rPr>
              <a:t>+75%</a:t>
            </a:r>
            <a:endParaRPr b="0" i="0" sz="1100" u="none" cap="none" strike="noStrike">
              <a:solidFill>
                <a:srgbClr val="4B5550"/>
              </a:solidFill>
              <a:latin typeface="Calibri"/>
              <a:ea typeface="Calibri"/>
              <a:cs typeface="Calibri"/>
              <a:sym typeface="Calibri"/>
            </a:endParaRPr>
          </a:p>
        </p:txBody>
      </p:sp>
      <p:sp>
        <p:nvSpPr>
          <p:cNvPr id="290" name="Google Shape;290;p9"/>
          <p:cNvSpPr/>
          <p:nvPr/>
        </p:nvSpPr>
        <p:spPr>
          <a:xfrm>
            <a:off x="9638963" y="3394172"/>
            <a:ext cx="724200" cy="1446900"/>
          </a:xfrm>
          <a:prstGeom prst="rect">
            <a:avLst/>
          </a:prstGeom>
          <a:solidFill>
            <a:srgbClr val="2E6B52"/>
          </a:solidFill>
          <a:ln cap="flat" cmpd="sng" w="8050">
            <a:solidFill>
              <a:srgbClr val="2E6B52"/>
            </a:solidFill>
            <a:prstDash val="solid"/>
            <a:round/>
            <a:headEnd len="sm" w="sm" type="none"/>
            <a:tailEnd len="sm" w="sm" type="none"/>
          </a:ln>
        </p:spPr>
        <p:txBody>
          <a:bodyPr anchorCtr="0" anchor="ctr" bIns="57900" lIns="57900" spcFirstLastPara="1" rIns="57900" wrap="square" tIns="57900">
            <a:noAutofit/>
          </a:bodyPr>
          <a:lstStyle/>
          <a:p>
            <a:pPr indent="0" lvl="0" marL="0" rtl="0" algn="l">
              <a:spcBef>
                <a:spcPts val="0"/>
              </a:spcBef>
              <a:spcAft>
                <a:spcPts val="0"/>
              </a:spcAft>
              <a:buNone/>
            </a:pPr>
            <a:r>
              <a:t/>
            </a:r>
            <a:endParaRPr/>
          </a:p>
        </p:txBody>
      </p:sp>
      <p:sp>
        <p:nvSpPr>
          <p:cNvPr id="291" name="Google Shape;291;p9"/>
          <p:cNvSpPr txBox="1"/>
          <p:nvPr/>
        </p:nvSpPr>
        <p:spPr>
          <a:xfrm>
            <a:off x="9523111" y="3189520"/>
            <a:ext cx="955800" cy="18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950"/>
              <a:buFont typeface="Source Sans 3"/>
              <a:buNone/>
            </a:pPr>
            <a:r>
              <a:rPr b="1" i="0" lang="en-US" sz="1100" u="none" cap="none" strike="noStrike">
                <a:solidFill>
                  <a:srgbClr val="4B5550"/>
                </a:solidFill>
                <a:latin typeface="Source Sans 3"/>
                <a:ea typeface="Source Sans 3"/>
                <a:cs typeface="Source Sans 3"/>
                <a:sym typeface="Source Sans 3"/>
              </a:rPr>
              <a:t>+70%</a:t>
            </a:r>
            <a:endParaRPr b="0" i="0" sz="1100" u="none" cap="none" strike="noStrike">
              <a:solidFill>
                <a:srgbClr val="4B5550"/>
              </a:solidFill>
              <a:latin typeface="Calibri"/>
              <a:ea typeface="Calibri"/>
              <a:cs typeface="Calibri"/>
              <a:sym typeface="Calibri"/>
            </a:endParaRPr>
          </a:p>
        </p:txBody>
      </p:sp>
      <p:sp>
        <p:nvSpPr>
          <p:cNvPr id="292" name="Google Shape;292;p9"/>
          <p:cNvSpPr txBox="1"/>
          <p:nvPr/>
        </p:nvSpPr>
        <p:spPr>
          <a:xfrm>
            <a:off x="8503613" y="4886792"/>
            <a:ext cx="2201100" cy="284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760"/>
              <a:buFont typeface="Source Sans 3"/>
              <a:buNone/>
            </a:pPr>
            <a:r>
              <a:rPr b="0" i="0" lang="en-US" sz="760" u="none" cap="none" strike="noStrike">
                <a:solidFill>
                  <a:srgbClr val="1D2A24"/>
                </a:solidFill>
                <a:latin typeface="Source Sans 3"/>
                <a:ea typeface="Source Sans 3"/>
                <a:cs typeface="Source Sans 3"/>
                <a:sym typeface="Source Sans 3"/>
              </a:rPr>
              <a:t>Large municipalities</a:t>
            </a:r>
            <a:endParaRPr b="0" i="0" sz="76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D2A24"/>
              </a:buClr>
              <a:buSzPts val="760"/>
              <a:buFont typeface="Source Sans 3"/>
              <a:buNone/>
            </a:pPr>
            <a:r>
              <a:rPr b="0" i="0" lang="en-US" sz="760" u="none" cap="none" strike="noStrike">
                <a:solidFill>
                  <a:srgbClr val="1D2A24"/>
                </a:solidFill>
                <a:latin typeface="Source Sans 3"/>
                <a:ea typeface="Source Sans 3"/>
                <a:cs typeface="Source Sans 3"/>
                <a:sym typeface="Source Sans 3"/>
              </a:rPr>
              <a:t>&gt; 50,000 residents</a:t>
            </a:r>
            <a:endParaRPr b="0" i="0" sz="760" u="none" cap="none" strike="noStrike">
              <a:solidFill>
                <a:schemeClr val="dk1"/>
              </a:solidFill>
              <a:latin typeface="Calibri"/>
              <a:ea typeface="Calibri"/>
              <a:cs typeface="Calibri"/>
              <a:sym typeface="Calibri"/>
            </a:endParaRPr>
          </a:p>
        </p:txBody>
      </p:sp>
      <p:cxnSp>
        <p:nvCxnSpPr>
          <p:cNvPr id="293" name="Google Shape;293;p9"/>
          <p:cNvCxnSpPr/>
          <p:nvPr/>
        </p:nvCxnSpPr>
        <p:spPr>
          <a:xfrm>
            <a:off x="6302425" y="4841314"/>
            <a:ext cx="4402800" cy="0"/>
          </a:xfrm>
          <a:prstGeom prst="straightConnector1">
            <a:avLst/>
          </a:prstGeom>
          <a:noFill/>
          <a:ln cap="flat" cmpd="sng" w="8050">
            <a:solidFill>
              <a:srgbClr val="C9BFA9"/>
            </a:solidFill>
            <a:prstDash val="solid"/>
            <a:round/>
            <a:headEnd len="sm" w="sm" type="none"/>
            <a:tailEnd len="sm" w="sm" type="none"/>
          </a:ln>
        </p:spPr>
      </p:cxnSp>
      <p:sp>
        <p:nvSpPr>
          <p:cNvPr id="294" name="Google Shape;294;p9"/>
          <p:cNvSpPr/>
          <p:nvPr/>
        </p:nvSpPr>
        <p:spPr>
          <a:xfrm>
            <a:off x="6302443" y="2517404"/>
            <a:ext cx="130800" cy="130800"/>
          </a:xfrm>
          <a:prstGeom prst="rect">
            <a:avLst/>
          </a:prstGeom>
          <a:solidFill>
            <a:srgbClr val="A9C2B3"/>
          </a:solidFill>
          <a:ln cap="flat" cmpd="sng" w="8275">
            <a:solidFill>
              <a:srgbClr val="A9C2B3"/>
            </a:solidFill>
            <a:prstDash val="solid"/>
            <a:round/>
            <a:headEnd len="sm" w="sm" type="none"/>
            <a:tailEnd len="sm" w="sm" type="none"/>
          </a:ln>
        </p:spPr>
        <p:txBody>
          <a:bodyPr anchorCtr="0" anchor="ctr" bIns="59525" lIns="59525" spcFirstLastPara="1" rIns="59525" wrap="square" tIns="59525">
            <a:noAutofit/>
          </a:bodyPr>
          <a:lstStyle/>
          <a:p>
            <a:pPr indent="0" lvl="0" marL="0" rtl="0" algn="l">
              <a:spcBef>
                <a:spcPts val="0"/>
              </a:spcBef>
              <a:spcAft>
                <a:spcPts val="0"/>
              </a:spcAft>
              <a:buNone/>
            </a:pPr>
            <a:r>
              <a:t/>
            </a:r>
            <a:endParaRPr/>
          </a:p>
        </p:txBody>
      </p:sp>
      <p:sp>
        <p:nvSpPr>
          <p:cNvPr id="295" name="Google Shape;295;p9"/>
          <p:cNvSpPr txBox="1"/>
          <p:nvPr/>
        </p:nvSpPr>
        <p:spPr>
          <a:xfrm>
            <a:off x="6481092" y="2493584"/>
            <a:ext cx="1786500" cy="17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B5550"/>
              </a:buClr>
              <a:buSzPts val="781"/>
              <a:buFont typeface="Source Sans 3"/>
              <a:buNone/>
            </a:pPr>
            <a:r>
              <a:rPr b="1" lang="en-US" sz="781">
                <a:solidFill>
                  <a:srgbClr val="4B5550"/>
                </a:solidFill>
                <a:latin typeface="Source Sans 3"/>
                <a:ea typeface="Source Sans 3"/>
                <a:cs typeface="Source Sans 3"/>
                <a:sym typeface="Source Sans 3"/>
              </a:rPr>
              <a:t>Fewer new short-term rental</a:t>
            </a:r>
            <a:endParaRPr b="1" i="0" sz="781" u="none" cap="none" strike="noStrike">
              <a:solidFill>
                <a:schemeClr val="dk1"/>
              </a:solidFill>
              <a:latin typeface="Calibri"/>
              <a:ea typeface="Calibri"/>
              <a:cs typeface="Calibri"/>
              <a:sym typeface="Calibri"/>
            </a:endParaRPr>
          </a:p>
        </p:txBody>
      </p:sp>
      <p:sp>
        <p:nvSpPr>
          <p:cNvPr id="296" name="Google Shape;296;p9"/>
          <p:cNvSpPr/>
          <p:nvPr/>
        </p:nvSpPr>
        <p:spPr>
          <a:xfrm>
            <a:off x="6302433" y="2690617"/>
            <a:ext cx="130800" cy="130800"/>
          </a:xfrm>
          <a:prstGeom prst="rect">
            <a:avLst/>
          </a:prstGeom>
          <a:solidFill>
            <a:srgbClr val="2E6B52"/>
          </a:solidFill>
          <a:ln cap="flat" cmpd="sng" w="8275">
            <a:solidFill>
              <a:srgbClr val="2E6B52"/>
            </a:solidFill>
            <a:prstDash val="solid"/>
            <a:round/>
            <a:headEnd len="sm" w="sm" type="none"/>
            <a:tailEnd len="sm" w="sm" type="none"/>
          </a:ln>
        </p:spPr>
        <p:txBody>
          <a:bodyPr anchorCtr="0" anchor="ctr" bIns="59525" lIns="59525" spcFirstLastPara="1" rIns="59525" wrap="square" tIns="59525">
            <a:noAutofit/>
          </a:bodyPr>
          <a:lstStyle/>
          <a:p>
            <a:pPr indent="0" lvl="0" marL="0" rtl="0" algn="l">
              <a:spcBef>
                <a:spcPts val="0"/>
              </a:spcBef>
              <a:spcAft>
                <a:spcPts val="0"/>
              </a:spcAft>
              <a:buNone/>
            </a:pPr>
            <a:r>
              <a:t/>
            </a:r>
            <a:endParaRPr/>
          </a:p>
        </p:txBody>
      </p:sp>
      <p:sp>
        <p:nvSpPr>
          <p:cNvPr id="297" name="Google Shape;297;p9"/>
          <p:cNvSpPr txBox="1"/>
          <p:nvPr/>
        </p:nvSpPr>
        <p:spPr>
          <a:xfrm>
            <a:off x="6481082" y="2666797"/>
            <a:ext cx="1786500" cy="178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4B5550"/>
              </a:buClr>
              <a:buSzPts val="781"/>
              <a:buFont typeface="Source Sans 3"/>
              <a:buNone/>
            </a:pPr>
            <a:r>
              <a:rPr b="1" lang="en-US" sz="781">
                <a:solidFill>
                  <a:srgbClr val="4B5550"/>
                </a:solidFill>
                <a:latin typeface="Source Sans 3"/>
                <a:ea typeface="Source Sans 3"/>
                <a:cs typeface="Source Sans 3"/>
                <a:sym typeface="Source Sans 3"/>
              </a:rPr>
              <a:t>More</a:t>
            </a:r>
            <a:r>
              <a:rPr b="1" lang="en-US" sz="781">
                <a:solidFill>
                  <a:srgbClr val="4B5550"/>
                </a:solidFill>
                <a:latin typeface="Source Sans 3"/>
                <a:ea typeface="Source Sans 3"/>
                <a:cs typeface="Source Sans 3"/>
                <a:sym typeface="Source Sans 3"/>
              </a:rPr>
              <a:t> new short-term rental</a:t>
            </a:r>
            <a:endParaRPr b="1" sz="781">
              <a:solidFill>
                <a:srgbClr val="4B5550"/>
              </a:solidFill>
              <a:latin typeface="Source Sans 3"/>
              <a:ea typeface="Source Sans 3"/>
              <a:cs typeface="Source Sans 3"/>
              <a:sym typeface="Source Sans 3"/>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EE"/>
        </a:solidFill>
      </p:bgPr>
    </p:bg>
    <p:spTree>
      <p:nvGrpSpPr>
        <p:cNvPr id="302" name="Shape 302"/>
        <p:cNvGrpSpPr/>
        <p:nvPr/>
      </p:nvGrpSpPr>
      <p:grpSpPr>
        <a:xfrm>
          <a:off x="0" y="0"/>
          <a:ext cx="0" cy="0"/>
          <a:chOff x="0" y="0"/>
          <a:chExt cx="0" cy="0"/>
        </a:xfrm>
      </p:grpSpPr>
      <p:sp>
        <p:nvSpPr>
          <p:cNvPr id="303" name="Google Shape;303;p10"/>
          <p:cNvSpPr/>
          <p:nvPr/>
        </p:nvSpPr>
        <p:spPr>
          <a:xfrm>
            <a:off x="0" y="0"/>
            <a:ext cx="12192000" cy="888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9E1B32"/>
              </a:buClr>
              <a:buSzPts val="1200"/>
              <a:buFont typeface="Source Sans 3"/>
              <a:buNone/>
            </a:pPr>
            <a:r>
              <a:rPr b="1" lang="en-US" sz="1200">
                <a:solidFill>
                  <a:srgbClr val="9E1B32"/>
                </a:solidFill>
                <a:latin typeface="Source Sans 3"/>
                <a:ea typeface="Source Sans 3"/>
                <a:cs typeface="Source Sans 3"/>
                <a:sym typeface="Source Sans 3"/>
              </a:rPr>
              <a:t>FINDINGS FOR H3</a:t>
            </a:r>
            <a:endParaRPr b="1" sz="1200">
              <a:solidFill>
                <a:srgbClr val="9E1B32"/>
              </a:solidFill>
              <a:latin typeface="Source Sans 3"/>
              <a:ea typeface="Source Sans 3"/>
              <a:cs typeface="Source Sans 3"/>
              <a:sym typeface="Source Sans 3"/>
            </a:endParaRPr>
          </a:p>
        </p:txBody>
      </p:sp>
      <p:sp>
        <p:nvSpPr>
          <p:cNvPr id="305" name="Google Shape;305;p10"/>
          <p:cNvSpPr/>
          <p:nvPr/>
        </p:nvSpPr>
        <p:spPr>
          <a:xfrm>
            <a:off x="812800" y="11150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A24"/>
              </a:buClr>
              <a:buSzPts val="3200"/>
              <a:buFont typeface="Playfair Display"/>
              <a:buNone/>
            </a:pPr>
            <a:r>
              <a:rPr b="1" lang="en-US" sz="3200">
                <a:solidFill>
                  <a:srgbClr val="1D2A24"/>
                </a:solidFill>
                <a:latin typeface="Playfair Display"/>
                <a:ea typeface="Playfair Display"/>
                <a:cs typeface="Playfair Display"/>
                <a:sym typeface="Playfair Display"/>
              </a:rPr>
              <a:t>Is the crisis moving “outward”?</a:t>
            </a:r>
            <a:endParaRPr b="0" i="0" sz="3200" u="none" cap="none" strike="noStrike">
              <a:solidFill>
                <a:schemeClr val="dk1"/>
              </a:solidFill>
              <a:latin typeface="Calibri"/>
              <a:ea typeface="Calibri"/>
              <a:cs typeface="Calibri"/>
              <a:sym typeface="Calibri"/>
            </a:endParaRPr>
          </a:p>
        </p:txBody>
      </p:sp>
      <p:sp>
        <p:nvSpPr>
          <p:cNvPr id="306" name="Google Shape;306;p10"/>
          <p:cNvSpPr/>
          <p:nvPr/>
        </p:nvSpPr>
        <p:spPr>
          <a:xfrm>
            <a:off x="812800" y="1816001"/>
            <a:ext cx="52848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3D2E"/>
              </a:buClr>
              <a:buSzPts val="1300"/>
              <a:buFont typeface="Source Sans 3"/>
              <a:buNone/>
            </a:pPr>
            <a:r>
              <a:rPr lang="en-US" sz="1300">
                <a:solidFill>
                  <a:srgbClr val="0F3D2E"/>
                </a:solidFill>
                <a:latin typeface="Source Sans 3"/>
                <a:ea typeface="Source Sans 3"/>
                <a:cs typeface="Source Sans 3"/>
                <a:sym typeface="Source Sans 3"/>
              </a:rPr>
              <a:t>LT </a:t>
            </a:r>
            <a:r>
              <a:rPr i="0" lang="en-US" sz="1300" u="none" cap="none" strike="noStrike">
                <a:solidFill>
                  <a:srgbClr val="0F3D2E"/>
                </a:solidFill>
                <a:latin typeface="Source Sans 3"/>
                <a:ea typeface="Source Sans 3"/>
                <a:cs typeface="Source Sans 3"/>
                <a:sym typeface="Source Sans 3"/>
              </a:rPr>
              <a:t>Rent growth </a:t>
            </a:r>
            <a:r>
              <a:rPr lang="en-US" sz="1300">
                <a:solidFill>
                  <a:srgbClr val="0F3D2E"/>
                </a:solidFill>
                <a:latin typeface="Source Sans 3"/>
                <a:ea typeface="Source Sans 3"/>
                <a:cs typeface="Source Sans 3"/>
                <a:sym typeface="Source Sans 3"/>
              </a:rPr>
              <a:t>faster</a:t>
            </a:r>
            <a:r>
              <a:rPr b="1" lang="en-US" sz="1300">
                <a:solidFill>
                  <a:srgbClr val="0F3D2E"/>
                </a:solidFill>
                <a:latin typeface="Source Sans 3"/>
                <a:ea typeface="Source Sans 3"/>
                <a:cs typeface="Source Sans 3"/>
                <a:sym typeface="Source Sans 3"/>
              </a:rPr>
              <a:t> around the cities</a:t>
            </a:r>
            <a:endParaRPr b="0" i="0" sz="1300" u="none" cap="none" strike="noStrike">
              <a:solidFill>
                <a:schemeClr val="dk1"/>
              </a:solidFill>
              <a:latin typeface="Calibri"/>
              <a:ea typeface="Calibri"/>
              <a:cs typeface="Calibri"/>
              <a:sym typeface="Calibri"/>
            </a:endParaRPr>
          </a:p>
        </p:txBody>
      </p:sp>
      <p:sp>
        <p:nvSpPr>
          <p:cNvPr id="307" name="Google Shape;307;p10"/>
          <p:cNvSpPr/>
          <p:nvPr/>
        </p:nvSpPr>
        <p:spPr>
          <a:xfrm>
            <a:off x="6248400" y="1816001"/>
            <a:ext cx="52848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3D2E"/>
              </a:buClr>
              <a:buSzPts val="1300"/>
              <a:buFont typeface="Source Sans 3"/>
              <a:buNone/>
            </a:pPr>
            <a:r>
              <a:rPr i="0" lang="en-US" sz="1300" u="none" cap="none" strike="noStrike">
                <a:solidFill>
                  <a:srgbClr val="0F3D2E"/>
                </a:solidFill>
                <a:latin typeface="Source Sans 3"/>
                <a:ea typeface="Source Sans 3"/>
                <a:cs typeface="Source Sans 3"/>
                <a:sym typeface="Source Sans 3"/>
              </a:rPr>
              <a:t>Top 10 rises </a:t>
            </a:r>
            <a:r>
              <a:rPr b="1" i="0" lang="en-US" sz="1300" u="none" cap="none" strike="noStrike">
                <a:solidFill>
                  <a:srgbClr val="0F3D2E"/>
                </a:solidFill>
                <a:latin typeface="Source Sans 3"/>
                <a:ea typeface="Source Sans 3"/>
                <a:cs typeface="Source Sans 3"/>
                <a:sym typeface="Source Sans 3"/>
              </a:rPr>
              <a:t>around the cities vs </a:t>
            </a:r>
            <a:r>
              <a:rPr b="1" lang="en-US" sz="1300">
                <a:solidFill>
                  <a:srgbClr val="0F3D2E"/>
                </a:solidFill>
                <a:latin typeface="Source Sans 3"/>
                <a:ea typeface="Source Sans 3"/>
                <a:cs typeface="Source Sans 3"/>
                <a:sym typeface="Source Sans 3"/>
              </a:rPr>
              <a:t>big</a:t>
            </a:r>
            <a:r>
              <a:rPr b="1" i="0" lang="en-US" sz="1300" u="none" cap="none" strike="noStrike">
                <a:solidFill>
                  <a:srgbClr val="0F3D2E"/>
                </a:solidFill>
                <a:latin typeface="Source Sans 3"/>
                <a:ea typeface="Source Sans 3"/>
                <a:cs typeface="Source Sans 3"/>
                <a:sym typeface="Source Sans 3"/>
              </a:rPr>
              <a:t> cities</a:t>
            </a:r>
            <a:endParaRPr b="0" i="0" sz="1300" u="none" cap="none" strike="noStrike">
              <a:solidFill>
                <a:schemeClr val="dk1"/>
              </a:solidFill>
              <a:latin typeface="Calibri"/>
              <a:ea typeface="Calibri"/>
              <a:cs typeface="Calibri"/>
              <a:sym typeface="Calibri"/>
            </a:endParaRPr>
          </a:p>
        </p:txBody>
      </p:sp>
      <p:sp>
        <p:nvSpPr>
          <p:cNvPr id="308" name="Google Shape;308;p10"/>
          <p:cNvSpPr/>
          <p:nvPr/>
        </p:nvSpPr>
        <p:spPr>
          <a:xfrm>
            <a:off x="812800" y="5552281"/>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1" i="0" lang="en-US" sz="1200" u="none" cap="none" strike="noStrike">
                <a:solidFill>
                  <a:srgbClr val="9E1B32"/>
                </a:solidFill>
                <a:latin typeface="Source Sans 3"/>
                <a:ea typeface="Source Sans 3"/>
                <a:cs typeface="Source Sans 3"/>
                <a:sym typeface="Source Sans 3"/>
              </a:rPr>
              <a:t>Method:</a:t>
            </a:r>
            <a:r>
              <a:rPr b="0" i="0" lang="en-US" sz="1200" u="none" cap="none" strike="noStrike">
                <a:solidFill>
                  <a:srgbClr val="6F7470"/>
                </a:solidFill>
                <a:latin typeface="Source Sans 3"/>
                <a:ea typeface="Source Sans 3"/>
                <a:cs typeface="Source Sans 3"/>
                <a:sym typeface="Source Sans 3"/>
              </a:rPr>
              <a:t> long-term rent growth Q1 2020 → Q2 2026 · 214 municipalities grouped by INE region code (city, metropolitan area, rest of Portugal)</a:t>
            </a:r>
            <a:endParaRPr b="0" i="0" sz="1200" u="none" cap="none" strike="noStrike">
              <a:solidFill>
                <a:schemeClr val="dk1"/>
              </a:solidFill>
              <a:latin typeface="Calibri"/>
              <a:ea typeface="Calibri"/>
              <a:cs typeface="Calibri"/>
              <a:sym typeface="Calibri"/>
            </a:endParaRPr>
          </a:p>
        </p:txBody>
      </p:sp>
      <p:sp>
        <p:nvSpPr>
          <p:cNvPr id="309" name="Google Shape;309;p10"/>
          <p:cNvSpPr/>
          <p:nvPr/>
        </p:nvSpPr>
        <p:spPr>
          <a:xfrm>
            <a:off x="812800" y="62382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8</a:t>
            </a:r>
            <a:endParaRPr b="0" i="0" sz="1200" u="none" cap="none" strike="noStrike">
              <a:solidFill>
                <a:schemeClr val="dk1"/>
              </a:solidFill>
              <a:latin typeface="Calibri"/>
              <a:ea typeface="Calibri"/>
              <a:cs typeface="Calibri"/>
              <a:sym typeface="Calibri"/>
            </a:endParaRPr>
          </a:p>
        </p:txBody>
      </p:sp>
      <p:sp>
        <p:nvSpPr>
          <p:cNvPr id="310" name="Google Shape;310;p10"/>
          <p:cNvSpPr/>
          <p:nvPr/>
        </p:nvSpPr>
        <p:spPr>
          <a:xfrm>
            <a:off x="1039864" y="3416547"/>
            <a:ext cx="807300" cy="1433100"/>
          </a:xfrm>
          <a:prstGeom prst="rect">
            <a:avLst/>
          </a:prstGeom>
          <a:solidFill>
            <a:srgbClr val="A9C2B3"/>
          </a:solidFill>
          <a:ln cap="flat" cmpd="sng" w="9400">
            <a:solidFill>
              <a:srgbClr val="A9C2B3"/>
            </a:solidFill>
            <a:prstDash val="solid"/>
            <a:round/>
            <a:headEnd len="sm" w="sm" type="none"/>
            <a:tailEnd len="sm" w="sm" type="none"/>
          </a:ln>
        </p:spPr>
        <p:txBody>
          <a:bodyPr anchorCtr="0" anchor="ctr" bIns="67550" lIns="67550" spcFirstLastPara="1" rIns="67550" wrap="square" tIns="67550">
            <a:noAutofit/>
          </a:bodyPr>
          <a:lstStyle/>
          <a:p>
            <a:pPr indent="0" lvl="0" marL="0" rtl="0" algn="l">
              <a:spcBef>
                <a:spcPts val="0"/>
              </a:spcBef>
              <a:spcAft>
                <a:spcPts val="0"/>
              </a:spcAft>
              <a:buNone/>
            </a:pPr>
            <a:r>
              <a:t/>
            </a:r>
            <a:endParaRPr/>
          </a:p>
        </p:txBody>
      </p:sp>
      <p:sp>
        <p:nvSpPr>
          <p:cNvPr id="311" name="Google Shape;311;p10"/>
          <p:cNvSpPr txBox="1"/>
          <p:nvPr/>
        </p:nvSpPr>
        <p:spPr>
          <a:xfrm>
            <a:off x="870917" y="3200297"/>
            <a:ext cx="1145100" cy="2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478"/>
              <a:buFont typeface="Source Sans 3"/>
              <a:buNone/>
            </a:pPr>
            <a:r>
              <a:rPr b="1" i="0" lang="en-US" sz="1478" u="none" cap="none" strike="noStrike">
                <a:solidFill>
                  <a:srgbClr val="1D2A24"/>
                </a:solidFill>
                <a:latin typeface="Source Sans 3"/>
                <a:ea typeface="Source Sans 3"/>
                <a:cs typeface="Source Sans 3"/>
                <a:sym typeface="Source Sans 3"/>
              </a:rPr>
              <a:t>+52%</a:t>
            </a:r>
            <a:endParaRPr b="0" i="0" sz="1478" u="none" cap="none" strike="noStrike">
              <a:solidFill>
                <a:schemeClr val="dk1"/>
              </a:solidFill>
              <a:latin typeface="Calibri"/>
              <a:ea typeface="Calibri"/>
              <a:cs typeface="Calibri"/>
              <a:sym typeface="Calibri"/>
            </a:endParaRPr>
          </a:p>
        </p:txBody>
      </p:sp>
      <p:sp>
        <p:nvSpPr>
          <p:cNvPr id="312" name="Google Shape;312;p10"/>
          <p:cNvSpPr txBox="1"/>
          <p:nvPr/>
        </p:nvSpPr>
        <p:spPr>
          <a:xfrm>
            <a:off x="812800" y="4890260"/>
            <a:ext cx="1261500" cy="2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87"/>
              <a:buFont typeface="Source Sans 3"/>
              <a:buNone/>
            </a:pPr>
            <a:r>
              <a:rPr b="0" i="0" lang="en-US" sz="887" u="none" cap="none" strike="noStrike">
                <a:solidFill>
                  <a:srgbClr val="1D2A24"/>
                </a:solidFill>
                <a:latin typeface="Source Sans 3"/>
                <a:ea typeface="Source Sans 3"/>
                <a:cs typeface="Source Sans 3"/>
                <a:sym typeface="Source Sans 3"/>
              </a:rPr>
              <a:t>Lisbon &amp; Porto</a:t>
            </a:r>
            <a:endParaRPr b="0" i="0" sz="887" u="none" cap="none" strike="noStrike">
              <a:solidFill>
                <a:schemeClr val="dk1"/>
              </a:solidFill>
              <a:latin typeface="Calibri"/>
              <a:ea typeface="Calibri"/>
              <a:cs typeface="Calibri"/>
              <a:sym typeface="Calibri"/>
            </a:endParaRPr>
          </a:p>
        </p:txBody>
      </p:sp>
      <p:sp>
        <p:nvSpPr>
          <p:cNvPr id="313" name="Google Shape;313;p10"/>
          <p:cNvSpPr/>
          <p:nvPr/>
        </p:nvSpPr>
        <p:spPr>
          <a:xfrm>
            <a:off x="2301330" y="2830000"/>
            <a:ext cx="807300" cy="2019900"/>
          </a:xfrm>
          <a:prstGeom prst="rect">
            <a:avLst/>
          </a:prstGeom>
          <a:solidFill>
            <a:srgbClr val="9E1B32"/>
          </a:solidFill>
          <a:ln cap="flat" cmpd="sng" w="9400">
            <a:solidFill>
              <a:srgbClr val="9E1B32"/>
            </a:solidFill>
            <a:prstDash val="solid"/>
            <a:round/>
            <a:headEnd len="sm" w="sm" type="none"/>
            <a:tailEnd len="sm" w="sm" type="none"/>
          </a:ln>
        </p:spPr>
        <p:txBody>
          <a:bodyPr anchorCtr="0" anchor="ctr" bIns="67550" lIns="67550" spcFirstLastPara="1" rIns="67550" wrap="square" tIns="67550">
            <a:noAutofit/>
          </a:bodyPr>
          <a:lstStyle/>
          <a:p>
            <a:pPr indent="0" lvl="0" marL="0" rtl="0" algn="l">
              <a:spcBef>
                <a:spcPts val="0"/>
              </a:spcBef>
              <a:spcAft>
                <a:spcPts val="0"/>
              </a:spcAft>
              <a:buNone/>
            </a:pPr>
            <a:r>
              <a:t/>
            </a:r>
            <a:endParaRPr/>
          </a:p>
        </p:txBody>
      </p:sp>
      <p:sp>
        <p:nvSpPr>
          <p:cNvPr id="314" name="Google Shape;314;p10"/>
          <p:cNvSpPr txBox="1"/>
          <p:nvPr/>
        </p:nvSpPr>
        <p:spPr>
          <a:xfrm>
            <a:off x="2132383" y="2613749"/>
            <a:ext cx="1145100" cy="2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478"/>
              <a:buFont typeface="Source Sans 3"/>
              <a:buNone/>
            </a:pPr>
            <a:r>
              <a:rPr b="1" i="0" lang="en-US" sz="1478" u="none" cap="none" strike="noStrike">
                <a:solidFill>
                  <a:srgbClr val="1D2A24"/>
                </a:solidFill>
                <a:latin typeface="Source Sans 3"/>
                <a:ea typeface="Source Sans 3"/>
                <a:cs typeface="Source Sans 3"/>
                <a:sym typeface="Source Sans 3"/>
              </a:rPr>
              <a:t>+73%</a:t>
            </a:r>
            <a:endParaRPr b="0" i="0" sz="1478" u="none" cap="none" strike="noStrike">
              <a:solidFill>
                <a:schemeClr val="dk1"/>
              </a:solidFill>
              <a:latin typeface="Calibri"/>
              <a:ea typeface="Calibri"/>
              <a:cs typeface="Calibri"/>
              <a:sym typeface="Calibri"/>
            </a:endParaRPr>
          </a:p>
        </p:txBody>
      </p:sp>
      <p:sp>
        <p:nvSpPr>
          <p:cNvPr id="315" name="Google Shape;315;p10"/>
          <p:cNvSpPr txBox="1"/>
          <p:nvPr/>
        </p:nvSpPr>
        <p:spPr>
          <a:xfrm>
            <a:off x="2074266" y="4890260"/>
            <a:ext cx="1261500" cy="2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87"/>
              <a:buFont typeface="Source Sans 3"/>
              <a:buNone/>
            </a:pPr>
            <a:r>
              <a:rPr b="0" i="0" lang="en-US" sz="887" u="none" cap="none" strike="noStrike">
                <a:solidFill>
                  <a:srgbClr val="1D2A24"/>
                </a:solidFill>
                <a:latin typeface="Source Sans 3"/>
                <a:ea typeface="Source Sans 3"/>
                <a:cs typeface="Source Sans 3"/>
                <a:sym typeface="Source Sans 3"/>
              </a:rPr>
              <a:t>Around Lisbon</a:t>
            </a:r>
            <a:endParaRPr b="0" i="0" sz="887"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D2A24"/>
              </a:buClr>
              <a:buSzPts val="887"/>
              <a:buFont typeface="Source Sans 3"/>
              <a:buNone/>
            </a:pPr>
            <a:r>
              <a:rPr b="0" i="0" lang="en-US" sz="887" u="none" cap="none" strike="noStrike">
                <a:solidFill>
                  <a:srgbClr val="1D2A24"/>
                </a:solidFill>
                <a:latin typeface="Source Sans 3"/>
                <a:ea typeface="Source Sans 3"/>
                <a:cs typeface="Source Sans 3"/>
                <a:sym typeface="Source Sans 3"/>
              </a:rPr>
              <a:t>&amp; Porto</a:t>
            </a:r>
            <a:endParaRPr b="0" i="0" sz="887" u="none" cap="none" strike="noStrike">
              <a:solidFill>
                <a:schemeClr val="dk1"/>
              </a:solidFill>
              <a:latin typeface="Calibri"/>
              <a:ea typeface="Calibri"/>
              <a:cs typeface="Calibri"/>
              <a:sym typeface="Calibri"/>
            </a:endParaRPr>
          </a:p>
        </p:txBody>
      </p:sp>
      <p:sp>
        <p:nvSpPr>
          <p:cNvPr id="316" name="Google Shape;316;p10"/>
          <p:cNvSpPr/>
          <p:nvPr/>
        </p:nvSpPr>
        <p:spPr>
          <a:xfrm>
            <a:off x="3562796" y="2888101"/>
            <a:ext cx="807300" cy="1961700"/>
          </a:xfrm>
          <a:prstGeom prst="rect">
            <a:avLst/>
          </a:prstGeom>
          <a:solidFill>
            <a:srgbClr val="2E6B52"/>
          </a:solidFill>
          <a:ln cap="flat" cmpd="sng" w="9400">
            <a:solidFill>
              <a:srgbClr val="2E6B52"/>
            </a:solidFill>
            <a:prstDash val="solid"/>
            <a:round/>
            <a:headEnd len="sm" w="sm" type="none"/>
            <a:tailEnd len="sm" w="sm" type="none"/>
          </a:ln>
        </p:spPr>
        <p:txBody>
          <a:bodyPr anchorCtr="0" anchor="ctr" bIns="67550" lIns="67550" spcFirstLastPara="1" rIns="67550" wrap="square" tIns="67550">
            <a:noAutofit/>
          </a:bodyPr>
          <a:lstStyle/>
          <a:p>
            <a:pPr indent="0" lvl="0" marL="0" rtl="0" algn="l">
              <a:spcBef>
                <a:spcPts val="0"/>
              </a:spcBef>
              <a:spcAft>
                <a:spcPts val="0"/>
              </a:spcAft>
              <a:buNone/>
            </a:pPr>
            <a:r>
              <a:t/>
            </a:r>
            <a:endParaRPr/>
          </a:p>
        </p:txBody>
      </p:sp>
      <p:sp>
        <p:nvSpPr>
          <p:cNvPr id="317" name="Google Shape;317;p10"/>
          <p:cNvSpPr txBox="1"/>
          <p:nvPr/>
        </p:nvSpPr>
        <p:spPr>
          <a:xfrm>
            <a:off x="3393850" y="2671851"/>
            <a:ext cx="1145100" cy="2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D2A24"/>
              </a:buClr>
              <a:buSzPts val="1478"/>
              <a:buFont typeface="Source Sans 3"/>
              <a:buNone/>
            </a:pPr>
            <a:r>
              <a:rPr b="1" i="0" lang="en-US" sz="1478" u="none" cap="none" strike="noStrike">
                <a:solidFill>
                  <a:srgbClr val="1D2A24"/>
                </a:solidFill>
                <a:latin typeface="Source Sans 3"/>
                <a:ea typeface="Source Sans 3"/>
                <a:cs typeface="Source Sans 3"/>
                <a:sym typeface="Source Sans 3"/>
              </a:rPr>
              <a:t>+71%</a:t>
            </a:r>
            <a:endParaRPr b="0" i="0" sz="1478" u="none" cap="none" strike="noStrike">
              <a:solidFill>
                <a:schemeClr val="dk1"/>
              </a:solidFill>
              <a:latin typeface="Calibri"/>
              <a:ea typeface="Calibri"/>
              <a:cs typeface="Calibri"/>
              <a:sym typeface="Calibri"/>
            </a:endParaRPr>
          </a:p>
        </p:txBody>
      </p:sp>
      <p:sp>
        <p:nvSpPr>
          <p:cNvPr id="318" name="Google Shape;318;p10"/>
          <p:cNvSpPr txBox="1"/>
          <p:nvPr/>
        </p:nvSpPr>
        <p:spPr>
          <a:xfrm>
            <a:off x="3335732" y="4890260"/>
            <a:ext cx="1261500" cy="27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D2A24"/>
              </a:buClr>
              <a:buSzPts val="887"/>
              <a:buFont typeface="Source Sans 3"/>
              <a:buNone/>
            </a:pPr>
            <a:r>
              <a:rPr b="0" i="0" lang="en-US" sz="887" u="none" cap="none" strike="noStrike">
                <a:solidFill>
                  <a:srgbClr val="1D2A24"/>
                </a:solidFill>
                <a:latin typeface="Source Sans 3"/>
                <a:ea typeface="Source Sans 3"/>
                <a:cs typeface="Source Sans 3"/>
                <a:sym typeface="Source Sans 3"/>
              </a:rPr>
              <a:t>Rest of</a:t>
            </a:r>
            <a:endParaRPr b="0" i="0" sz="887"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D2A24"/>
              </a:buClr>
              <a:buSzPts val="887"/>
              <a:buFont typeface="Source Sans 3"/>
              <a:buNone/>
            </a:pPr>
            <a:r>
              <a:rPr b="0" i="0" lang="en-US" sz="887" u="none" cap="none" strike="noStrike">
                <a:solidFill>
                  <a:srgbClr val="1D2A24"/>
                </a:solidFill>
                <a:latin typeface="Source Sans 3"/>
                <a:ea typeface="Source Sans 3"/>
                <a:cs typeface="Source Sans 3"/>
                <a:sym typeface="Source Sans 3"/>
              </a:rPr>
              <a:t>Portugal</a:t>
            </a:r>
            <a:endParaRPr b="0" i="0" sz="887" u="none" cap="none" strike="noStrike">
              <a:solidFill>
                <a:schemeClr val="dk1"/>
              </a:solidFill>
              <a:latin typeface="Calibri"/>
              <a:ea typeface="Calibri"/>
              <a:cs typeface="Calibri"/>
              <a:sym typeface="Calibri"/>
            </a:endParaRPr>
          </a:p>
        </p:txBody>
      </p:sp>
      <p:cxnSp>
        <p:nvCxnSpPr>
          <p:cNvPr id="319" name="Google Shape;319;p10"/>
          <p:cNvCxnSpPr/>
          <p:nvPr/>
        </p:nvCxnSpPr>
        <p:spPr>
          <a:xfrm>
            <a:off x="812800" y="4849713"/>
            <a:ext cx="3784500" cy="0"/>
          </a:xfrm>
          <a:prstGeom prst="straightConnector1">
            <a:avLst/>
          </a:prstGeom>
          <a:noFill/>
          <a:ln cap="flat" cmpd="sng" w="9400">
            <a:solidFill>
              <a:srgbClr val="C9BFA9"/>
            </a:solidFill>
            <a:prstDash val="solid"/>
            <a:round/>
            <a:headEnd len="sm" w="sm" type="none"/>
            <a:tailEnd len="sm" w="sm" type="none"/>
          </a:ln>
        </p:spPr>
      </p:cxnSp>
      <p:sp>
        <p:nvSpPr>
          <p:cNvPr id="320" name="Google Shape;320;p10"/>
          <p:cNvSpPr txBox="1"/>
          <p:nvPr/>
        </p:nvSpPr>
        <p:spPr>
          <a:xfrm>
            <a:off x="5914178" y="2193934"/>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Moita</a:t>
            </a:r>
            <a:endParaRPr b="0" i="0" sz="892" u="none" cap="none" strike="noStrike">
              <a:solidFill>
                <a:schemeClr val="dk1"/>
              </a:solidFill>
              <a:latin typeface="Calibri"/>
              <a:ea typeface="Calibri"/>
              <a:cs typeface="Calibri"/>
              <a:sym typeface="Calibri"/>
            </a:endParaRPr>
          </a:p>
        </p:txBody>
      </p:sp>
      <p:sp>
        <p:nvSpPr>
          <p:cNvPr id="321" name="Google Shape;321;p10"/>
          <p:cNvSpPr/>
          <p:nvPr/>
        </p:nvSpPr>
        <p:spPr>
          <a:xfrm>
            <a:off x="7323621" y="2208770"/>
            <a:ext cx="2382300" cy="174600"/>
          </a:xfrm>
          <a:prstGeom prst="rect">
            <a:avLst/>
          </a:prstGeom>
          <a:solidFill>
            <a:srgbClr val="9E1B32"/>
          </a:solidFill>
          <a:ln cap="flat" cmpd="sng" w="10300">
            <a:solidFill>
              <a:srgbClr val="9E1B3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22" name="Google Shape;322;p10"/>
          <p:cNvSpPr txBox="1"/>
          <p:nvPr/>
        </p:nvSpPr>
        <p:spPr>
          <a:xfrm>
            <a:off x="9750427" y="2193934"/>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+104%</a:t>
            </a:r>
            <a:endParaRPr b="0" i="0" sz="892" u="none" cap="none" strike="noStrike">
              <a:solidFill>
                <a:schemeClr val="dk1"/>
              </a:solidFill>
              <a:latin typeface="Calibri"/>
              <a:ea typeface="Calibri"/>
              <a:cs typeface="Calibri"/>
              <a:sym typeface="Calibri"/>
            </a:endParaRPr>
          </a:p>
        </p:txBody>
      </p:sp>
      <p:sp>
        <p:nvSpPr>
          <p:cNvPr id="323" name="Google Shape;323;p10"/>
          <p:cNvSpPr txBox="1"/>
          <p:nvPr/>
        </p:nvSpPr>
        <p:spPr>
          <a:xfrm>
            <a:off x="5914178" y="2450478"/>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Trofa</a:t>
            </a:r>
            <a:endParaRPr b="0" i="0" sz="892" u="none" cap="none" strike="noStrike">
              <a:solidFill>
                <a:schemeClr val="dk1"/>
              </a:solidFill>
              <a:latin typeface="Calibri"/>
              <a:ea typeface="Calibri"/>
              <a:cs typeface="Calibri"/>
              <a:sym typeface="Calibri"/>
            </a:endParaRPr>
          </a:p>
        </p:txBody>
      </p:sp>
      <p:sp>
        <p:nvSpPr>
          <p:cNvPr id="324" name="Google Shape;324;p10"/>
          <p:cNvSpPr/>
          <p:nvPr/>
        </p:nvSpPr>
        <p:spPr>
          <a:xfrm>
            <a:off x="7323621" y="2465314"/>
            <a:ext cx="2091000" cy="174600"/>
          </a:xfrm>
          <a:prstGeom prst="rect">
            <a:avLst/>
          </a:prstGeom>
          <a:solidFill>
            <a:srgbClr val="2E6B52"/>
          </a:solidFill>
          <a:ln cap="flat" cmpd="sng" w="10300">
            <a:solidFill>
              <a:srgbClr val="2E6B5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25" name="Google Shape;325;p10"/>
          <p:cNvSpPr txBox="1"/>
          <p:nvPr/>
        </p:nvSpPr>
        <p:spPr>
          <a:xfrm>
            <a:off x="9459232" y="2450478"/>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+91%</a:t>
            </a:r>
            <a:endParaRPr b="0" i="0" sz="892" u="none" cap="none" strike="noStrike">
              <a:solidFill>
                <a:schemeClr val="dk1"/>
              </a:solidFill>
              <a:latin typeface="Calibri"/>
              <a:ea typeface="Calibri"/>
              <a:cs typeface="Calibri"/>
              <a:sym typeface="Calibri"/>
            </a:endParaRPr>
          </a:p>
        </p:txBody>
      </p:sp>
      <p:sp>
        <p:nvSpPr>
          <p:cNvPr id="326" name="Google Shape;326;p10"/>
          <p:cNvSpPr txBox="1"/>
          <p:nvPr/>
        </p:nvSpPr>
        <p:spPr>
          <a:xfrm>
            <a:off x="5914178" y="2707021"/>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Barreiro</a:t>
            </a:r>
            <a:endParaRPr b="0" i="0" sz="892" u="none" cap="none" strike="noStrike">
              <a:solidFill>
                <a:schemeClr val="dk1"/>
              </a:solidFill>
              <a:latin typeface="Calibri"/>
              <a:ea typeface="Calibri"/>
              <a:cs typeface="Calibri"/>
              <a:sym typeface="Calibri"/>
            </a:endParaRPr>
          </a:p>
        </p:txBody>
      </p:sp>
      <p:sp>
        <p:nvSpPr>
          <p:cNvPr id="327" name="Google Shape;327;p10"/>
          <p:cNvSpPr/>
          <p:nvPr/>
        </p:nvSpPr>
        <p:spPr>
          <a:xfrm>
            <a:off x="7323621" y="2721857"/>
            <a:ext cx="1992600" cy="174600"/>
          </a:xfrm>
          <a:prstGeom prst="rect">
            <a:avLst/>
          </a:prstGeom>
          <a:solidFill>
            <a:srgbClr val="2E6B52"/>
          </a:solidFill>
          <a:ln cap="flat" cmpd="sng" w="10300">
            <a:solidFill>
              <a:srgbClr val="2E6B5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28" name="Google Shape;328;p10"/>
          <p:cNvSpPr txBox="1"/>
          <p:nvPr/>
        </p:nvSpPr>
        <p:spPr>
          <a:xfrm>
            <a:off x="9360638" y="2707021"/>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+87%</a:t>
            </a:r>
            <a:endParaRPr b="0" i="0" sz="892" u="none" cap="none" strike="noStrike">
              <a:solidFill>
                <a:schemeClr val="dk1"/>
              </a:solidFill>
              <a:latin typeface="Calibri"/>
              <a:ea typeface="Calibri"/>
              <a:cs typeface="Calibri"/>
              <a:sym typeface="Calibri"/>
            </a:endParaRPr>
          </a:p>
        </p:txBody>
      </p:sp>
      <p:sp>
        <p:nvSpPr>
          <p:cNvPr id="329" name="Google Shape;329;p10"/>
          <p:cNvSpPr txBox="1"/>
          <p:nvPr/>
        </p:nvSpPr>
        <p:spPr>
          <a:xfrm>
            <a:off x="5914178" y="2963565"/>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Palmela</a:t>
            </a:r>
            <a:endParaRPr b="0" i="0" sz="892" u="none" cap="none" strike="noStrike">
              <a:solidFill>
                <a:schemeClr val="dk1"/>
              </a:solidFill>
              <a:latin typeface="Calibri"/>
              <a:ea typeface="Calibri"/>
              <a:cs typeface="Calibri"/>
              <a:sym typeface="Calibri"/>
            </a:endParaRPr>
          </a:p>
        </p:txBody>
      </p:sp>
      <p:sp>
        <p:nvSpPr>
          <p:cNvPr id="330" name="Google Shape;330;p10"/>
          <p:cNvSpPr/>
          <p:nvPr/>
        </p:nvSpPr>
        <p:spPr>
          <a:xfrm>
            <a:off x="7323621" y="2978401"/>
            <a:ext cx="1974300" cy="174600"/>
          </a:xfrm>
          <a:prstGeom prst="rect">
            <a:avLst/>
          </a:prstGeom>
          <a:solidFill>
            <a:srgbClr val="2E6B52"/>
          </a:solidFill>
          <a:ln cap="flat" cmpd="sng" w="10300">
            <a:solidFill>
              <a:srgbClr val="2E6B5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31" name="Google Shape;331;p10"/>
          <p:cNvSpPr txBox="1"/>
          <p:nvPr/>
        </p:nvSpPr>
        <p:spPr>
          <a:xfrm>
            <a:off x="9342296" y="2963565"/>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+86%</a:t>
            </a:r>
            <a:endParaRPr b="0" i="0" sz="892" u="none" cap="none" strike="noStrike">
              <a:solidFill>
                <a:schemeClr val="dk1"/>
              </a:solidFill>
              <a:latin typeface="Calibri"/>
              <a:ea typeface="Calibri"/>
              <a:cs typeface="Calibri"/>
              <a:sym typeface="Calibri"/>
            </a:endParaRPr>
          </a:p>
        </p:txBody>
      </p:sp>
      <p:sp>
        <p:nvSpPr>
          <p:cNvPr id="332" name="Google Shape;332;p10"/>
          <p:cNvSpPr txBox="1"/>
          <p:nvPr/>
        </p:nvSpPr>
        <p:spPr>
          <a:xfrm>
            <a:off x="5914178" y="3220108"/>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Santo Tirso</a:t>
            </a:r>
            <a:endParaRPr b="0" i="0" sz="892" u="none" cap="none" strike="noStrike">
              <a:solidFill>
                <a:schemeClr val="dk1"/>
              </a:solidFill>
              <a:latin typeface="Calibri"/>
              <a:ea typeface="Calibri"/>
              <a:cs typeface="Calibri"/>
              <a:sym typeface="Calibri"/>
            </a:endParaRPr>
          </a:p>
        </p:txBody>
      </p:sp>
      <p:sp>
        <p:nvSpPr>
          <p:cNvPr id="333" name="Google Shape;333;p10"/>
          <p:cNvSpPr/>
          <p:nvPr/>
        </p:nvSpPr>
        <p:spPr>
          <a:xfrm>
            <a:off x="7323621" y="3234945"/>
            <a:ext cx="1974300" cy="174600"/>
          </a:xfrm>
          <a:prstGeom prst="rect">
            <a:avLst/>
          </a:prstGeom>
          <a:solidFill>
            <a:srgbClr val="2E6B52"/>
          </a:solidFill>
          <a:ln cap="flat" cmpd="sng" w="10300">
            <a:solidFill>
              <a:srgbClr val="2E6B5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34" name="Google Shape;334;p10"/>
          <p:cNvSpPr txBox="1"/>
          <p:nvPr/>
        </p:nvSpPr>
        <p:spPr>
          <a:xfrm>
            <a:off x="9342296" y="3220108"/>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+86%</a:t>
            </a:r>
            <a:endParaRPr b="0" i="0" sz="892" u="none" cap="none" strike="noStrike">
              <a:solidFill>
                <a:schemeClr val="dk1"/>
              </a:solidFill>
              <a:latin typeface="Calibri"/>
              <a:ea typeface="Calibri"/>
              <a:cs typeface="Calibri"/>
              <a:sym typeface="Calibri"/>
            </a:endParaRPr>
          </a:p>
        </p:txBody>
      </p:sp>
      <p:sp>
        <p:nvSpPr>
          <p:cNvPr id="335" name="Google Shape;335;p10"/>
          <p:cNvSpPr txBox="1"/>
          <p:nvPr/>
        </p:nvSpPr>
        <p:spPr>
          <a:xfrm>
            <a:off x="5914178" y="3476652"/>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Sesimbra</a:t>
            </a:r>
            <a:endParaRPr b="0" i="0" sz="892" u="none" cap="none" strike="noStrike">
              <a:solidFill>
                <a:schemeClr val="dk1"/>
              </a:solidFill>
              <a:latin typeface="Calibri"/>
              <a:ea typeface="Calibri"/>
              <a:cs typeface="Calibri"/>
              <a:sym typeface="Calibri"/>
            </a:endParaRPr>
          </a:p>
        </p:txBody>
      </p:sp>
      <p:sp>
        <p:nvSpPr>
          <p:cNvPr id="336" name="Google Shape;336;p10"/>
          <p:cNvSpPr/>
          <p:nvPr/>
        </p:nvSpPr>
        <p:spPr>
          <a:xfrm>
            <a:off x="7323621" y="3491488"/>
            <a:ext cx="1955700" cy="174600"/>
          </a:xfrm>
          <a:prstGeom prst="rect">
            <a:avLst/>
          </a:prstGeom>
          <a:solidFill>
            <a:srgbClr val="2E6B52"/>
          </a:solidFill>
          <a:ln cap="flat" cmpd="sng" w="10300">
            <a:solidFill>
              <a:srgbClr val="2E6B5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37" name="Google Shape;337;p10"/>
          <p:cNvSpPr txBox="1"/>
          <p:nvPr/>
        </p:nvSpPr>
        <p:spPr>
          <a:xfrm>
            <a:off x="9323952" y="3476652"/>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+85%</a:t>
            </a:r>
            <a:endParaRPr b="0" i="0" sz="892" u="none" cap="none" strike="noStrike">
              <a:solidFill>
                <a:schemeClr val="dk1"/>
              </a:solidFill>
              <a:latin typeface="Calibri"/>
              <a:ea typeface="Calibri"/>
              <a:cs typeface="Calibri"/>
              <a:sym typeface="Calibri"/>
            </a:endParaRPr>
          </a:p>
        </p:txBody>
      </p:sp>
      <p:sp>
        <p:nvSpPr>
          <p:cNvPr id="338" name="Google Shape;338;p10"/>
          <p:cNvSpPr txBox="1"/>
          <p:nvPr/>
        </p:nvSpPr>
        <p:spPr>
          <a:xfrm>
            <a:off x="5914178" y="3733196"/>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Vila do Conde</a:t>
            </a:r>
            <a:endParaRPr b="0" i="0" sz="892" u="none" cap="none" strike="noStrike">
              <a:solidFill>
                <a:schemeClr val="dk1"/>
              </a:solidFill>
              <a:latin typeface="Calibri"/>
              <a:ea typeface="Calibri"/>
              <a:cs typeface="Calibri"/>
              <a:sym typeface="Calibri"/>
            </a:endParaRPr>
          </a:p>
        </p:txBody>
      </p:sp>
      <p:sp>
        <p:nvSpPr>
          <p:cNvPr id="339" name="Google Shape;339;p10"/>
          <p:cNvSpPr/>
          <p:nvPr/>
        </p:nvSpPr>
        <p:spPr>
          <a:xfrm>
            <a:off x="7323621" y="3748032"/>
            <a:ext cx="1891500" cy="174600"/>
          </a:xfrm>
          <a:prstGeom prst="rect">
            <a:avLst/>
          </a:prstGeom>
          <a:solidFill>
            <a:srgbClr val="2E6B52"/>
          </a:solidFill>
          <a:ln cap="flat" cmpd="sng" w="10300">
            <a:solidFill>
              <a:srgbClr val="2E6B5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40" name="Google Shape;340;p10"/>
          <p:cNvSpPr txBox="1"/>
          <p:nvPr/>
        </p:nvSpPr>
        <p:spPr>
          <a:xfrm>
            <a:off x="9259752" y="3733196"/>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+83%</a:t>
            </a:r>
            <a:endParaRPr b="0" i="0" sz="892" u="none" cap="none" strike="noStrike">
              <a:solidFill>
                <a:schemeClr val="dk1"/>
              </a:solidFill>
              <a:latin typeface="Calibri"/>
              <a:ea typeface="Calibri"/>
              <a:cs typeface="Calibri"/>
              <a:sym typeface="Calibri"/>
            </a:endParaRPr>
          </a:p>
        </p:txBody>
      </p:sp>
      <p:sp>
        <p:nvSpPr>
          <p:cNvPr id="341" name="Google Shape;341;p10"/>
          <p:cNvSpPr txBox="1"/>
          <p:nvPr/>
        </p:nvSpPr>
        <p:spPr>
          <a:xfrm>
            <a:off x="5914178" y="3989739"/>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Mafra</a:t>
            </a:r>
            <a:endParaRPr b="0" i="0" sz="892" u="none" cap="none" strike="noStrike">
              <a:solidFill>
                <a:schemeClr val="dk1"/>
              </a:solidFill>
              <a:latin typeface="Calibri"/>
              <a:ea typeface="Calibri"/>
              <a:cs typeface="Calibri"/>
              <a:sym typeface="Calibri"/>
            </a:endParaRPr>
          </a:p>
        </p:txBody>
      </p:sp>
      <p:sp>
        <p:nvSpPr>
          <p:cNvPr id="342" name="Google Shape;342;p10"/>
          <p:cNvSpPr/>
          <p:nvPr/>
        </p:nvSpPr>
        <p:spPr>
          <a:xfrm>
            <a:off x="7323621" y="4004576"/>
            <a:ext cx="1884600" cy="174600"/>
          </a:xfrm>
          <a:prstGeom prst="rect">
            <a:avLst/>
          </a:prstGeom>
          <a:solidFill>
            <a:srgbClr val="2E6B52"/>
          </a:solidFill>
          <a:ln cap="flat" cmpd="sng" w="10300">
            <a:solidFill>
              <a:srgbClr val="2E6B5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43" name="Google Shape;343;p10"/>
          <p:cNvSpPr txBox="1"/>
          <p:nvPr/>
        </p:nvSpPr>
        <p:spPr>
          <a:xfrm>
            <a:off x="9252873" y="3989739"/>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+82%</a:t>
            </a:r>
            <a:endParaRPr b="0" i="0" sz="892" u="none" cap="none" strike="noStrike">
              <a:solidFill>
                <a:schemeClr val="dk1"/>
              </a:solidFill>
              <a:latin typeface="Calibri"/>
              <a:ea typeface="Calibri"/>
              <a:cs typeface="Calibri"/>
              <a:sym typeface="Calibri"/>
            </a:endParaRPr>
          </a:p>
        </p:txBody>
      </p:sp>
      <p:sp>
        <p:nvSpPr>
          <p:cNvPr id="344" name="Google Shape;344;p10"/>
          <p:cNvSpPr txBox="1"/>
          <p:nvPr/>
        </p:nvSpPr>
        <p:spPr>
          <a:xfrm>
            <a:off x="5914178" y="4246283"/>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S. João da Madeira</a:t>
            </a:r>
            <a:endParaRPr b="0" i="0" sz="892" u="none" cap="none" strike="noStrike">
              <a:solidFill>
                <a:schemeClr val="dk1"/>
              </a:solidFill>
              <a:latin typeface="Calibri"/>
              <a:ea typeface="Calibri"/>
              <a:cs typeface="Calibri"/>
              <a:sym typeface="Calibri"/>
            </a:endParaRPr>
          </a:p>
        </p:txBody>
      </p:sp>
      <p:sp>
        <p:nvSpPr>
          <p:cNvPr id="345" name="Google Shape;345;p10"/>
          <p:cNvSpPr/>
          <p:nvPr/>
        </p:nvSpPr>
        <p:spPr>
          <a:xfrm>
            <a:off x="7323621" y="4261119"/>
            <a:ext cx="1850400" cy="174600"/>
          </a:xfrm>
          <a:prstGeom prst="rect">
            <a:avLst/>
          </a:prstGeom>
          <a:solidFill>
            <a:srgbClr val="2E6B52"/>
          </a:solidFill>
          <a:ln cap="flat" cmpd="sng" w="10300">
            <a:solidFill>
              <a:srgbClr val="2E6B5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46" name="Google Shape;346;p10"/>
          <p:cNvSpPr txBox="1"/>
          <p:nvPr/>
        </p:nvSpPr>
        <p:spPr>
          <a:xfrm>
            <a:off x="9218480" y="4246283"/>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+81%</a:t>
            </a:r>
            <a:endParaRPr b="0" i="0" sz="892" u="none" cap="none" strike="noStrike">
              <a:solidFill>
                <a:schemeClr val="dk1"/>
              </a:solidFill>
              <a:latin typeface="Calibri"/>
              <a:ea typeface="Calibri"/>
              <a:cs typeface="Calibri"/>
              <a:sym typeface="Calibri"/>
            </a:endParaRPr>
          </a:p>
        </p:txBody>
      </p:sp>
      <p:sp>
        <p:nvSpPr>
          <p:cNvPr id="347" name="Google Shape;347;p10"/>
          <p:cNvSpPr txBox="1"/>
          <p:nvPr/>
        </p:nvSpPr>
        <p:spPr>
          <a:xfrm>
            <a:off x="5914178" y="4502827"/>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Alcochete</a:t>
            </a:r>
            <a:endParaRPr b="0" i="0" sz="892" u="none" cap="none" strike="noStrike">
              <a:solidFill>
                <a:schemeClr val="dk1"/>
              </a:solidFill>
              <a:latin typeface="Calibri"/>
              <a:ea typeface="Calibri"/>
              <a:cs typeface="Calibri"/>
              <a:sym typeface="Calibri"/>
            </a:endParaRPr>
          </a:p>
        </p:txBody>
      </p:sp>
      <p:sp>
        <p:nvSpPr>
          <p:cNvPr id="348" name="Google Shape;348;p10"/>
          <p:cNvSpPr/>
          <p:nvPr/>
        </p:nvSpPr>
        <p:spPr>
          <a:xfrm>
            <a:off x="7323621" y="4517663"/>
            <a:ext cx="1843500" cy="174600"/>
          </a:xfrm>
          <a:prstGeom prst="rect">
            <a:avLst/>
          </a:prstGeom>
          <a:solidFill>
            <a:srgbClr val="2E6B52"/>
          </a:solidFill>
          <a:ln cap="flat" cmpd="sng" w="10300">
            <a:solidFill>
              <a:srgbClr val="2E6B52"/>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49" name="Google Shape;349;p10"/>
          <p:cNvSpPr txBox="1"/>
          <p:nvPr/>
        </p:nvSpPr>
        <p:spPr>
          <a:xfrm>
            <a:off x="9211602" y="4502827"/>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+80%</a:t>
            </a:r>
            <a:endParaRPr b="0" i="0" sz="892" u="none" cap="none" strike="noStrike">
              <a:solidFill>
                <a:schemeClr val="dk1"/>
              </a:solidFill>
              <a:latin typeface="Calibri"/>
              <a:ea typeface="Calibri"/>
              <a:cs typeface="Calibri"/>
              <a:sym typeface="Calibri"/>
            </a:endParaRPr>
          </a:p>
        </p:txBody>
      </p:sp>
      <p:sp>
        <p:nvSpPr>
          <p:cNvPr id="350" name="Google Shape;350;p10"/>
          <p:cNvSpPr txBox="1"/>
          <p:nvPr/>
        </p:nvSpPr>
        <p:spPr>
          <a:xfrm>
            <a:off x="5914178" y="4759370"/>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Porto</a:t>
            </a:r>
            <a:endParaRPr b="0" i="0" sz="892" u="none" cap="none" strike="noStrike">
              <a:solidFill>
                <a:schemeClr val="dk1"/>
              </a:solidFill>
              <a:latin typeface="Calibri"/>
              <a:ea typeface="Calibri"/>
              <a:cs typeface="Calibri"/>
              <a:sym typeface="Calibri"/>
            </a:endParaRPr>
          </a:p>
        </p:txBody>
      </p:sp>
      <p:sp>
        <p:nvSpPr>
          <p:cNvPr id="351" name="Google Shape;351;p10"/>
          <p:cNvSpPr/>
          <p:nvPr/>
        </p:nvSpPr>
        <p:spPr>
          <a:xfrm>
            <a:off x="7323621" y="4774207"/>
            <a:ext cx="1359600" cy="174600"/>
          </a:xfrm>
          <a:prstGeom prst="rect">
            <a:avLst/>
          </a:prstGeom>
          <a:solidFill>
            <a:srgbClr val="A9C2B3"/>
          </a:solidFill>
          <a:ln cap="flat" cmpd="sng" w="10300">
            <a:solidFill>
              <a:srgbClr val="A9C2B3"/>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52" name="Google Shape;352;p10"/>
          <p:cNvSpPr txBox="1"/>
          <p:nvPr/>
        </p:nvSpPr>
        <p:spPr>
          <a:xfrm>
            <a:off x="8727805" y="4759370"/>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+59%</a:t>
            </a:r>
            <a:endParaRPr b="0" i="0" sz="892" u="none" cap="none" strike="noStrike">
              <a:solidFill>
                <a:schemeClr val="dk1"/>
              </a:solidFill>
              <a:latin typeface="Calibri"/>
              <a:ea typeface="Calibri"/>
              <a:cs typeface="Calibri"/>
              <a:sym typeface="Calibri"/>
            </a:endParaRPr>
          </a:p>
        </p:txBody>
      </p:sp>
      <p:sp>
        <p:nvSpPr>
          <p:cNvPr id="353" name="Google Shape;353;p10"/>
          <p:cNvSpPr txBox="1"/>
          <p:nvPr/>
        </p:nvSpPr>
        <p:spPr>
          <a:xfrm>
            <a:off x="5914178" y="5015914"/>
            <a:ext cx="1335300" cy="20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Lisbon</a:t>
            </a:r>
            <a:endParaRPr b="0" i="0" sz="892" u="none" cap="none" strike="noStrike">
              <a:solidFill>
                <a:schemeClr val="dk1"/>
              </a:solidFill>
              <a:latin typeface="Calibri"/>
              <a:ea typeface="Calibri"/>
              <a:cs typeface="Calibri"/>
              <a:sym typeface="Calibri"/>
            </a:endParaRPr>
          </a:p>
        </p:txBody>
      </p:sp>
      <p:sp>
        <p:nvSpPr>
          <p:cNvPr id="354" name="Google Shape;354;p10"/>
          <p:cNvSpPr/>
          <p:nvPr/>
        </p:nvSpPr>
        <p:spPr>
          <a:xfrm>
            <a:off x="7323621" y="5030750"/>
            <a:ext cx="1015800" cy="174600"/>
          </a:xfrm>
          <a:prstGeom prst="rect">
            <a:avLst/>
          </a:prstGeom>
          <a:solidFill>
            <a:srgbClr val="A9C2B3"/>
          </a:solidFill>
          <a:ln cap="flat" cmpd="sng" w="10300">
            <a:solidFill>
              <a:srgbClr val="A9C2B3"/>
            </a:solidFill>
            <a:prstDash val="solid"/>
            <a:round/>
            <a:headEnd len="sm" w="sm" type="none"/>
            <a:tailEnd len="sm" w="sm" type="none"/>
          </a:ln>
        </p:spPr>
        <p:txBody>
          <a:bodyPr anchorCtr="0" anchor="ctr" bIns="74175" lIns="74175" spcFirstLastPara="1" rIns="74175" wrap="square" tIns="74175">
            <a:noAutofit/>
          </a:bodyPr>
          <a:lstStyle/>
          <a:p>
            <a:pPr indent="0" lvl="0" marL="0" rtl="0" algn="l">
              <a:spcBef>
                <a:spcPts val="0"/>
              </a:spcBef>
              <a:spcAft>
                <a:spcPts val="0"/>
              </a:spcAft>
              <a:buNone/>
            </a:pPr>
            <a:r>
              <a:t/>
            </a:r>
            <a:endParaRPr/>
          </a:p>
        </p:txBody>
      </p:sp>
      <p:sp>
        <p:nvSpPr>
          <p:cNvPr id="355" name="Google Shape;355;p10"/>
          <p:cNvSpPr txBox="1"/>
          <p:nvPr/>
        </p:nvSpPr>
        <p:spPr>
          <a:xfrm>
            <a:off x="8383874" y="5015914"/>
            <a:ext cx="519300" cy="20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2A24"/>
              </a:buClr>
              <a:buSzPts val="892"/>
              <a:buFont typeface="Source Sans 3"/>
              <a:buNone/>
            </a:pPr>
            <a:r>
              <a:rPr b="0" i="0" lang="en-US" sz="892" u="none" cap="none" strike="noStrike">
                <a:solidFill>
                  <a:srgbClr val="1D2A24"/>
                </a:solidFill>
                <a:latin typeface="Source Sans 3"/>
                <a:ea typeface="Source Sans 3"/>
                <a:cs typeface="Source Sans 3"/>
                <a:sym typeface="Source Sans 3"/>
              </a:rPr>
              <a:t>+44%</a:t>
            </a:r>
            <a:endParaRPr b="0" i="0" sz="892" u="none" cap="none" strike="noStrike">
              <a:solidFill>
                <a:schemeClr val="dk1"/>
              </a:solidFill>
              <a:latin typeface="Calibri"/>
              <a:ea typeface="Calibri"/>
              <a:cs typeface="Calibri"/>
              <a:sym typeface="Calibri"/>
            </a:endParaRPr>
          </a:p>
        </p:txBody>
      </p:sp>
      <p:cxnSp>
        <p:nvCxnSpPr>
          <p:cNvPr id="356" name="Google Shape;356;p10"/>
          <p:cNvCxnSpPr/>
          <p:nvPr/>
        </p:nvCxnSpPr>
        <p:spPr>
          <a:xfrm>
            <a:off x="7323621" y="2167723"/>
            <a:ext cx="0" cy="3078600"/>
          </a:xfrm>
          <a:prstGeom prst="straightConnector1">
            <a:avLst/>
          </a:prstGeom>
          <a:noFill/>
          <a:ln cap="flat" cmpd="sng" w="10300">
            <a:solidFill>
              <a:srgbClr val="C9BFA9"/>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3D2E"/>
        </a:solidFill>
      </p:bgPr>
    </p:bg>
    <p:spTree>
      <p:nvGrpSpPr>
        <p:cNvPr id="361" name="Shape 361"/>
        <p:cNvGrpSpPr/>
        <p:nvPr/>
      </p:nvGrpSpPr>
      <p:grpSpPr>
        <a:xfrm>
          <a:off x="0" y="0"/>
          <a:ext cx="0" cy="0"/>
          <a:chOff x="0" y="0"/>
          <a:chExt cx="0" cy="0"/>
        </a:xfrm>
      </p:grpSpPr>
      <p:sp>
        <p:nvSpPr>
          <p:cNvPr id="362" name="Google Shape;362;p11"/>
          <p:cNvSpPr/>
          <p:nvPr/>
        </p:nvSpPr>
        <p:spPr>
          <a:xfrm>
            <a:off x="0" y="0"/>
            <a:ext cx="12192000" cy="88900"/>
          </a:xfrm>
          <a:prstGeom prst="rect">
            <a:avLst/>
          </a:prstGeom>
          <a:gradFill>
            <a:gsLst>
              <a:gs pos="0">
                <a:srgbClr val="C8A14A"/>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A14A"/>
              </a:buClr>
              <a:buSzPts val="1200"/>
              <a:buFont typeface="Source Sans 3"/>
              <a:buNone/>
            </a:pPr>
            <a:r>
              <a:rPr b="1" i="0" lang="en-US" sz="1200" u="none" cap="none" strike="noStrike">
                <a:solidFill>
                  <a:srgbClr val="C8A14A"/>
                </a:solidFill>
                <a:latin typeface="Source Sans 3"/>
                <a:ea typeface="Source Sans 3"/>
                <a:cs typeface="Source Sans 3"/>
                <a:sym typeface="Source Sans 3"/>
              </a:rPr>
              <a:t>CONCLUSIONS</a:t>
            </a:r>
            <a:endParaRPr b="0" i="0" sz="1200" u="none" cap="none" strike="noStrike">
              <a:solidFill>
                <a:schemeClr val="dk1"/>
              </a:solidFill>
              <a:latin typeface="Calibri"/>
              <a:ea typeface="Calibri"/>
              <a:cs typeface="Calibri"/>
              <a:sym typeface="Calibri"/>
            </a:endParaRPr>
          </a:p>
        </p:txBody>
      </p:sp>
      <p:sp>
        <p:nvSpPr>
          <p:cNvPr id="364" name="Google Shape;364;p11"/>
          <p:cNvSpPr/>
          <p:nvPr/>
        </p:nvSpPr>
        <p:spPr>
          <a:xfrm>
            <a:off x="812800" y="1115020"/>
            <a:ext cx="10883392" cy="4723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3EDE1"/>
              </a:buClr>
              <a:buSzPts val="3200"/>
              <a:buFont typeface="Playfair Display"/>
              <a:buNone/>
            </a:pPr>
            <a:r>
              <a:rPr b="1" i="0" lang="en-US" sz="3200" u="none" cap="none" strike="noStrike">
                <a:solidFill>
                  <a:srgbClr val="F3EDE1"/>
                </a:solidFill>
                <a:latin typeface="Playfair Display"/>
                <a:ea typeface="Playfair Display"/>
                <a:cs typeface="Playfair Display"/>
                <a:sym typeface="Playfair Display"/>
              </a:rPr>
              <a:t>Two hypotheses fully supported, one partly</a:t>
            </a:r>
            <a:endParaRPr b="0" i="0" sz="3200" u="none" cap="none" strike="noStrike">
              <a:solidFill>
                <a:schemeClr val="dk1"/>
              </a:solidFill>
              <a:latin typeface="Calibri"/>
              <a:ea typeface="Calibri"/>
              <a:cs typeface="Calibri"/>
              <a:sym typeface="Calibri"/>
            </a:endParaRPr>
          </a:p>
        </p:txBody>
      </p:sp>
      <p:sp>
        <p:nvSpPr>
          <p:cNvPr id="365" name="Google Shape;365;p11"/>
          <p:cNvSpPr/>
          <p:nvPr/>
        </p:nvSpPr>
        <p:spPr>
          <a:xfrm>
            <a:off x="812800" y="1816001"/>
            <a:ext cx="3386634" cy="4025999"/>
          </a:xfrm>
          <a:prstGeom prst="roundRect">
            <a:avLst>
              <a:gd fmla="val 3000" name="adj"/>
            </a:avLst>
          </a:prstGeom>
          <a:solidFill>
            <a:srgbClr val="FFFD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812800" y="1816001"/>
            <a:ext cx="3386634" cy="4025999"/>
          </a:xfrm>
          <a:custGeom>
            <a:rect b="b" l="l" r="r" t="t"/>
            <a:pathLst>
              <a:path extrusionOk="0" h="4025999" w="3386634">
                <a:moveTo>
                  <a:pt x="0" y="101600"/>
                </a:moveTo>
                <a:lnTo>
                  <a:pt x="0" y="101600"/>
                </a:lnTo>
                <a:cubicBezTo>
                  <a:pt x="0" y="45488"/>
                  <a:pt x="45488" y="0"/>
                  <a:pt x="101600" y="0"/>
                </a:cubicBezTo>
                <a:lnTo>
                  <a:pt x="3285034" y="0"/>
                </a:lnTo>
                <a:cubicBezTo>
                  <a:pt x="3311980" y="0"/>
                  <a:pt x="3337822" y="10704"/>
                  <a:pt x="3356876" y="29758"/>
                </a:cubicBezTo>
                <a:cubicBezTo>
                  <a:pt x="3375930" y="48812"/>
                  <a:pt x="3386634" y="74654"/>
                  <a:pt x="3386634" y="101600"/>
                </a:cubicBezTo>
                <a:lnTo>
                  <a:pt x="3386634" y="101600"/>
                </a:lnTo>
                <a:cubicBezTo>
                  <a:pt x="3386634" y="73544"/>
                  <a:pt x="3341146" y="50800"/>
                  <a:pt x="3285034" y="50800"/>
                </a:cubicBezTo>
                <a:lnTo>
                  <a:pt x="101600" y="50800"/>
                </a:lnTo>
                <a:cubicBezTo>
                  <a:pt x="45488" y="50800"/>
                  <a:pt x="0" y="73544"/>
                  <a:pt x="0" y="101600"/>
                </a:cubicBezTo>
                <a:close/>
              </a:path>
            </a:pathLst>
          </a:custGeom>
          <a:solidFill>
            <a:srgbClr val="9E1B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1"/>
          <p:cNvSpPr/>
          <p:nvPr/>
        </p:nvSpPr>
        <p:spPr>
          <a:xfrm>
            <a:off x="1066800" y="2120801"/>
            <a:ext cx="2964993"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300"/>
              <a:buFont typeface="Source Sans 3"/>
              <a:buNone/>
            </a:pPr>
            <a:r>
              <a:rPr b="1" i="0" lang="en-US" sz="1300" u="none" cap="none" strike="noStrike">
                <a:solidFill>
                  <a:srgbClr val="6F7470"/>
                </a:solidFill>
                <a:latin typeface="Source Sans 3"/>
                <a:ea typeface="Source Sans 3"/>
                <a:cs typeface="Source Sans 3"/>
                <a:sym typeface="Source Sans 3"/>
              </a:rPr>
              <a:t>H1 · Rent vs wages</a:t>
            </a:r>
            <a:endParaRPr b="0" i="0" sz="1300" u="none" cap="none" strike="noStrike">
              <a:solidFill>
                <a:schemeClr val="dk1"/>
              </a:solidFill>
              <a:latin typeface="Calibri"/>
              <a:ea typeface="Calibri"/>
              <a:cs typeface="Calibri"/>
              <a:sym typeface="Calibri"/>
            </a:endParaRPr>
          </a:p>
        </p:txBody>
      </p:sp>
      <p:sp>
        <p:nvSpPr>
          <p:cNvPr id="368" name="Google Shape;368;p11"/>
          <p:cNvSpPr/>
          <p:nvPr/>
        </p:nvSpPr>
        <p:spPr>
          <a:xfrm>
            <a:off x="1066800" y="2466181"/>
            <a:ext cx="2964993"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9E1B32"/>
              </a:buClr>
              <a:buSzPts val="2200"/>
              <a:buFont typeface="Playfair Display"/>
              <a:buNone/>
            </a:pPr>
            <a:r>
              <a:rPr b="1" i="0" lang="en-US" sz="2200" u="none" cap="none" strike="noStrike">
                <a:solidFill>
                  <a:srgbClr val="9E1B32"/>
                </a:solidFill>
                <a:latin typeface="Playfair Display"/>
                <a:ea typeface="Playfair Display"/>
                <a:cs typeface="Playfair Display"/>
                <a:sym typeface="Playfair Display"/>
              </a:rPr>
              <a:t>Supported</a:t>
            </a:r>
            <a:endParaRPr b="0" i="0" sz="2200" u="none" cap="none" strike="noStrike">
              <a:solidFill>
                <a:schemeClr val="dk1"/>
              </a:solidFill>
              <a:latin typeface="Calibri"/>
              <a:ea typeface="Calibri"/>
              <a:cs typeface="Calibri"/>
              <a:sym typeface="Calibri"/>
            </a:endParaRPr>
          </a:p>
        </p:txBody>
      </p:sp>
      <p:sp>
        <p:nvSpPr>
          <p:cNvPr id="369" name="Google Shape;369;p11"/>
          <p:cNvSpPr/>
          <p:nvPr/>
        </p:nvSpPr>
        <p:spPr>
          <a:xfrm>
            <a:off x="1152144" y="2915741"/>
            <a:ext cx="2872029" cy="1180802"/>
          </a:xfrm>
          <a:prstGeom prst="rect">
            <a:avLst/>
          </a:prstGeom>
          <a:noFill/>
          <a:ln>
            <a:noFill/>
          </a:ln>
        </p:spPr>
        <p:txBody>
          <a:bodyPr anchorCtr="0" anchor="t" bIns="0" lIns="0" spcFirstLastPara="1" rIns="0" wrap="square" tIns="0">
            <a:noAutofit/>
          </a:bodyPr>
          <a:lstStyle/>
          <a:p>
            <a:pPr indent="0" lvl="0" marL="457200" marR="0" rtl="0" algn="l">
              <a:lnSpc>
                <a:spcPct val="140000"/>
              </a:lnSpc>
              <a:spcBef>
                <a:spcPts val="0"/>
              </a:spcBef>
              <a:spcAft>
                <a:spcPts val="0"/>
              </a:spcAft>
              <a:buNone/>
            </a:pPr>
            <a:r>
              <a:t/>
            </a:r>
            <a:endParaRPr sz="1350">
              <a:solidFill>
                <a:srgbClr val="1D2A24"/>
              </a:solidFill>
              <a:latin typeface="Source Sans 3"/>
              <a:ea typeface="Source Sans 3"/>
              <a:cs typeface="Source Sans 3"/>
              <a:sym typeface="Source Sans 3"/>
            </a:endParaRPr>
          </a:p>
          <a:p>
            <a:pPr indent="-171831" lvl="0" marL="168656" marR="0" rtl="0" algn="l">
              <a:lnSpc>
                <a:spcPct val="140000"/>
              </a:lnSpc>
              <a:spcBef>
                <a:spcPts val="0"/>
              </a:spcBef>
              <a:spcAft>
                <a:spcPts val="0"/>
              </a:spcAft>
              <a:buClr>
                <a:srgbClr val="1D2A24"/>
              </a:buClr>
              <a:buSzPts val="1350"/>
              <a:buFont typeface="Source Sans 3"/>
              <a:buChar char="•"/>
            </a:pPr>
            <a:r>
              <a:rPr b="0" i="0" lang="en-US" sz="1350" u="none" cap="none" strike="noStrike">
                <a:solidFill>
                  <a:srgbClr val="1D2A24"/>
                </a:solidFill>
                <a:latin typeface="Source Sans 3"/>
                <a:ea typeface="Source Sans 3"/>
                <a:cs typeface="Source Sans 3"/>
                <a:sym typeface="Source Sans 3"/>
              </a:rPr>
              <a:t>Rent </a:t>
            </a:r>
            <a:r>
              <a:rPr b="1" i="0" lang="en-US" sz="1350" u="none" cap="none" strike="noStrike">
                <a:solidFill>
                  <a:srgbClr val="1D2A24"/>
                </a:solidFill>
                <a:latin typeface="Source Sans 3"/>
                <a:ea typeface="Source Sans 3"/>
                <a:cs typeface="Source Sans 3"/>
                <a:sym typeface="Source Sans 3"/>
              </a:rPr>
              <a:t>+109%</a:t>
            </a:r>
            <a:r>
              <a:rPr b="0" i="0" lang="en-US" sz="1350" u="none" cap="none" strike="noStrike">
                <a:solidFill>
                  <a:srgbClr val="1D2A24"/>
                </a:solidFill>
                <a:latin typeface="Source Sans 3"/>
                <a:ea typeface="Source Sans 3"/>
                <a:cs typeface="Source Sans 3"/>
                <a:sym typeface="Source Sans 3"/>
              </a:rPr>
              <a:t> vs wages </a:t>
            </a:r>
            <a:r>
              <a:rPr b="1" i="0" lang="en-US" sz="1350" u="none" cap="none" strike="noStrike">
                <a:solidFill>
                  <a:srgbClr val="1D2A24"/>
                </a:solidFill>
                <a:latin typeface="Source Sans 3"/>
                <a:ea typeface="Source Sans 3"/>
                <a:cs typeface="Source Sans 3"/>
                <a:sym typeface="Source Sans 3"/>
              </a:rPr>
              <a:t>+43%</a:t>
            </a:r>
            <a:r>
              <a:rPr b="0" i="0" lang="en-US" sz="1350" u="none" cap="none" strike="noStrike">
                <a:solidFill>
                  <a:srgbClr val="1D2A24"/>
                </a:solidFill>
                <a:latin typeface="Source Sans 3"/>
                <a:ea typeface="Source Sans 3"/>
                <a:cs typeface="Source Sans 3"/>
                <a:sym typeface="Source Sans 3"/>
              </a:rPr>
              <a:t> (2017 – Jun 2026)</a:t>
            </a:r>
            <a:endParaRPr b="0" i="0" sz="1350" u="none" cap="none" strike="noStrike">
              <a:solidFill>
                <a:srgbClr val="1D2A24"/>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1D2A24"/>
              </a:solidFill>
              <a:latin typeface="Source Sans 3"/>
              <a:ea typeface="Source Sans 3"/>
              <a:cs typeface="Source Sans 3"/>
              <a:sym typeface="Source Sans 3"/>
            </a:endParaRPr>
          </a:p>
          <a:p>
            <a:pPr indent="-171831" lvl="0" marL="168656" marR="0" rtl="0" algn="l">
              <a:lnSpc>
                <a:spcPct val="140000"/>
              </a:lnSpc>
              <a:spcBef>
                <a:spcPts val="0"/>
              </a:spcBef>
              <a:spcAft>
                <a:spcPts val="0"/>
              </a:spcAft>
              <a:buClr>
                <a:srgbClr val="1D2A24"/>
              </a:buClr>
              <a:buSzPts val="1350"/>
              <a:buFont typeface="Source Sans 3"/>
              <a:buChar char="•"/>
            </a:pPr>
            <a:r>
              <a:rPr b="0" i="0" lang="en-US" sz="1350" u="none" cap="none" strike="noStrike">
                <a:solidFill>
                  <a:srgbClr val="1D2A24"/>
                </a:solidFill>
                <a:latin typeface="Source Sans 3"/>
                <a:ea typeface="Source Sans 3"/>
                <a:cs typeface="Source Sans 3"/>
                <a:sym typeface="Source Sans 3"/>
              </a:rPr>
              <a:t>80 m² flat: </a:t>
            </a:r>
            <a:r>
              <a:rPr b="1" i="0" lang="en-US" sz="1350" u="none" cap="none" strike="noStrike">
                <a:solidFill>
                  <a:srgbClr val="1D2A24"/>
                </a:solidFill>
                <a:latin typeface="Source Sans 3"/>
                <a:ea typeface="Source Sans 3"/>
                <a:cs typeface="Source Sans 3"/>
                <a:sym typeface="Source Sans 3"/>
              </a:rPr>
              <a:t>29% → 42%</a:t>
            </a:r>
            <a:r>
              <a:rPr b="0" i="0" lang="en-US" sz="1350" u="none" cap="none" strike="noStrike">
                <a:solidFill>
                  <a:srgbClr val="1D2A24"/>
                </a:solidFill>
                <a:latin typeface="Source Sans 3"/>
                <a:ea typeface="Source Sans 3"/>
                <a:cs typeface="Source Sans 3"/>
                <a:sym typeface="Source Sans 3"/>
              </a:rPr>
              <a:t> of a gross salary</a:t>
            </a:r>
            <a:endParaRPr b="0" i="0" sz="1350" u="none" cap="none" strike="noStrike">
              <a:solidFill>
                <a:schemeClr val="dk1"/>
              </a:solidFill>
              <a:latin typeface="Calibri"/>
              <a:ea typeface="Calibri"/>
              <a:cs typeface="Calibri"/>
              <a:sym typeface="Calibri"/>
            </a:endParaRPr>
          </a:p>
        </p:txBody>
      </p:sp>
      <p:sp>
        <p:nvSpPr>
          <p:cNvPr id="370" name="Google Shape;370;p11"/>
          <p:cNvSpPr/>
          <p:nvPr/>
        </p:nvSpPr>
        <p:spPr>
          <a:xfrm>
            <a:off x="4402634" y="1816001"/>
            <a:ext cx="3386733" cy="4025999"/>
          </a:xfrm>
          <a:prstGeom prst="roundRect">
            <a:avLst>
              <a:gd fmla="val 3000" name="adj"/>
            </a:avLst>
          </a:prstGeom>
          <a:solidFill>
            <a:srgbClr val="FFFD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1"/>
          <p:cNvSpPr/>
          <p:nvPr/>
        </p:nvSpPr>
        <p:spPr>
          <a:xfrm>
            <a:off x="4402634" y="1816001"/>
            <a:ext cx="3386733" cy="4025999"/>
          </a:xfrm>
          <a:custGeom>
            <a:rect b="b" l="l" r="r" t="t"/>
            <a:pathLst>
              <a:path extrusionOk="0" h="4025999" w="3386733">
                <a:moveTo>
                  <a:pt x="0" y="101600"/>
                </a:moveTo>
                <a:lnTo>
                  <a:pt x="0" y="101600"/>
                </a:lnTo>
                <a:cubicBezTo>
                  <a:pt x="0" y="45488"/>
                  <a:pt x="45488" y="0"/>
                  <a:pt x="101600" y="0"/>
                </a:cubicBezTo>
                <a:lnTo>
                  <a:pt x="3285133" y="0"/>
                </a:lnTo>
                <a:cubicBezTo>
                  <a:pt x="3312079" y="0"/>
                  <a:pt x="3337921" y="10704"/>
                  <a:pt x="3356975" y="29758"/>
                </a:cubicBezTo>
                <a:cubicBezTo>
                  <a:pt x="3376029" y="48812"/>
                  <a:pt x="3386733" y="74654"/>
                  <a:pt x="3386733" y="101600"/>
                </a:cubicBezTo>
                <a:lnTo>
                  <a:pt x="3386733" y="101600"/>
                </a:lnTo>
                <a:cubicBezTo>
                  <a:pt x="3386733" y="73544"/>
                  <a:pt x="3341245" y="50800"/>
                  <a:pt x="3285133" y="50800"/>
                </a:cubicBezTo>
                <a:lnTo>
                  <a:pt x="101600" y="50800"/>
                </a:lnTo>
                <a:cubicBezTo>
                  <a:pt x="45488" y="50800"/>
                  <a:pt x="0" y="73544"/>
                  <a:pt x="0" y="101600"/>
                </a:cubicBezTo>
                <a:close/>
              </a:path>
            </a:pathLst>
          </a:custGeom>
          <a:solidFill>
            <a:srgbClr val="2E6B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4656634" y="2120801"/>
            <a:ext cx="2965095"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300"/>
              <a:buFont typeface="Source Sans 3"/>
              <a:buNone/>
            </a:pPr>
            <a:r>
              <a:rPr b="1" i="0" lang="en-US" sz="1300" u="none" cap="none" strike="noStrike">
                <a:solidFill>
                  <a:srgbClr val="6F7470"/>
                </a:solidFill>
                <a:latin typeface="Source Sans 3"/>
                <a:ea typeface="Source Sans 3"/>
                <a:cs typeface="Source Sans 3"/>
                <a:sym typeface="Source Sans 3"/>
              </a:rPr>
              <a:t>H2 · Short-term rentals</a:t>
            </a:r>
            <a:endParaRPr b="0" i="0" sz="1300" u="none" cap="none" strike="noStrike">
              <a:solidFill>
                <a:schemeClr val="dk1"/>
              </a:solidFill>
              <a:latin typeface="Calibri"/>
              <a:ea typeface="Calibri"/>
              <a:cs typeface="Calibri"/>
              <a:sym typeface="Calibri"/>
            </a:endParaRPr>
          </a:p>
        </p:txBody>
      </p:sp>
      <p:sp>
        <p:nvSpPr>
          <p:cNvPr id="373" name="Google Shape;373;p11"/>
          <p:cNvSpPr/>
          <p:nvPr/>
        </p:nvSpPr>
        <p:spPr>
          <a:xfrm>
            <a:off x="4656634" y="2466181"/>
            <a:ext cx="2965095"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E6B52"/>
              </a:buClr>
              <a:buSzPts val="2200"/>
              <a:buFont typeface="Playfair Display"/>
              <a:buNone/>
            </a:pPr>
            <a:r>
              <a:rPr b="1" i="0" lang="en-US" sz="2200" u="none" cap="none" strike="noStrike">
                <a:solidFill>
                  <a:srgbClr val="2E6B52"/>
                </a:solidFill>
                <a:latin typeface="Playfair Display"/>
                <a:ea typeface="Playfair Display"/>
                <a:cs typeface="Playfair Display"/>
                <a:sym typeface="Playfair Display"/>
              </a:rPr>
              <a:t>Partly supported</a:t>
            </a:r>
            <a:endParaRPr b="0" i="0" sz="2200" u="none" cap="none" strike="noStrike">
              <a:solidFill>
                <a:schemeClr val="dk1"/>
              </a:solidFill>
              <a:latin typeface="Calibri"/>
              <a:ea typeface="Calibri"/>
              <a:cs typeface="Calibri"/>
              <a:sym typeface="Calibri"/>
            </a:endParaRPr>
          </a:p>
        </p:txBody>
      </p:sp>
      <p:sp>
        <p:nvSpPr>
          <p:cNvPr id="374" name="Google Shape;374;p11"/>
          <p:cNvSpPr/>
          <p:nvPr/>
        </p:nvSpPr>
        <p:spPr>
          <a:xfrm>
            <a:off x="4741978" y="2915741"/>
            <a:ext cx="2872131" cy="1180802"/>
          </a:xfrm>
          <a:prstGeom prst="rect">
            <a:avLst/>
          </a:prstGeom>
          <a:noFill/>
          <a:ln>
            <a:noFill/>
          </a:ln>
        </p:spPr>
        <p:txBody>
          <a:bodyPr anchorCtr="0" anchor="t" bIns="0" lIns="0" spcFirstLastPara="1" rIns="0" wrap="square" tIns="0">
            <a:noAutofit/>
          </a:bodyPr>
          <a:lstStyle/>
          <a:p>
            <a:pPr indent="0" lvl="0" marL="457200" marR="0" rtl="0" algn="l">
              <a:lnSpc>
                <a:spcPct val="140000"/>
              </a:lnSpc>
              <a:spcBef>
                <a:spcPts val="0"/>
              </a:spcBef>
              <a:spcAft>
                <a:spcPts val="0"/>
              </a:spcAft>
              <a:buNone/>
            </a:pPr>
            <a:r>
              <a:t/>
            </a:r>
            <a:endParaRPr sz="1350">
              <a:solidFill>
                <a:srgbClr val="1D2A24"/>
              </a:solidFill>
              <a:latin typeface="Source Sans 3"/>
              <a:ea typeface="Source Sans 3"/>
              <a:cs typeface="Source Sans 3"/>
              <a:sym typeface="Source Sans 3"/>
            </a:endParaRPr>
          </a:p>
          <a:p>
            <a:pPr indent="-171831" lvl="0" marL="168656" marR="0" rtl="0" algn="l">
              <a:lnSpc>
                <a:spcPct val="140000"/>
              </a:lnSpc>
              <a:spcBef>
                <a:spcPts val="0"/>
              </a:spcBef>
              <a:spcAft>
                <a:spcPts val="0"/>
              </a:spcAft>
              <a:buClr>
                <a:srgbClr val="1D2A24"/>
              </a:buClr>
              <a:buSzPts val="1350"/>
              <a:buFont typeface="Source Sans 3"/>
              <a:buChar char="•"/>
            </a:pPr>
            <a:r>
              <a:rPr b="0" i="0" lang="en-US" sz="1350" u="none" cap="none" strike="noStrike">
                <a:solidFill>
                  <a:srgbClr val="1D2A24"/>
                </a:solidFill>
                <a:latin typeface="Source Sans 3"/>
                <a:ea typeface="Source Sans 3"/>
                <a:cs typeface="Source Sans 3"/>
                <a:sym typeface="Source Sans 3"/>
              </a:rPr>
              <a:t>Large municipalities: </a:t>
            </a:r>
            <a:r>
              <a:rPr b="1" i="0" lang="en-US" sz="1350" u="none" cap="none" strike="noStrike">
                <a:solidFill>
                  <a:srgbClr val="1D2A24"/>
                </a:solidFill>
                <a:latin typeface="Source Sans 3"/>
                <a:ea typeface="Source Sans 3"/>
                <a:cs typeface="Source Sans 3"/>
                <a:sym typeface="Source Sans 3"/>
              </a:rPr>
              <a:t>+41%</a:t>
            </a:r>
            <a:r>
              <a:rPr b="0" i="0" lang="en-US" sz="1350" u="none" cap="none" strike="noStrike">
                <a:solidFill>
                  <a:srgbClr val="1D2A24"/>
                </a:solidFill>
                <a:latin typeface="Source Sans 3"/>
                <a:ea typeface="Source Sans 3"/>
                <a:cs typeface="Source Sans 3"/>
                <a:sym typeface="Source Sans 3"/>
              </a:rPr>
              <a:t> rent with more short-term rentals</a:t>
            </a:r>
            <a:endParaRPr b="0" i="0" sz="1350" u="none" cap="none" strike="noStrike">
              <a:solidFill>
                <a:srgbClr val="1D2A24"/>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1D2A24"/>
              </a:solidFill>
              <a:latin typeface="Source Sans 3"/>
              <a:ea typeface="Source Sans 3"/>
              <a:cs typeface="Source Sans 3"/>
              <a:sym typeface="Source Sans 3"/>
            </a:endParaRPr>
          </a:p>
          <a:p>
            <a:pPr indent="-171831" lvl="0" marL="168656" marR="0" rtl="0" algn="l">
              <a:lnSpc>
                <a:spcPct val="140000"/>
              </a:lnSpc>
              <a:spcBef>
                <a:spcPts val="0"/>
              </a:spcBef>
              <a:spcAft>
                <a:spcPts val="0"/>
              </a:spcAft>
              <a:buClr>
                <a:srgbClr val="1D2A24"/>
              </a:buClr>
              <a:buSzPts val="1350"/>
              <a:buFont typeface="Source Sans 3"/>
              <a:buChar char="•"/>
            </a:pPr>
            <a:r>
              <a:rPr b="0" i="0" lang="en-US" sz="1350" u="none" cap="none" strike="noStrike">
                <a:solidFill>
                  <a:srgbClr val="1D2A24"/>
                </a:solidFill>
                <a:latin typeface="Source Sans 3"/>
                <a:ea typeface="Source Sans 3"/>
                <a:cs typeface="Source Sans 3"/>
                <a:sym typeface="Source Sans 3"/>
              </a:rPr>
              <a:t>Small ones: no difference</a:t>
            </a:r>
            <a:endParaRPr b="0" i="0" sz="1350" u="none" cap="none" strike="noStrike">
              <a:solidFill>
                <a:srgbClr val="1D2A24"/>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1D2A24"/>
              </a:solidFill>
              <a:latin typeface="Source Sans 3"/>
              <a:ea typeface="Source Sans 3"/>
              <a:cs typeface="Source Sans 3"/>
              <a:sym typeface="Source Sans 3"/>
            </a:endParaRPr>
          </a:p>
          <a:p>
            <a:pPr indent="-171831" lvl="0" marL="168656" marR="0" rtl="0" algn="l">
              <a:lnSpc>
                <a:spcPct val="140000"/>
              </a:lnSpc>
              <a:spcBef>
                <a:spcPts val="0"/>
              </a:spcBef>
              <a:spcAft>
                <a:spcPts val="0"/>
              </a:spcAft>
              <a:buClr>
                <a:srgbClr val="1D2A24"/>
              </a:buClr>
              <a:buSzPts val="1350"/>
              <a:buFont typeface="Source Sans 3"/>
              <a:buChar char="•"/>
            </a:pPr>
            <a:r>
              <a:rPr b="0" i="0" lang="en-US" sz="1350" u="none" cap="none" strike="noStrike">
                <a:solidFill>
                  <a:srgbClr val="1D2A24"/>
                </a:solidFill>
                <a:latin typeface="Source Sans 3"/>
                <a:ea typeface="Source Sans 3"/>
                <a:cs typeface="Source Sans 3"/>
                <a:sym typeface="Source Sans 3"/>
              </a:rPr>
              <a:t>Rent </a:t>
            </a:r>
            <a:r>
              <a:rPr b="1" i="0" lang="en-US" sz="1350" u="none" cap="none" strike="noStrike">
                <a:solidFill>
                  <a:srgbClr val="1D2A24"/>
                </a:solidFill>
                <a:latin typeface="Source Sans 3"/>
                <a:ea typeface="Source Sans 3"/>
                <a:cs typeface="Source Sans 3"/>
                <a:sym typeface="Source Sans 3"/>
              </a:rPr>
              <a:t>+71%</a:t>
            </a:r>
            <a:r>
              <a:rPr b="0" i="0" lang="en-US" sz="1350" u="none" cap="none" strike="noStrike">
                <a:solidFill>
                  <a:srgbClr val="1D2A24"/>
                </a:solidFill>
                <a:latin typeface="Source Sans 3"/>
                <a:ea typeface="Source Sans 3"/>
                <a:cs typeface="Source Sans 3"/>
                <a:sym typeface="Source Sans 3"/>
              </a:rPr>
              <a:t> since 2020, not faster where short-term rentals grew</a:t>
            </a:r>
            <a:endParaRPr b="0" i="0" sz="1350" u="none" cap="none" strike="noStrike">
              <a:solidFill>
                <a:schemeClr val="dk1"/>
              </a:solidFill>
              <a:latin typeface="Calibri"/>
              <a:ea typeface="Calibri"/>
              <a:cs typeface="Calibri"/>
              <a:sym typeface="Calibri"/>
            </a:endParaRPr>
          </a:p>
        </p:txBody>
      </p:sp>
      <p:sp>
        <p:nvSpPr>
          <p:cNvPr id="375" name="Google Shape;375;p11"/>
          <p:cNvSpPr/>
          <p:nvPr/>
        </p:nvSpPr>
        <p:spPr>
          <a:xfrm>
            <a:off x="7992566" y="1816001"/>
            <a:ext cx="3386634" cy="4025999"/>
          </a:xfrm>
          <a:prstGeom prst="roundRect">
            <a:avLst>
              <a:gd fmla="val 3000" name="adj"/>
            </a:avLst>
          </a:prstGeom>
          <a:solidFill>
            <a:srgbClr val="FFFD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1"/>
          <p:cNvSpPr/>
          <p:nvPr/>
        </p:nvSpPr>
        <p:spPr>
          <a:xfrm>
            <a:off x="7992566" y="1816001"/>
            <a:ext cx="3386634" cy="4025999"/>
          </a:xfrm>
          <a:custGeom>
            <a:rect b="b" l="l" r="r" t="t"/>
            <a:pathLst>
              <a:path extrusionOk="0" h="4025999" w="3386634">
                <a:moveTo>
                  <a:pt x="0" y="101600"/>
                </a:moveTo>
                <a:lnTo>
                  <a:pt x="0" y="101600"/>
                </a:lnTo>
                <a:cubicBezTo>
                  <a:pt x="0" y="45488"/>
                  <a:pt x="45488" y="0"/>
                  <a:pt x="101600" y="0"/>
                </a:cubicBezTo>
                <a:lnTo>
                  <a:pt x="3285034" y="0"/>
                </a:lnTo>
                <a:cubicBezTo>
                  <a:pt x="3311980" y="0"/>
                  <a:pt x="3337822" y="10704"/>
                  <a:pt x="3356876" y="29758"/>
                </a:cubicBezTo>
                <a:cubicBezTo>
                  <a:pt x="3375930" y="48812"/>
                  <a:pt x="3386634" y="74654"/>
                  <a:pt x="3386634" y="101600"/>
                </a:cubicBezTo>
                <a:lnTo>
                  <a:pt x="3386634" y="101600"/>
                </a:lnTo>
                <a:cubicBezTo>
                  <a:pt x="3386634" y="73544"/>
                  <a:pt x="3341146" y="50800"/>
                  <a:pt x="3285034" y="50800"/>
                </a:cubicBezTo>
                <a:lnTo>
                  <a:pt x="101600" y="50800"/>
                </a:lnTo>
                <a:cubicBezTo>
                  <a:pt x="45488" y="50800"/>
                  <a:pt x="0" y="73544"/>
                  <a:pt x="0" y="101600"/>
                </a:cubicBezTo>
                <a:close/>
              </a:path>
            </a:pathLst>
          </a:custGeom>
          <a:solidFill>
            <a:srgbClr val="9E1B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1"/>
          <p:cNvSpPr/>
          <p:nvPr/>
        </p:nvSpPr>
        <p:spPr>
          <a:xfrm>
            <a:off x="8246566" y="2120801"/>
            <a:ext cx="2964993"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300"/>
              <a:buFont typeface="Source Sans 3"/>
              <a:buNone/>
            </a:pPr>
            <a:r>
              <a:rPr b="1" i="0" lang="en-US" sz="1300" u="none" cap="none" strike="noStrike">
                <a:solidFill>
                  <a:srgbClr val="6F7470"/>
                </a:solidFill>
                <a:latin typeface="Source Sans 3"/>
                <a:ea typeface="Source Sans 3"/>
                <a:cs typeface="Source Sans 3"/>
                <a:sym typeface="Source Sans 3"/>
              </a:rPr>
              <a:t>H3 · Crisis spreading</a:t>
            </a:r>
            <a:endParaRPr b="0" i="0" sz="1300" u="none" cap="none" strike="noStrike">
              <a:solidFill>
                <a:schemeClr val="dk1"/>
              </a:solidFill>
              <a:latin typeface="Calibri"/>
              <a:ea typeface="Calibri"/>
              <a:cs typeface="Calibri"/>
              <a:sym typeface="Calibri"/>
            </a:endParaRPr>
          </a:p>
        </p:txBody>
      </p:sp>
      <p:sp>
        <p:nvSpPr>
          <p:cNvPr id="378" name="Google Shape;378;p11"/>
          <p:cNvSpPr/>
          <p:nvPr/>
        </p:nvSpPr>
        <p:spPr>
          <a:xfrm>
            <a:off x="8246566" y="2466181"/>
            <a:ext cx="2964993"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9E1B32"/>
              </a:buClr>
              <a:buSzPts val="2200"/>
              <a:buFont typeface="Playfair Display"/>
              <a:buNone/>
            </a:pPr>
            <a:r>
              <a:rPr b="1" i="0" lang="en-US" sz="2200" u="none" cap="none" strike="noStrike">
                <a:solidFill>
                  <a:srgbClr val="9E1B32"/>
                </a:solidFill>
                <a:latin typeface="Playfair Display"/>
                <a:ea typeface="Playfair Display"/>
                <a:cs typeface="Playfair Display"/>
                <a:sym typeface="Playfair Display"/>
              </a:rPr>
              <a:t>Supported</a:t>
            </a:r>
            <a:endParaRPr b="0" i="0" sz="2200" u="none" cap="none" strike="noStrike">
              <a:solidFill>
                <a:schemeClr val="dk1"/>
              </a:solidFill>
              <a:latin typeface="Calibri"/>
              <a:ea typeface="Calibri"/>
              <a:cs typeface="Calibri"/>
              <a:sym typeface="Calibri"/>
            </a:endParaRPr>
          </a:p>
        </p:txBody>
      </p:sp>
      <p:sp>
        <p:nvSpPr>
          <p:cNvPr id="379" name="Google Shape;379;p11"/>
          <p:cNvSpPr/>
          <p:nvPr/>
        </p:nvSpPr>
        <p:spPr>
          <a:xfrm>
            <a:off x="8331910" y="2915741"/>
            <a:ext cx="2872029" cy="718641"/>
          </a:xfrm>
          <a:prstGeom prst="rect">
            <a:avLst/>
          </a:prstGeom>
          <a:noFill/>
          <a:ln>
            <a:noFill/>
          </a:ln>
        </p:spPr>
        <p:txBody>
          <a:bodyPr anchorCtr="0" anchor="t" bIns="0" lIns="0" spcFirstLastPara="1" rIns="0" wrap="square" tIns="0">
            <a:noAutofit/>
          </a:bodyPr>
          <a:lstStyle/>
          <a:p>
            <a:pPr indent="0" lvl="0" marL="457200" marR="0" rtl="0" algn="l">
              <a:lnSpc>
                <a:spcPct val="140000"/>
              </a:lnSpc>
              <a:spcBef>
                <a:spcPts val="0"/>
              </a:spcBef>
              <a:spcAft>
                <a:spcPts val="0"/>
              </a:spcAft>
              <a:buNone/>
            </a:pPr>
            <a:r>
              <a:t/>
            </a:r>
            <a:endParaRPr sz="1350">
              <a:solidFill>
                <a:srgbClr val="1D2A24"/>
              </a:solidFill>
              <a:latin typeface="Source Sans 3"/>
              <a:ea typeface="Source Sans 3"/>
              <a:cs typeface="Source Sans 3"/>
              <a:sym typeface="Source Sans 3"/>
            </a:endParaRPr>
          </a:p>
          <a:p>
            <a:pPr indent="-171831" lvl="0" marL="168656" marR="0" rtl="0" algn="l">
              <a:lnSpc>
                <a:spcPct val="140000"/>
              </a:lnSpc>
              <a:spcBef>
                <a:spcPts val="0"/>
              </a:spcBef>
              <a:spcAft>
                <a:spcPts val="0"/>
              </a:spcAft>
              <a:buClr>
                <a:srgbClr val="1D2A24"/>
              </a:buClr>
              <a:buSzPts val="1350"/>
              <a:buFont typeface="Source Sans 3"/>
              <a:buChar char="•"/>
            </a:pPr>
            <a:r>
              <a:rPr b="0" i="0" lang="en-US" sz="1350" u="none" cap="none" strike="noStrike">
                <a:solidFill>
                  <a:srgbClr val="1D2A24"/>
                </a:solidFill>
                <a:latin typeface="Source Sans 3"/>
                <a:ea typeface="Source Sans 3"/>
                <a:cs typeface="Source Sans 3"/>
                <a:sym typeface="Source Sans 3"/>
              </a:rPr>
              <a:t>Rent </a:t>
            </a:r>
            <a:r>
              <a:rPr b="1" i="0" lang="en-US" sz="1350" u="none" cap="none" strike="noStrike">
                <a:solidFill>
                  <a:srgbClr val="1D2A24"/>
                </a:solidFill>
                <a:latin typeface="Source Sans 3"/>
                <a:ea typeface="Source Sans 3"/>
                <a:cs typeface="Source Sans 3"/>
                <a:sym typeface="Source Sans 3"/>
              </a:rPr>
              <a:t>+73%</a:t>
            </a:r>
            <a:r>
              <a:rPr b="0" i="0" lang="en-US" sz="1350" u="none" cap="none" strike="noStrike">
                <a:solidFill>
                  <a:srgbClr val="1D2A24"/>
                </a:solidFill>
                <a:latin typeface="Source Sans 3"/>
                <a:ea typeface="Source Sans 3"/>
                <a:cs typeface="Source Sans 3"/>
                <a:sym typeface="Source Sans 3"/>
              </a:rPr>
              <a:t> around the cities vs </a:t>
            </a:r>
            <a:r>
              <a:rPr b="1" i="0" lang="en-US" sz="1350" u="none" cap="none" strike="noStrike">
                <a:solidFill>
                  <a:srgbClr val="1D2A24"/>
                </a:solidFill>
                <a:latin typeface="Source Sans 3"/>
                <a:ea typeface="Source Sans 3"/>
                <a:cs typeface="Source Sans 3"/>
                <a:sym typeface="Source Sans 3"/>
              </a:rPr>
              <a:t>+52%</a:t>
            </a:r>
            <a:r>
              <a:rPr b="0" i="0" lang="en-US" sz="1350" u="none" cap="none" strike="noStrike">
                <a:solidFill>
                  <a:srgbClr val="1D2A24"/>
                </a:solidFill>
                <a:latin typeface="Source Sans 3"/>
                <a:ea typeface="Source Sans 3"/>
                <a:cs typeface="Source Sans 3"/>
                <a:sym typeface="Source Sans 3"/>
              </a:rPr>
              <a:t> in Lisbon and Porto</a:t>
            </a:r>
            <a:endParaRPr b="0" i="0" sz="1350" u="none" cap="none" strike="noStrike">
              <a:solidFill>
                <a:srgbClr val="1D2A24"/>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1D2A24"/>
              </a:solidFill>
              <a:latin typeface="Source Sans 3"/>
              <a:ea typeface="Source Sans 3"/>
              <a:cs typeface="Source Sans 3"/>
              <a:sym typeface="Source Sans 3"/>
            </a:endParaRPr>
          </a:p>
          <a:p>
            <a:pPr indent="-171831" lvl="0" marL="168656" marR="0" rtl="0" algn="l">
              <a:lnSpc>
                <a:spcPct val="140000"/>
              </a:lnSpc>
              <a:spcBef>
                <a:spcPts val="0"/>
              </a:spcBef>
              <a:spcAft>
                <a:spcPts val="0"/>
              </a:spcAft>
              <a:buClr>
                <a:srgbClr val="1D2A24"/>
              </a:buClr>
              <a:buSzPts val="1350"/>
              <a:buFont typeface="Source Sans 3"/>
              <a:buChar char="•"/>
            </a:pPr>
            <a:r>
              <a:rPr b="0" i="0" lang="en-US" sz="1350" u="none" cap="none" strike="noStrike">
                <a:solidFill>
                  <a:srgbClr val="1D2A24"/>
                </a:solidFill>
                <a:latin typeface="Source Sans 3"/>
                <a:ea typeface="Source Sans 3"/>
                <a:cs typeface="Source Sans 3"/>
                <a:sym typeface="Source Sans 3"/>
              </a:rPr>
              <a:t>City premium: </a:t>
            </a:r>
            <a:r>
              <a:rPr b="1" i="0" lang="en-US" sz="1350" u="none" cap="none" strike="noStrike">
                <a:solidFill>
                  <a:srgbClr val="1D2A24"/>
                </a:solidFill>
                <a:latin typeface="Source Sans 3"/>
                <a:ea typeface="Source Sans 3"/>
                <a:cs typeface="Source Sans 3"/>
                <a:sym typeface="Source Sans 3"/>
              </a:rPr>
              <a:t>80% → 57%</a:t>
            </a:r>
            <a:endParaRPr b="0" i="0" sz="1350" u="none" cap="none" strike="noStrike">
              <a:solidFill>
                <a:schemeClr val="dk1"/>
              </a:solidFill>
              <a:latin typeface="Calibri"/>
              <a:ea typeface="Calibri"/>
              <a:cs typeface="Calibri"/>
              <a:sym typeface="Calibri"/>
            </a:endParaRPr>
          </a:p>
        </p:txBody>
      </p:sp>
      <p:sp>
        <p:nvSpPr>
          <p:cNvPr id="380" name="Google Shape;380;p11"/>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E4DC"/>
              </a:buClr>
              <a:buSzPts val="1200"/>
              <a:buFont typeface="Source Sans 3"/>
              <a:buNone/>
            </a:pPr>
            <a:r>
              <a:rPr b="0" i="0" lang="en-US" sz="1200" u="none" cap="none" strike="noStrike">
                <a:solidFill>
                  <a:srgbClr val="D9E4DC"/>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D9E4DC"/>
                </a:solidFill>
                <a:latin typeface="Source Sans 3"/>
                <a:ea typeface="Source Sans 3"/>
                <a:cs typeface="Source Sans 3"/>
                <a:sym typeface="Source Sans 3"/>
              </a:rPr>
              <a:t> </a:t>
            </a:r>
            <a:r>
              <a:rPr lang="en-US" sz="1200">
                <a:solidFill>
                  <a:srgbClr val="D9E4DC"/>
                </a:solidFill>
                <a:latin typeface="Source Sans 3"/>
                <a:ea typeface="Source Sans 3"/>
                <a:cs typeface="Source Sans 3"/>
                <a:sym typeface="Source Sans 3"/>
              </a:rPr>
              <a:t>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6EE"/>
        </a:solidFill>
      </p:bgPr>
    </p:bg>
    <p:spTree>
      <p:nvGrpSpPr>
        <p:cNvPr id="385" name="Shape 385"/>
        <p:cNvGrpSpPr/>
        <p:nvPr/>
      </p:nvGrpSpPr>
      <p:grpSpPr>
        <a:xfrm>
          <a:off x="0" y="0"/>
          <a:ext cx="0" cy="0"/>
          <a:chOff x="0" y="0"/>
          <a:chExt cx="0" cy="0"/>
        </a:xfrm>
      </p:grpSpPr>
      <p:sp>
        <p:nvSpPr>
          <p:cNvPr id="386" name="Google Shape;386;p12"/>
          <p:cNvSpPr/>
          <p:nvPr/>
        </p:nvSpPr>
        <p:spPr>
          <a:xfrm>
            <a:off x="0" y="0"/>
            <a:ext cx="12192000" cy="889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2"/>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E1B32"/>
              </a:buClr>
              <a:buSzPts val="1200"/>
              <a:buFont typeface="Source Sans 3"/>
              <a:buNone/>
            </a:pPr>
            <a:r>
              <a:rPr b="1" i="0" lang="en-US" sz="1200" u="none" cap="none" strike="noStrike">
                <a:solidFill>
                  <a:srgbClr val="9E1B32"/>
                </a:solidFill>
                <a:latin typeface="Source Sans 3"/>
                <a:ea typeface="Source Sans 3"/>
                <a:cs typeface="Source Sans 3"/>
                <a:sym typeface="Source Sans 3"/>
              </a:rPr>
              <a:t>CONCLUSIONS</a:t>
            </a:r>
            <a:endParaRPr b="0" i="0" sz="1200" u="none" cap="none" strike="noStrike">
              <a:solidFill>
                <a:schemeClr val="dk1"/>
              </a:solidFill>
              <a:latin typeface="Calibri"/>
              <a:ea typeface="Calibri"/>
              <a:cs typeface="Calibri"/>
              <a:sym typeface="Calibri"/>
            </a:endParaRPr>
          </a:p>
        </p:txBody>
      </p:sp>
      <p:sp>
        <p:nvSpPr>
          <p:cNvPr id="388" name="Google Shape;388;p12"/>
          <p:cNvSpPr/>
          <p:nvPr/>
        </p:nvSpPr>
        <p:spPr>
          <a:xfrm>
            <a:off x="812800" y="1115020"/>
            <a:ext cx="10883392" cy="4723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A24"/>
              </a:buClr>
              <a:buSzPts val="3200"/>
              <a:buFont typeface="Playfair Display"/>
              <a:buNone/>
            </a:pPr>
            <a:r>
              <a:rPr b="1" i="0" lang="en-US" sz="3200" u="none" cap="none" strike="noStrike">
                <a:solidFill>
                  <a:srgbClr val="1D2A24"/>
                </a:solidFill>
                <a:latin typeface="Playfair Display"/>
                <a:ea typeface="Playfair Display"/>
                <a:cs typeface="Playfair Display"/>
                <a:sym typeface="Playfair Display"/>
              </a:rPr>
              <a:t>Surprises, implications, open questions</a:t>
            </a:r>
            <a:endParaRPr b="0" i="0" sz="3200" u="none" cap="none" strike="noStrike">
              <a:solidFill>
                <a:schemeClr val="dk1"/>
              </a:solidFill>
              <a:latin typeface="Calibri"/>
              <a:ea typeface="Calibri"/>
              <a:cs typeface="Calibri"/>
              <a:sym typeface="Calibri"/>
            </a:endParaRPr>
          </a:p>
        </p:txBody>
      </p:sp>
      <p:sp>
        <p:nvSpPr>
          <p:cNvPr id="389" name="Google Shape;389;p12"/>
          <p:cNvSpPr/>
          <p:nvPr/>
        </p:nvSpPr>
        <p:spPr>
          <a:xfrm>
            <a:off x="815975" y="1961163"/>
            <a:ext cx="3414000" cy="3403200"/>
          </a:xfrm>
          <a:prstGeom prst="roundRect">
            <a:avLst>
              <a:gd fmla="val 2511"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tar" id="390" name="Google Shape;390;p12"/>
          <p:cNvPicPr preferRelativeResize="0"/>
          <p:nvPr/>
        </p:nvPicPr>
        <p:blipFill rotWithShape="1">
          <a:blip r:embed="rId3">
            <a:alphaModFix/>
          </a:blip>
          <a:srcRect b="0" l="0" r="0" t="0"/>
          <a:stretch/>
        </p:blipFill>
        <p:spPr>
          <a:xfrm>
            <a:off x="1047750" y="2192939"/>
            <a:ext cx="254000" cy="254000"/>
          </a:xfrm>
          <a:prstGeom prst="rect">
            <a:avLst/>
          </a:prstGeom>
          <a:noFill/>
          <a:ln>
            <a:noFill/>
          </a:ln>
        </p:spPr>
      </p:pic>
      <p:sp>
        <p:nvSpPr>
          <p:cNvPr id="391" name="Google Shape;391;p12"/>
          <p:cNvSpPr/>
          <p:nvPr/>
        </p:nvSpPr>
        <p:spPr>
          <a:xfrm>
            <a:off x="1390650" y="2197999"/>
            <a:ext cx="9459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600"/>
              <a:buFont typeface="Playfair Display"/>
              <a:buNone/>
            </a:pPr>
            <a:r>
              <a:rPr b="1" i="0" lang="en-US" sz="1600" u="none" cap="none" strike="noStrike">
                <a:solidFill>
                  <a:srgbClr val="1D2A24"/>
                </a:solidFill>
                <a:latin typeface="Playfair Display"/>
                <a:ea typeface="Playfair Display"/>
                <a:cs typeface="Playfair Display"/>
                <a:sym typeface="Playfair Display"/>
              </a:rPr>
              <a:t>Surprises</a:t>
            </a:r>
            <a:endParaRPr b="0" i="0" sz="1600" u="none" cap="none" strike="noStrike">
              <a:solidFill>
                <a:schemeClr val="dk1"/>
              </a:solidFill>
              <a:latin typeface="Calibri"/>
              <a:ea typeface="Calibri"/>
              <a:cs typeface="Calibri"/>
              <a:sym typeface="Calibri"/>
            </a:endParaRPr>
          </a:p>
        </p:txBody>
      </p:sp>
      <p:sp>
        <p:nvSpPr>
          <p:cNvPr id="392" name="Google Shape;392;p12"/>
          <p:cNvSpPr/>
          <p:nvPr/>
        </p:nvSpPr>
        <p:spPr>
          <a:xfrm>
            <a:off x="1146550" y="2747319"/>
            <a:ext cx="2932800" cy="1860000"/>
          </a:xfrm>
          <a:prstGeom prst="rect">
            <a:avLst/>
          </a:prstGeom>
          <a:noFill/>
          <a:ln>
            <a:noFill/>
          </a:ln>
        </p:spPr>
        <p:txBody>
          <a:bodyPr anchorCtr="0" anchor="t" bIns="0" lIns="0" spcFirstLastPara="1" rIns="0" wrap="square" tIns="0">
            <a:noAutofit/>
          </a:bodyPr>
          <a:lstStyle/>
          <a:p>
            <a:pPr indent="-164719" lvl="0" marL="155194" marR="0" rtl="0" algn="l">
              <a:lnSpc>
                <a:spcPct val="140000"/>
              </a:lnSpc>
              <a:spcBef>
                <a:spcPts val="0"/>
              </a:spcBef>
              <a:spcAft>
                <a:spcPts val="0"/>
              </a:spcAft>
              <a:buClr>
                <a:srgbClr val="4B5550"/>
              </a:buClr>
              <a:buSzPts val="1350"/>
              <a:buFont typeface="Source Sans 3"/>
              <a:buChar char="•"/>
            </a:pPr>
            <a:r>
              <a:rPr b="0" i="0" lang="en-US" sz="1350" u="none" cap="none" strike="noStrike">
                <a:solidFill>
                  <a:srgbClr val="4B5550"/>
                </a:solidFill>
                <a:latin typeface="Source Sans 3"/>
                <a:ea typeface="Source Sans 3"/>
                <a:cs typeface="Source Sans 3"/>
                <a:sym typeface="Source Sans 3"/>
              </a:rPr>
              <a:t>Lisbon: </a:t>
            </a:r>
            <a:r>
              <a:rPr b="1" i="0" lang="en-US" sz="1350" u="none" cap="none" strike="noStrike">
                <a:solidFill>
                  <a:srgbClr val="4B5550"/>
                </a:solidFill>
                <a:latin typeface="Source Sans 3"/>
                <a:ea typeface="Source Sans 3"/>
                <a:cs typeface="Source Sans 3"/>
                <a:sym typeface="Source Sans 3"/>
              </a:rPr>
              <a:t>new short-term rental registrations fell </a:t>
            </a:r>
            <a:r>
              <a:rPr b="0" i="0" lang="en-US" sz="1350" u="none" cap="none" strike="noStrike">
                <a:solidFill>
                  <a:srgbClr val="4B5550"/>
                </a:solidFill>
                <a:latin typeface="Source Sans 3"/>
                <a:ea typeface="Source Sans 3"/>
                <a:cs typeface="Source Sans 3"/>
                <a:sym typeface="Source Sans 3"/>
              </a:rPr>
              <a:t>from 3,714 (2018) to 28 (2024)</a:t>
            </a:r>
            <a:endParaRPr b="0" i="0" sz="1350" u="none" cap="none" strike="noStrike">
              <a:solidFill>
                <a:srgbClr val="4B5550"/>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marR="0" rtl="0" algn="l">
              <a:lnSpc>
                <a:spcPct val="140000"/>
              </a:lnSpc>
              <a:spcBef>
                <a:spcPts val="0"/>
              </a:spcBef>
              <a:spcAft>
                <a:spcPts val="0"/>
              </a:spcAft>
              <a:buClr>
                <a:srgbClr val="4B5550"/>
              </a:buClr>
              <a:buSzPts val="1350"/>
              <a:buFont typeface="Source Sans 3"/>
              <a:buChar char="•"/>
            </a:pPr>
            <a:r>
              <a:rPr b="1" lang="en-US" sz="1350">
                <a:solidFill>
                  <a:srgbClr val="4B5550"/>
                </a:solidFill>
                <a:latin typeface="Source Sans 3"/>
                <a:ea typeface="Source Sans 3"/>
                <a:cs typeface="Source Sans 3"/>
                <a:sym typeface="Source Sans 3"/>
              </a:rPr>
              <a:t>LT </a:t>
            </a:r>
            <a:r>
              <a:rPr b="1" i="0" lang="en-US" sz="1350" u="none" cap="none" strike="noStrike">
                <a:solidFill>
                  <a:srgbClr val="4B5550"/>
                </a:solidFill>
                <a:latin typeface="Source Sans 3"/>
                <a:ea typeface="Source Sans 3"/>
                <a:cs typeface="Source Sans 3"/>
                <a:sym typeface="Source Sans 3"/>
              </a:rPr>
              <a:t>Rents rose</a:t>
            </a:r>
            <a:r>
              <a:rPr b="0" i="0" lang="en-US" sz="1350" u="none" cap="none" strike="noStrike">
                <a:solidFill>
                  <a:srgbClr val="4B5550"/>
                </a:solidFill>
                <a:latin typeface="Source Sans 3"/>
                <a:ea typeface="Source Sans 3"/>
                <a:cs typeface="Source Sans 3"/>
                <a:sym typeface="Source Sans 3"/>
              </a:rPr>
              <a:t> about 70% almost everywhere</a:t>
            </a:r>
            <a:endParaRPr b="0" i="0" sz="1350" u="none" cap="none" strike="noStrike">
              <a:solidFill>
                <a:srgbClr val="4B5550"/>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marR="0" rtl="0" algn="l">
              <a:lnSpc>
                <a:spcPct val="140000"/>
              </a:lnSpc>
              <a:spcBef>
                <a:spcPts val="0"/>
              </a:spcBef>
              <a:spcAft>
                <a:spcPts val="0"/>
              </a:spcAft>
              <a:buClr>
                <a:srgbClr val="4B5550"/>
              </a:buClr>
              <a:buSzPts val="1350"/>
              <a:buFont typeface="Source Sans 3"/>
              <a:buChar char="•"/>
            </a:pPr>
            <a:r>
              <a:rPr b="0" i="0" lang="en-US" sz="1350" u="none" cap="none" strike="noStrike">
                <a:solidFill>
                  <a:srgbClr val="4B5550"/>
                </a:solidFill>
                <a:latin typeface="Source Sans 3"/>
                <a:ea typeface="Source Sans 3"/>
                <a:cs typeface="Source Sans 3"/>
                <a:sym typeface="Source Sans 3"/>
              </a:rPr>
              <a:t>Moita more than doubled (+104%)</a:t>
            </a:r>
            <a:endParaRPr b="0" i="0" sz="1350" u="none" cap="none" strike="noStrike">
              <a:solidFill>
                <a:schemeClr val="dk1"/>
              </a:solidFill>
              <a:latin typeface="Calibri"/>
              <a:ea typeface="Calibri"/>
              <a:cs typeface="Calibri"/>
              <a:sym typeface="Calibri"/>
            </a:endParaRPr>
          </a:p>
        </p:txBody>
      </p:sp>
      <p:sp>
        <p:nvSpPr>
          <p:cNvPr id="393" name="Google Shape;393;p12"/>
          <p:cNvSpPr/>
          <p:nvPr/>
        </p:nvSpPr>
        <p:spPr>
          <a:xfrm>
            <a:off x="4388842" y="1961163"/>
            <a:ext cx="3414300" cy="3403200"/>
          </a:xfrm>
          <a:prstGeom prst="roundRect">
            <a:avLst>
              <a:gd fmla="val 2511"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 id="394" name="Google Shape;394;p12"/>
          <p:cNvPicPr preferRelativeResize="0"/>
          <p:nvPr/>
        </p:nvPicPr>
        <p:blipFill rotWithShape="1">
          <a:blip r:embed="rId4">
            <a:alphaModFix/>
          </a:blip>
          <a:srcRect b="0" l="0" r="0" t="0"/>
          <a:stretch/>
        </p:blipFill>
        <p:spPr>
          <a:xfrm>
            <a:off x="4620617" y="2192939"/>
            <a:ext cx="254000" cy="254000"/>
          </a:xfrm>
          <a:prstGeom prst="rect">
            <a:avLst/>
          </a:prstGeom>
          <a:noFill/>
          <a:ln>
            <a:noFill/>
          </a:ln>
        </p:spPr>
      </p:pic>
      <p:sp>
        <p:nvSpPr>
          <p:cNvPr id="395" name="Google Shape;395;p12"/>
          <p:cNvSpPr/>
          <p:nvPr/>
        </p:nvSpPr>
        <p:spPr>
          <a:xfrm>
            <a:off x="4963517" y="2197999"/>
            <a:ext cx="12204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600"/>
              <a:buFont typeface="Playfair Display"/>
              <a:buNone/>
            </a:pPr>
            <a:r>
              <a:rPr b="1" i="0" lang="en-US" sz="1600" u="none" cap="none" strike="noStrike">
                <a:solidFill>
                  <a:srgbClr val="1D2A24"/>
                </a:solidFill>
                <a:latin typeface="Playfair Display"/>
                <a:ea typeface="Playfair Display"/>
                <a:cs typeface="Playfair Display"/>
                <a:sym typeface="Playfair Display"/>
              </a:rPr>
              <a:t>Implications</a:t>
            </a:r>
            <a:endParaRPr b="0" i="0" sz="1600" u="none" cap="none" strike="noStrike">
              <a:solidFill>
                <a:schemeClr val="dk1"/>
              </a:solidFill>
              <a:latin typeface="Calibri"/>
              <a:ea typeface="Calibri"/>
              <a:cs typeface="Calibri"/>
              <a:sym typeface="Calibri"/>
            </a:endParaRPr>
          </a:p>
        </p:txBody>
      </p:sp>
      <p:sp>
        <p:nvSpPr>
          <p:cNvPr id="396" name="Google Shape;396;p12"/>
          <p:cNvSpPr/>
          <p:nvPr/>
        </p:nvSpPr>
        <p:spPr>
          <a:xfrm>
            <a:off x="4719425" y="2747320"/>
            <a:ext cx="2932800" cy="1810500"/>
          </a:xfrm>
          <a:prstGeom prst="rect">
            <a:avLst/>
          </a:prstGeom>
          <a:noFill/>
          <a:ln>
            <a:noFill/>
          </a:ln>
        </p:spPr>
        <p:txBody>
          <a:bodyPr anchorCtr="0" anchor="t" bIns="0" lIns="0" spcFirstLastPara="1" rIns="0" wrap="square" tIns="0">
            <a:noAutofit/>
          </a:bodyPr>
          <a:lstStyle/>
          <a:p>
            <a:pPr indent="-164719" lvl="0" marL="155194" marR="0" rtl="0" algn="l">
              <a:lnSpc>
                <a:spcPct val="140000"/>
              </a:lnSpc>
              <a:spcBef>
                <a:spcPts val="0"/>
              </a:spcBef>
              <a:spcAft>
                <a:spcPts val="0"/>
              </a:spcAft>
              <a:buClr>
                <a:srgbClr val="4B5550"/>
              </a:buClr>
              <a:buSzPts val="1350"/>
              <a:buFont typeface="Source Sans 3"/>
              <a:buChar char="•"/>
            </a:pPr>
            <a:r>
              <a:rPr b="0" i="0" lang="en-US" sz="1350" u="none" cap="none" strike="noStrike">
                <a:solidFill>
                  <a:srgbClr val="4B5550"/>
                </a:solidFill>
                <a:latin typeface="Source Sans 3"/>
                <a:ea typeface="Source Sans 3"/>
                <a:cs typeface="Source Sans 3"/>
                <a:sym typeface="Source Sans 3"/>
              </a:rPr>
              <a:t>Affordability is now a national problem</a:t>
            </a:r>
            <a:endParaRPr b="0" i="0" sz="1350" u="none" cap="none" strike="noStrike">
              <a:solidFill>
                <a:srgbClr val="4B5550"/>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marR="0" rtl="0" algn="l">
              <a:lnSpc>
                <a:spcPct val="140000"/>
              </a:lnSpc>
              <a:spcBef>
                <a:spcPts val="0"/>
              </a:spcBef>
              <a:spcAft>
                <a:spcPts val="0"/>
              </a:spcAft>
              <a:buClr>
                <a:srgbClr val="4B5550"/>
              </a:buClr>
              <a:buSzPts val="1350"/>
              <a:buFont typeface="Source Sans 3"/>
              <a:buChar char="•"/>
            </a:pPr>
            <a:r>
              <a:rPr b="0" i="0" lang="en-US" sz="1350" u="none" cap="none" strike="noStrike">
                <a:solidFill>
                  <a:srgbClr val="4B5550"/>
                </a:solidFill>
                <a:latin typeface="Source Sans 3"/>
                <a:ea typeface="Source Sans 3"/>
                <a:cs typeface="Source Sans 3"/>
                <a:sym typeface="Source Sans 3"/>
              </a:rPr>
              <a:t>Pressure </a:t>
            </a:r>
            <a:r>
              <a:rPr b="1" i="0" lang="en-US" sz="1350" u="none" cap="none" strike="noStrike">
                <a:solidFill>
                  <a:srgbClr val="4B5550"/>
                </a:solidFill>
                <a:latin typeface="Source Sans 3"/>
                <a:ea typeface="Source Sans 3"/>
                <a:cs typeface="Source Sans 3"/>
                <a:sym typeface="Source Sans 3"/>
              </a:rPr>
              <a:t>moves to cheaper areas</a:t>
            </a:r>
            <a:r>
              <a:rPr b="0" i="0" lang="en-US" sz="1350" u="none" cap="none" strike="noStrike">
                <a:solidFill>
                  <a:srgbClr val="4B5550"/>
                </a:solidFill>
                <a:latin typeface="Source Sans 3"/>
                <a:ea typeface="Source Sans 3"/>
                <a:cs typeface="Source Sans 3"/>
                <a:sym typeface="Source Sans 3"/>
              </a:rPr>
              <a:t>, where wages are usually lower</a:t>
            </a:r>
            <a:endParaRPr b="0" i="0" sz="1350" u="none" cap="none" strike="noStrike">
              <a:solidFill>
                <a:srgbClr val="4B5550"/>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marR="0" rtl="0" algn="l">
              <a:lnSpc>
                <a:spcPct val="140000"/>
              </a:lnSpc>
              <a:spcBef>
                <a:spcPts val="0"/>
              </a:spcBef>
              <a:spcAft>
                <a:spcPts val="0"/>
              </a:spcAft>
              <a:buClr>
                <a:srgbClr val="4B5550"/>
              </a:buClr>
              <a:buSzPts val="1350"/>
              <a:buFont typeface="Source Sans 3"/>
              <a:buChar char="•"/>
            </a:pPr>
            <a:r>
              <a:rPr b="0" i="0" lang="en-US" sz="1350" u="none" cap="none" strike="noStrike">
                <a:solidFill>
                  <a:srgbClr val="4B5550"/>
                </a:solidFill>
                <a:latin typeface="Source Sans 3"/>
                <a:ea typeface="Source Sans 3"/>
                <a:cs typeface="Source Sans 3"/>
                <a:sym typeface="Source Sans 3"/>
              </a:rPr>
              <a:t>Limiting </a:t>
            </a:r>
            <a:r>
              <a:rPr b="1" i="0" lang="en-US" sz="1350" u="none" cap="none" strike="noStrike">
                <a:solidFill>
                  <a:srgbClr val="4B5550"/>
                </a:solidFill>
                <a:latin typeface="Source Sans 3"/>
                <a:ea typeface="Source Sans 3"/>
                <a:cs typeface="Source Sans 3"/>
                <a:sym typeface="Source Sans 3"/>
              </a:rPr>
              <a:t>short-term rentals alone</a:t>
            </a:r>
            <a:r>
              <a:rPr b="0" i="0" lang="en-US" sz="1350" u="none" cap="none" strike="noStrike">
                <a:solidFill>
                  <a:srgbClr val="4B5550"/>
                </a:solidFill>
                <a:latin typeface="Source Sans 3"/>
                <a:ea typeface="Source Sans 3"/>
                <a:cs typeface="Source Sans 3"/>
                <a:sym typeface="Source Sans 3"/>
              </a:rPr>
              <a:t> will not fix it</a:t>
            </a:r>
            <a:endParaRPr b="0" i="0" sz="1350" u="none" cap="none" strike="noStrike">
              <a:solidFill>
                <a:schemeClr val="dk1"/>
              </a:solidFill>
              <a:latin typeface="Calibri"/>
              <a:ea typeface="Calibri"/>
              <a:cs typeface="Calibri"/>
              <a:sym typeface="Calibri"/>
            </a:endParaRPr>
          </a:p>
        </p:txBody>
      </p:sp>
      <p:sp>
        <p:nvSpPr>
          <p:cNvPr id="397" name="Google Shape;397;p12"/>
          <p:cNvSpPr/>
          <p:nvPr/>
        </p:nvSpPr>
        <p:spPr>
          <a:xfrm>
            <a:off x="7961800" y="1968300"/>
            <a:ext cx="3414300" cy="3403200"/>
          </a:xfrm>
          <a:prstGeom prst="roundRect">
            <a:avLst>
              <a:gd fmla="val 2511"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398" name="Google Shape;398;p12"/>
          <p:cNvPicPr preferRelativeResize="0"/>
          <p:nvPr/>
        </p:nvPicPr>
        <p:blipFill rotWithShape="1">
          <a:blip r:embed="rId5">
            <a:alphaModFix/>
          </a:blip>
          <a:srcRect b="0" l="0" r="0" t="0"/>
          <a:stretch/>
        </p:blipFill>
        <p:spPr>
          <a:xfrm>
            <a:off x="8193584" y="2192939"/>
            <a:ext cx="254000" cy="254000"/>
          </a:xfrm>
          <a:prstGeom prst="rect">
            <a:avLst/>
          </a:prstGeom>
          <a:noFill/>
          <a:ln>
            <a:noFill/>
          </a:ln>
        </p:spPr>
      </p:pic>
      <p:sp>
        <p:nvSpPr>
          <p:cNvPr id="399" name="Google Shape;399;p12"/>
          <p:cNvSpPr/>
          <p:nvPr/>
        </p:nvSpPr>
        <p:spPr>
          <a:xfrm>
            <a:off x="8536484" y="2197999"/>
            <a:ext cx="15012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600"/>
              <a:buFont typeface="Playfair Display"/>
              <a:buNone/>
            </a:pPr>
            <a:r>
              <a:rPr b="1" i="0" lang="en-US" sz="1600" u="none" cap="none" strike="noStrike">
                <a:solidFill>
                  <a:srgbClr val="1D2A24"/>
                </a:solidFill>
                <a:latin typeface="Playfair Display"/>
                <a:ea typeface="Playfair Display"/>
                <a:cs typeface="Playfair Display"/>
                <a:sym typeface="Playfair Display"/>
              </a:rPr>
              <a:t>Open questions</a:t>
            </a:r>
            <a:endParaRPr b="0" i="0" sz="1600" u="none" cap="none" strike="noStrike">
              <a:solidFill>
                <a:schemeClr val="dk1"/>
              </a:solidFill>
              <a:latin typeface="Calibri"/>
              <a:ea typeface="Calibri"/>
              <a:cs typeface="Calibri"/>
              <a:sym typeface="Calibri"/>
            </a:endParaRPr>
          </a:p>
        </p:txBody>
      </p:sp>
      <p:sp>
        <p:nvSpPr>
          <p:cNvPr id="400" name="Google Shape;400;p12"/>
          <p:cNvSpPr/>
          <p:nvPr/>
        </p:nvSpPr>
        <p:spPr>
          <a:xfrm>
            <a:off x="8292400" y="2714315"/>
            <a:ext cx="2932800" cy="1782000"/>
          </a:xfrm>
          <a:prstGeom prst="rect">
            <a:avLst/>
          </a:prstGeom>
          <a:noFill/>
          <a:ln>
            <a:noFill/>
          </a:ln>
        </p:spPr>
        <p:txBody>
          <a:bodyPr anchorCtr="0" anchor="t" bIns="0" lIns="0" spcFirstLastPara="1" rIns="0" wrap="square" tIns="0">
            <a:noAutofit/>
          </a:bodyPr>
          <a:lstStyle/>
          <a:p>
            <a:pPr indent="-164719" lvl="0" marL="155194" marR="0" rtl="0" algn="l">
              <a:lnSpc>
                <a:spcPct val="140000"/>
              </a:lnSpc>
              <a:spcBef>
                <a:spcPts val="0"/>
              </a:spcBef>
              <a:spcAft>
                <a:spcPts val="0"/>
              </a:spcAft>
              <a:buClr>
                <a:srgbClr val="4B5550"/>
              </a:buClr>
              <a:buSzPts val="1350"/>
              <a:buFont typeface="Source Sans 3"/>
              <a:buChar char="•"/>
            </a:pPr>
            <a:r>
              <a:rPr b="1" i="0" lang="en-US" sz="1350" u="none" cap="none" strike="noStrike">
                <a:solidFill>
                  <a:srgbClr val="4B5550"/>
                </a:solidFill>
                <a:latin typeface="Source Sans 3"/>
                <a:ea typeface="Source Sans 3"/>
                <a:cs typeface="Source Sans 3"/>
                <a:sym typeface="Source Sans 3"/>
              </a:rPr>
              <a:t>Why do rents rise: </a:t>
            </a:r>
            <a:r>
              <a:rPr b="0" i="0" lang="en-US" sz="1350" u="none" cap="none" strike="noStrike">
                <a:solidFill>
                  <a:srgbClr val="4B5550"/>
                </a:solidFill>
                <a:latin typeface="Source Sans 3"/>
                <a:ea typeface="Source Sans 3"/>
                <a:cs typeface="Source Sans 3"/>
                <a:sym typeface="Source Sans 3"/>
              </a:rPr>
              <a:t>supply, migration, remote work?</a:t>
            </a:r>
            <a:endParaRPr b="0" i="0" sz="1350" u="none" cap="none" strike="noStrike">
              <a:solidFill>
                <a:srgbClr val="4B5550"/>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marR="0" rtl="0" algn="l">
              <a:lnSpc>
                <a:spcPct val="140000"/>
              </a:lnSpc>
              <a:spcBef>
                <a:spcPts val="0"/>
              </a:spcBef>
              <a:spcAft>
                <a:spcPts val="0"/>
              </a:spcAft>
              <a:buClr>
                <a:srgbClr val="4B5550"/>
              </a:buClr>
              <a:buSzPts val="1350"/>
              <a:buFont typeface="Source Sans 3"/>
              <a:buChar char="•"/>
            </a:pPr>
            <a:r>
              <a:rPr b="1" i="0" lang="en-US" sz="1350" u="none" cap="none" strike="noStrike">
                <a:solidFill>
                  <a:srgbClr val="4B5550"/>
                </a:solidFill>
                <a:latin typeface="Source Sans 3"/>
                <a:ea typeface="Source Sans 3"/>
                <a:cs typeface="Source Sans 3"/>
                <a:sym typeface="Source Sans 3"/>
              </a:rPr>
              <a:t>Regional </a:t>
            </a:r>
            <a:r>
              <a:rPr b="0" i="0" lang="en-US" sz="1350" u="none" cap="none" strike="noStrike">
                <a:solidFill>
                  <a:srgbClr val="4B5550"/>
                </a:solidFill>
                <a:latin typeface="Source Sans 3"/>
                <a:ea typeface="Source Sans 3"/>
                <a:cs typeface="Source Sans 3"/>
                <a:sym typeface="Source Sans 3"/>
              </a:rPr>
              <a:t>wages (H1 uses national averages)</a:t>
            </a:r>
            <a:endParaRPr b="0" i="0" sz="1350" u="none" cap="none" strike="noStrike">
              <a:solidFill>
                <a:srgbClr val="4B5550"/>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164719" lvl="0" marL="155194" marR="0" rtl="0" algn="l">
              <a:lnSpc>
                <a:spcPct val="140000"/>
              </a:lnSpc>
              <a:spcBef>
                <a:spcPts val="0"/>
              </a:spcBef>
              <a:spcAft>
                <a:spcPts val="0"/>
              </a:spcAft>
              <a:buClr>
                <a:srgbClr val="4B5550"/>
              </a:buClr>
              <a:buSzPts val="1350"/>
              <a:buFont typeface="Source Sans 3"/>
              <a:buChar char="•"/>
            </a:pPr>
            <a:r>
              <a:rPr b="0" i="0" lang="en-US" sz="1350" u="none" cap="none" strike="noStrike">
                <a:solidFill>
                  <a:srgbClr val="4B5550"/>
                </a:solidFill>
                <a:latin typeface="Source Sans 3"/>
                <a:ea typeface="Source Sans 3"/>
                <a:cs typeface="Source Sans 3"/>
                <a:sym typeface="Source Sans 3"/>
              </a:rPr>
              <a:t>Azores and Madeira </a:t>
            </a:r>
            <a:r>
              <a:rPr b="1" i="0" lang="en-US" sz="1350" u="none" cap="none" strike="noStrike">
                <a:solidFill>
                  <a:srgbClr val="4B5550"/>
                </a:solidFill>
                <a:latin typeface="Source Sans 3"/>
                <a:ea typeface="Source Sans 3"/>
                <a:cs typeface="Source Sans 3"/>
                <a:sym typeface="Source Sans 3"/>
              </a:rPr>
              <a:t>not included</a:t>
            </a:r>
            <a:endParaRPr b="1" i="0" sz="1350" u="none" cap="none" strike="noStrike">
              <a:solidFill>
                <a:srgbClr val="4B5550"/>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sz="1350">
              <a:solidFill>
                <a:srgbClr val="4B5550"/>
              </a:solidFill>
              <a:latin typeface="Source Sans 3"/>
              <a:ea typeface="Source Sans 3"/>
              <a:cs typeface="Source Sans 3"/>
              <a:sym typeface="Source Sans 3"/>
            </a:endParaRPr>
          </a:p>
          <a:p>
            <a:pPr indent="0" lvl="0" marL="457200" marR="0" rtl="0" algn="l">
              <a:lnSpc>
                <a:spcPct val="140000"/>
              </a:lnSpc>
              <a:spcBef>
                <a:spcPts val="0"/>
              </a:spcBef>
              <a:spcAft>
                <a:spcPts val="0"/>
              </a:spcAft>
              <a:buNone/>
            </a:pPr>
            <a:r>
              <a:t/>
            </a:r>
            <a:endParaRPr b="0" i="0" sz="1350" u="none" cap="none" strike="noStrike">
              <a:solidFill>
                <a:schemeClr val="dk1"/>
              </a:solidFill>
              <a:latin typeface="Calibri"/>
              <a:ea typeface="Calibri"/>
              <a:cs typeface="Calibri"/>
              <a:sym typeface="Calibri"/>
            </a:endParaRPr>
          </a:p>
        </p:txBody>
      </p:sp>
      <p:sp>
        <p:nvSpPr>
          <p:cNvPr id="401" name="Google Shape;401;p12"/>
          <p:cNvSpPr/>
          <p:nvPr/>
        </p:nvSpPr>
        <p:spPr>
          <a:xfrm>
            <a:off x="812800" y="5628680"/>
            <a:ext cx="10883392"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6F7470"/>
              </a:buClr>
              <a:buSzPts val="1200"/>
              <a:buFont typeface="Source Sans 3"/>
              <a:buNone/>
            </a:pPr>
            <a:r>
              <a:rPr b="1" i="0" lang="en-US" sz="1350" u="none" cap="none" strike="noStrike">
                <a:solidFill>
                  <a:srgbClr val="6F7470"/>
                </a:solidFill>
                <a:latin typeface="Source Sans 3"/>
                <a:ea typeface="Source Sans 3"/>
                <a:cs typeface="Source Sans 3"/>
                <a:sym typeface="Source Sans 3"/>
              </a:rPr>
              <a:t>Correlation is not causation: </a:t>
            </a:r>
            <a:r>
              <a:rPr i="0" lang="en-US" sz="1350" u="none" cap="none" strike="noStrike">
                <a:solidFill>
                  <a:srgbClr val="6F7470"/>
                </a:solidFill>
                <a:latin typeface="Source Sans 3"/>
                <a:ea typeface="Source Sans 3"/>
                <a:cs typeface="Source Sans 3"/>
                <a:sym typeface="Source Sans 3"/>
              </a:rPr>
              <a:t>our data show where and </a:t>
            </a:r>
            <a:r>
              <a:rPr b="1" i="0" lang="en-US" sz="1350" u="none" cap="none" strike="noStrike">
                <a:solidFill>
                  <a:srgbClr val="6F7470"/>
                </a:solidFill>
                <a:latin typeface="Source Sans 3"/>
                <a:ea typeface="Source Sans 3"/>
                <a:cs typeface="Source Sans 3"/>
                <a:sym typeface="Source Sans 3"/>
              </a:rPr>
              <a:t>how fast </a:t>
            </a:r>
            <a:r>
              <a:rPr i="0" lang="en-US" sz="1350" u="none" cap="none" strike="noStrike">
                <a:solidFill>
                  <a:srgbClr val="6F7470"/>
                </a:solidFill>
                <a:latin typeface="Source Sans 3"/>
                <a:ea typeface="Source Sans 3"/>
                <a:cs typeface="Source Sans 3"/>
                <a:sym typeface="Source Sans 3"/>
              </a:rPr>
              <a:t>rents grew, </a:t>
            </a:r>
            <a:r>
              <a:rPr b="1" i="0" lang="en-US" sz="1350" u="none" cap="none" strike="noStrike">
                <a:solidFill>
                  <a:srgbClr val="6F7470"/>
                </a:solidFill>
                <a:latin typeface="Source Sans 3"/>
                <a:ea typeface="Source Sans 3"/>
                <a:cs typeface="Source Sans 3"/>
                <a:sym typeface="Source Sans 3"/>
              </a:rPr>
              <a:t>not why</a:t>
            </a:r>
            <a:r>
              <a:rPr i="0" lang="en-US" sz="1350" u="none" cap="none" strike="noStrike">
                <a:solidFill>
                  <a:srgbClr val="6F7470"/>
                </a:solidFill>
                <a:latin typeface="Source Sans 3"/>
                <a:ea typeface="Source Sans 3"/>
                <a:cs typeface="Source Sans 3"/>
                <a:sym typeface="Source Sans 3"/>
              </a:rPr>
              <a:t>.</a:t>
            </a:r>
            <a:endParaRPr i="0" sz="1350" u="none" cap="none" strike="noStrike">
              <a:solidFill>
                <a:srgbClr val="6F7470"/>
              </a:solidFill>
              <a:latin typeface="Calibri"/>
              <a:ea typeface="Calibri"/>
              <a:cs typeface="Calibri"/>
              <a:sym typeface="Calibri"/>
            </a:endParaRPr>
          </a:p>
        </p:txBody>
      </p:sp>
      <p:sp>
        <p:nvSpPr>
          <p:cNvPr id="402" name="Google Shape;402;p12"/>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10</a:t>
            </a:r>
            <a:endParaRPr b="0" i="0" sz="1200" u="none" cap="none" strike="noStrike">
              <a:solidFill>
                <a:schemeClr val="dk1"/>
              </a:solidFill>
              <a:latin typeface="Calibri"/>
              <a:ea typeface="Calibri"/>
              <a:cs typeface="Calibri"/>
              <a:sym typeface="Calibri"/>
            </a:endParaRPr>
          </a:p>
        </p:txBody>
      </p:sp>
      <p:sp>
        <p:nvSpPr>
          <p:cNvPr id="403" name="Google Shape;403;p12"/>
          <p:cNvSpPr/>
          <p:nvPr/>
        </p:nvSpPr>
        <p:spPr>
          <a:xfrm>
            <a:off x="2598375" y="5603263"/>
            <a:ext cx="497100" cy="254100"/>
          </a:xfrm>
          <a:prstGeom prst="rightArrow">
            <a:avLst>
              <a:gd fmla="val 50000" name="adj1"/>
              <a:gd fmla="val 50000" name="adj2"/>
            </a:avLst>
          </a:prstGeom>
          <a:solidFill>
            <a:srgbClr val="9E1B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F747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3D2E"/>
        </a:solidFill>
      </p:bgPr>
    </p:bg>
    <p:spTree>
      <p:nvGrpSpPr>
        <p:cNvPr id="408" name="Shape 408"/>
        <p:cNvGrpSpPr/>
        <p:nvPr/>
      </p:nvGrpSpPr>
      <p:grpSpPr>
        <a:xfrm>
          <a:off x="0" y="0"/>
          <a:ext cx="0" cy="0"/>
          <a:chOff x="0" y="0"/>
          <a:chExt cx="0" cy="0"/>
        </a:xfrm>
      </p:grpSpPr>
      <p:pic>
        <p:nvPicPr>
          <p:cNvPr descr="Portuguese azulejo tile pattern" id="409" name="Google Shape;409;p13"/>
          <p:cNvPicPr preferRelativeResize="0"/>
          <p:nvPr/>
        </p:nvPicPr>
        <p:blipFill rotWithShape="1">
          <a:blip r:embed="rId3">
            <a:alphaModFix/>
          </a:blip>
          <a:srcRect b="-3" l="0" r="0" t="-3"/>
          <a:stretch/>
        </p:blipFill>
        <p:spPr>
          <a:xfrm>
            <a:off x="0" y="0"/>
            <a:ext cx="3556000" cy="6858000"/>
          </a:xfrm>
          <a:prstGeom prst="rect">
            <a:avLst/>
          </a:prstGeom>
          <a:noFill/>
          <a:ln>
            <a:noFill/>
          </a:ln>
        </p:spPr>
      </p:pic>
      <p:sp>
        <p:nvSpPr>
          <p:cNvPr id="410" name="Google Shape;410;p13"/>
          <p:cNvSpPr/>
          <p:nvPr/>
        </p:nvSpPr>
        <p:spPr>
          <a:xfrm>
            <a:off x="3556000" y="0"/>
            <a:ext cx="50800" cy="6858000"/>
          </a:xfrm>
          <a:prstGeom prst="rect">
            <a:avLst/>
          </a:prstGeom>
          <a:solidFill>
            <a:srgbClr val="C8A1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3"/>
          <p:cNvSpPr/>
          <p:nvPr/>
        </p:nvSpPr>
        <p:spPr>
          <a:xfrm>
            <a:off x="4368800" y="812800"/>
            <a:ext cx="7220712"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8A14A"/>
              </a:buClr>
              <a:buSzPts val="1300"/>
              <a:buFont typeface="Source Sans 3"/>
              <a:buNone/>
            </a:pPr>
            <a:r>
              <a:rPr b="1" i="0" lang="en-US" sz="1300" u="none" cap="none" strike="noStrike">
                <a:solidFill>
                  <a:srgbClr val="C8A14A"/>
                </a:solidFill>
                <a:latin typeface="Source Sans 3"/>
                <a:ea typeface="Source Sans 3"/>
                <a:cs typeface="Source Sans 3"/>
                <a:sym typeface="Source Sans 3"/>
              </a:rPr>
              <a:t>RENTAL CRISIS IN PORTUGAL</a:t>
            </a:r>
            <a:endParaRPr b="0" i="0" sz="1300" u="none" cap="none" strike="noStrike">
              <a:solidFill>
                <a:schemeClr val="dk1"/>
              </a:solidFill>
              <a:latin typeface="Calibri"/>
              <a:ea typeface="Calibri"/>
              <a:cs typeface="Calibri"/>
              <a:sym typeface="Calibri"/>
            </a:endParaRPr>
          </a:p>
        </p:txBody>
      </p:sp>
      <p:sp>
        <p:nvSpPr>
          <p:cNvPr id="412" name="Google Shape;412;p13"/>
          <p:cNvSpPr/>
          <p:nvPr/>
        </p:nvSpPr>
        <p:spPr>
          <a:xfrm>
            <a:off x="4368800" y="2413000"/>
            <a:ext cx="7220712" cy="99695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3EDE1"/>
              </a:buClr>
              <a:buSzPts val="7500"/>
              <a:buFont typeface="Playfair Display"/>
              <a:buNone/>
            </a:pPr>
            <a:r>
              <a:rPr b="1" i="0" lang="en-US" sz="7500" u="none" cap="none" strike="noStrike">
                <a:solidFill>
                  <a:srgbClr val="F3EDE1"/>
                </a:solidFill>
                <a:latin typeface="Playfair Display"/>
                <a:ea typeface="Playfair Display"/>
                <a:cs typeface="Playfair Display"/>
                <a:sym typeface="Playfair Display"/>
              </a:rPr>
              <a:t>Obrigad</a:t>
            </a:r>
            <a:r>
              <a:rPr b="1" lang="en-US" sz="7500">
                <a:solidFill>
                  <a:srgbClr val="F3EDE1"/>
                </a:solidFill>
                <a:latin typeface="Playfair Display"/>
                <a:ea typeface="Playfair Display"/>
                <a:cs typeface="Playfair Display"/>
                <a:sym typeface="Playfair Display"/>
              </a:rPr>
              <a:t>a</a:t>
            </a:r>
            <a:r>
              <a:rPr b="1" i="0" lang="en-US" sz="7500" u="none" cap="none" strike="noStrike">
                <a:solidFill>
                  <a:srgbClr val="F3EDE1"/>
                </a:solidFill>
                <a:latin typeface="Playfair Display"/>
                <a:ea typeface="Playfair Display"/>
                <a:cs typeface="Playfair Display"/>
                <a:sym typeface="Playfair Display"/>
              </a:rPr>
              <a:t>!</a:t>
            </a:r>
            <a:endParaRPr b="0" i="0" sz="7500" u="none" cap="none" strike="noStrike">
              <a:solidFill>
                <a:schemeClr val="dk1"/>
              </a:solidFill>
              <a:latin typeface="Calibri"/>
              <a:ea typeface="Calibri"/>
              <a:cs typeface="Calibri"/>
              <a:sym typeface="Calibri"/>
            </a:endParaRPr>
          </a:p>
        </p:txBody>
      </p:sp>
      <p:sp>
        <p:nvSpPr>
          <p:cNvPr id="413" name="Google Shape;413;p13"/>
          <p:cNvSpPr/>
          <p:nvPr/>
        </p:nvSpPr>
        <p:spPr>
          <a:xfrm>
            <a:off x="4368800" y="3556000"/>
            <a:ext cx="7220712"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E4DC"/>
              </a:buClr>
              <a:buSzPts val="2200"/>
              <a:buFont typeface="Source Sans 3"/>
              <a:buNone/>
            </a:pPr>
            <a:r>
              <a:rPr b="0" i="0" lang="en-US" sz="2200" u="none" cap="none" strike="noStrike">
                <a:solidFill>
                  <a:srgbClr val="D9E4DC"/>
                </a:solidFill>
                <a:latin typeface="Source Sans 3"/>
                <a:ea typeface="Source Sans 3"/>
                <a:cs typeface="Source Sans 3"/>
                <a:sym typeface="Source Sans 3"/>
              </a:rPr>
              <a:t>Thank you – questions?</a:t>
            </a:r>
            <a:endParaRPr b="0" i="0" sz="2200" u="none" cap="none" strike="noStrike">
              <a:solidFill>
                <a:schemeClr val="dk1"/>
              </a:solidFill>
              <a:latin typeface="Calibri"/>
              <a:ea typeface="Calibri"/>
              <a:cs typeface="Calibri"/>
              <a:sym typeface="Calibri"/>
            </a:endParaRPr>
          </a:p>
        </p:txBody>
      </p:sp>
      <p:sp>
        <p:nvSpPr>
          <p:cNvPr id="414" name="Google Shape;414;p13"/>
          <p:cNvSpPr/>
          <p:nvPr/>
        </p:nvSpPr>
        <p:spPr>
          <a:xfrm>
            <a:off x="4368800" y="5461000"/>
            <a:ext cx="7220712"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3EDE1"/>
              </a:buClr>
              <a:buSzPts val="1600"/>
              <a:buFont typeface="Source Sans 3"/>
              <a:buNone/>
            </a:pPr>
            <a:r>
              <a:rPr b="1" i="0" lang="en-US" sz="1600" u="none" cap="none" strike="noStrike">
                <a:solidFill>
                  <a:srgbClr val="F3EDE1"/>
                </a:solidFill>
                <a:latin typeface="Source Sans 3"/>
                <a:ea typeface="Source Sans 3"/>
                <a:cs typeface="Source Sans 3"/>
                <a:sym typeface="Source Sans 3"/>
              </a:rPr>
              <a:t>Andrea Carlo Cerri </a:t>
            </a:r>
            <a:r>
              <a:rPr b="1" i="0" lang="en-US" sz="1600" u="none" cap="none" strike="noStrike">
                <a:solidFill>
                  <a:srgbClr val="C8A14A"/>
                </a:solidFill>
                <a:latin typeface="Source Sans 3"/>
                <a:ea typeface="Source Sans 3"/>
                <a:cs typeface="Source Sans 3"/>
                <a:sym typeface="Source Sans 3"/>
              </a:rPr>
              <a:t>◆</a:t>
            </a:r>
            <a:r>
              <a:rPr b="1" i="0" lang="en-US" sz="1600" u="none" cap="none" strike="noStrike">
                <a:solidFill>
                  <a:srgbClr val="F3EDE1"/>
                </a:solidFill>
                <a:latin typeface="Source Sans 3"/>
                <a:ea typeface="Source Sans 3"/>
                <a:cs typeface="Source Sans 3"/>
                <a:sym typeface="Source Sans 3"/>
              </a:rPr>
              <a:t> Juliana Therezo</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6EE"/>
        </a:solidFill>
      </p:bgPr>
    </p:bg>
    <p:spTree>
      <p:nvGrpSpPr>
        <p:cNvPr id="419" name="Shape 419"/>
        <p:cNvGrpSpPr/>
        <p:nvPr/>
      </p:nvGrpSpPr>
      <p:grpSpPr>
        <a:xfrm>
          <a:off x="0" y="0"/>
          <a:ext cx="0" cy="0"/>
          <a:chOff x="0" y="0"/>
          <a:chExt cx="0" cy="0"/>
        </a:xfrm>
      </p:grpSpPr>
      <p:sp>
        <p:nvSpPr>
          <p:cNvPr id="420" name="Google Shape;420;p14"/>
          <p:cNvSpPr/>
          <p:nvPr/>
        </p:nvSpPr>
        <p:spPr>
          <a:xfrm>
            <a:off x="0" y="0"/>
            <a:ext cx="12192000" cy="889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rgbClr val="9E1B32"/>
              </a:buClr>
              <a:buSzPts val="1200"/>
              <a:buFont typeface="Source Sans 3"/>
              <a:buNone/>
            </a:pPr>
            <a:r>
              <a:rPr b="1" lang="en-US" sz="1100">
                <a:solidFill>
                  <a:srgbClr val="9E1B32"/>
                </a:solidFill>
                <a:latin typeface="Source Sans 3"/>
                <a:ea typeface="Source Sans 3"/>
                <a:cs typeface="Source Sans 3"/>
                <a:sym typeface="Source Sans 3"/>
              </a:rPr>
              <a:t>FROM PUBLIC RECORDS TO MARKET INTELLIGENCE</a:t>
            </a:r>
            <a:endParaRPr b="1" sz="1200">
              <a:solidFill>
                <a:srgbClr val="9E1B32"/>
              </a:solidFill>
              <a:latin typeface="Source Sans 3"/>
              <a:ea typeface="Source Sans 3"/>
              <a:cs typeface="Source Sans 3"/>
              <a:sym typeface="Source Sans 3"/>
            </a:endParaRPr>
          </a:p>
        </p:txBody>
      </p:sp>
      <p:sp>
        <p:nvSpPr>
          <p:cNvPr id="422" name="Google Shape;422;p14"/>
          <p:cNvSpPr/>
          <p:nvPr/>
        </p:nvSpPr>
        <p:spPr>
          <a:xfrm>
            <a:off x="812800" y="1115020"/>
            <a:ext cx="10883392" cy="4723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A24"/>
              </a:buClr>
              <a:buSzPts val="3200"/>
              <a:buFont typeface="Playfair Display"/>
              <a:buNone/>
            </a:pPr>
            <a:r>
              <a:rPr b="1" lang="en-US" sz="3200">
                <a:solidFill>
                  <a:srgbClr val="1D2A24"/>
                </a:solidFill>
                <a:latin typeface="Playfair Display"/>
                <a:ea typeface="Playfair Display"/>
                <a:cs typeface="Playfair Display"/>
                <a:sym typeface="Playfair Display"/>
              </a:rPr>
              <a:t>~146,000 source records, one analytical framework</a:t>
            </a:r>
            <a:endParaRPr b="1" sz="3200">
              <a:solidFill>
                <a:srgbClr val="1D2A24"/>
              </a:solidFill>
              <a:latin typeface="Playfair Display"/>
              <a:ea typeface="Playfair Display"/>
              <a:cs typeface="Playfair Display"/>
              <a:sym typeface="Playfair Display"/>
            </a:endParaRPr>
          </a:p>
          <a:p>
            <a:pPr indent="0" lvl="0" marL="0" marR="0" rtl="0" algn="l">
              <a:lnSpc>
                <a:spcPct val="110000"/>
              </a:lnSpc>
              <a:spcBef>
                <a:spcPts val="0"/>
              </a:spcBef>
              <a:spcAft>
                <a:spcPts val="0"/>
              </a:spcAft>
              <a:buClr>
                <a:srgbClr val="1D2A24"/>
              </a:buClr>
              <a:buSzPts val="3200"/>
              <a:buFont typeface="Playfair Display"/>
              <a:buNone/>
            </a:pPr>
            <a:r>
              <a:t/>
            </a:r>
            <a:endParaRPr b="1" sz="3200">
              <a:solidFill>
                <a:srgbClr val="1D2A24"/>
              </a:solidFill>
              <a:latin typeface="Playfair Display"/>
              <a:ea typeface="Playfair Display"/>
              <a:cs typeface="Playfair Display"/>
              <a:sym typeface="Playfair Display"/>
            </a:endParaRPr>
          </a:p>
        </p:txBody>
      </p:sp>
      <p:sp>
        <p:nvSpPr>
          <p:cNvPr id="423" name="Google Shape;423;p14"/>
          <p:cNvSpPr/>
          <p:nvPr/>
        </p:nvSpPr>
        <p:spPr>
          <a:xfrm>
            <a:off x="815975" y="2919527"/>
            <a:ext cx="1458300" cy="1250700"/>
          </a:xfrm>
          <a:prstGeom prst="roundRect">
            <a:avLst>
              <a:gd fmla="val 5838"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424" name="Google Shape;424;p14"/>
          <p:cNvPicPr preferRelativeResize="0"/>
          <p:nvPr/>
        </p:nvPicPr>
        <p:blipFill rotWithShape="1">
          <a:blip r:embed="rId3">
            <a:alphaModFix/>
          </a:blip>
          <a:srcRect b="0" l="0" r="0" t="0"/>
          <a:stretch/>
        </p:blipFill>
        <p:spPr>
          <a:xfrm>
            <a:off x="958850" y="3062402"/>
            <a:ext cx="228600" cy="228600"/>
          </a:xfrm>
          <a:prstGeom prst="rect">
            <a:avLst/>
          </a:prstGeom>
          <a:noFill/>
          <a:ln>
            <a:noFill/>
          </a:ln>
        </p:spPr>
      </p:pic>
      <p:sp>
        <p:nvSpPr>
          <p:cNvPr id="425" name="Google Shape;425;p14"/>
          <p:cNvSpPr/>
          <p:nvPr/>
        </p:nvSpPr>
        <p:spPr>
          <a:xfrm>
            <a:off x="958850" y="3354502"/>
            <a:ext cx="1223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400"/>
              <a:buFont typeface="Source Sans 3"/>
              <a:buNone/>
            </a:pPr>
            <a:r>
              <a:rPr b="1" i="0" lang="en-US" sz="1400" u="none" cap="none" strike="noStrike">
                <a:solidFill>
                  <a:srgbClr val="1D2A24"/>
                </a:solidFill>
                <a:latin typeface="Source Sans 3"/>
                <a:ea typeface="Source Sans 3"/>
                <a:cs typeface="Source Sans 3"/>
                <a:sym typeface="Source Sans 3"/>
              </a:rPr>
              <a:t>Collect</a:t>
            </a:r>
            <a:endParaRPr b="0" i="0" sz="1400" u="none" cap="none" strike="noStrike">
              <a:solidFill>
                <a:schemeClr val="dk1"/>
              </a:solidFill>
              <a:latin typeface="Calibri"/>
              <a:ea typeface="Calibri"/>
              <a:cs typeface="Calibri"/>
              <a:sym typeface="Calibri"/>
            </a:endParaRPr>
          </a:p>
        </p:txBody>
      </p:sp>
      <p:sp>
        <p:nvSpPr>
          <p:cNvPr id="426" name="Google Shape;426;p14"/>
          <p:cNvSpPr/>
          <p:nvPr/>
        </p:nvSpPr>
        <p:spPr>
          <a:xfrm>
            <a:off x="958850" y="3631322"/>
            <a:ext cx="1223400" cy="42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550"/>
              </a:buClr>
              <a:buSzPts val="1200"/>
              <a:buFont typeface="Source Sans 3"/>
              <a:buNone/>
            </a:pPr>
            <a:r>
              <a:rPr lang="en-US" sz="1200">
                <a:solidFill>
                  <a:srgbClr val="4B5550"/>
                </a:solidFill>
                <a:latin typeface="Source Sans 3"/>
                <a:ea typeface="Source Sans 3"/>
                <a:cs typeface="Source Sans 3"/>
                <a:sym typeface="Source Sans 3"/>
              </a:rPr>
              <a:t>INE API + </a:t>
            </a:r>
            <a:br>
              <a:rPr lang="en-US" sz="1200">
                <a:solidFill>
                  <a:srgbClr val="4B5550"/>
                </a:solidFill>
                <a:latin typeface="Source Sans 3"/>
                <a:ea typeface="Source Sans 3"/>
                <a:cs typeface="Source Sans 3"/>
                <a:sym typeface="Source Sans 3"/>
              </a:rPr>
            </a:br>
            <a:r>
              <a:rPr lang="en-US" sz="1200">
                <a:solidFill>
                  <a:srgbClr val="4B5550"/>
                </a:solidFill>
                <a:latin typeface="Source Sans 3"/>
                <a:ea typeface="Source Sans 3"/>
                <a:cs typeface="Source Sans 3"/>
                <a:sym typeface="Source Sans 3"/>
              </a:rPr>
              <a:t>RNAL register</a:t>
            </a:r>
            <a:endParaRPr i="0" sz="1200" u="none" cap="none" strike="noStrike">
              <a:solidFill>
                <a:srgbClr val="4B5550"/>
              </a:solidFill>
              <a:latin typeface="Source Sans 3"/>
              <a:ea typeface="Source Sans 3"/>
              <a:cs typeface="Source Sans 3"/>
              <a:sym typeface="Source Sans 3"/>
            </a:endParaRPr>
          </a:p>
        </p:txBody>
      </p:sp>
      <p:pic>
        <p:nvPicPr>
          <p:cNvPr descr="arrow-right" id="427" name="Google Shape;427;p14"/>
          <p:cNvPicPr preferRelativeResize="0"/>
          <p:nvPr/>
        </p:nvPicPr>
        <p:blipFill rotWithShape="1">
          <a:blip r:embed="rId4">
            <a:alphaModFix/>
          </a:blip>
          <a:srcRect b="0" l="0" r="0" t="0"/>
          <a:stretch/>
        </p:blipFill>
        <p:spPr>
          <a:xfrm>
            <a:off x="2340967" y="3475053"/>
            <a:ext cx="228600" cy="139700"/>
          </a:xfrm>
          <a:prstGeom prst="rect">
            <a:avLst/>
          </a:prstGeom>
          <a:noFill/>
          <a:ln>
            <a:noFill/>
          </a:ln>
        </p:spPr>
      </p:pic>
      <p:sp>
        <p:nvSpPr>
          <p:cNvPr id="428" name="Google Shape;428;p14"/>
          <p:cNvSpPr/>
          <p:nvPr/>
        </p:nvSpPr>
        <p:spPr>
          <a:xfrm>
            <a:off x="2636242" y="2919527"/>
            <a:ext cx="1458300" cy="1250700"/>
          </a:xfrm>
          <a:prstGeom prst="roundRect">
            <a:avLst>
              <a:gd fmla="val 5838"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429" name="Google Shape;429;p14"/>
          <p:cNvPicPr preferRelativeResize="0"/>
          <p:nvPr/>
        </p:nvPicPr>
        <p:blipFill rotWithShape="1">
          <a:blip r:embed="rId5">
            <a:alphaModFix/>
          </a:blip>
          <a:srcRect b="0" l="0" r="0" t="0"/>
          <a:stretch/>
        </p:blipFill>
        <p:spPr>
          <a:xfrm>
            <a:off x="2779117" y="3062402"/>
            <a:ext cx="228600" cy="228600"/>
          </a:xfrm>
          <a:prstGeom prst="rect">
            <a:avLst/>
          </a:prstGeom>
          <a:noFill/>
          <a:ln>
            <a:noFill/>
          </a:ln>
        </p:spPr>
      </p:pic>
      <p:sp>
        <p:nvSpPr>
          <p:cNvPr id="430" name="Google Shape;430;p14"/>
          <p:cNvSpPr/>
          <p:nvPr/>
        </p:nvSpPr>
        <p:spPr>
          <a:xfrm>
            <a:off x="2779117" y="3354502"/>
            <a:ext cx="1223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400"/>
              <a:buFont typeface="Source Sans 3"/>
              <a:buNone/>
            </a:pPr>
            <a:r>
              <a:rPr b="1" lang="en-US">
                <a:solidFill>
                  <a:srgbClr val="1D2A24"/>
                </a:solidFill>
                <a:latin typeface="Source Sans 3"/>
                <a:ea typeface="Source Sans 3"/>
                <a:cs typeface="Source Sans 3"/>
                <a:sym typeface="Source Sans 3"/>
              </a:rPr>
              <a:t>Standardise</a:t>
            </a:r>
            <a:endParaRPr b="0" i="0" sz="1400" u="none" cap="none" strike="noStrike">
              <a:solidFill>
                <a:schemeClr val="dk1"/>
              </a:solidFill>
              <a:latin typeface="Calibri"/>
              <a:ea typeface="Calibri"/>
              <a:cs typeface="Calibri"/>
              <a:sym typeface="Calibri"/>
            </a:endParaRPr>
          </a:p>
        </p:txBody>
      </p:sp>
      <p:sp>
        <p:nvSpPr>
          <p:cNvPr id="431" name="Google Shape;431;p14"/>
          <p:cNvSpPr/>
          <p:nvPr/>
        </p:nvSpPr>
        <p:spPr>
          <a:xfrm>
            <a:off x="2779117" y="3631322"/>
            <a:ext cx="12234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550"/>
              </a:buClr>
              <a:buSzPts val="1200"/>
              <a:buFont typeface="Source Sans 3"/>
              <a:buNone/>
            </a:pPr>
            <a:r>
              <a:rPr lang="en-US" sz="1200">
                <a:solidFill>
                  <a:srgbClr val="4B5550"/>
                </a:solidFill>
                <a:latin typeface="Source Sans 3"/>
                <a:ea typeface="Source Sans 3"/>
                <a:cs typeface="Source Sans 3"/>
                <a:sym typeface="Source Sans 3"/>
              </a:rPr>
              <a:t>Dates · numbers ·</a:t>
            </a:r>
            <a:endParaRPr sz="1200">
              <a:solidFill>
                <a:srgbClr val="4B5550"/>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4B5550"/>
              </a:buClr>
              <a:buSzPts val="1200"/>
              <a:buFont typeface="Source Sans 3"/>
              <a:buNone/>
            </a:pPr>
            <a:r>
              <a:rPr lang="en-US" sz="1200">
                <a:solidFill>
                  <a:srgbClr val="4B5550"/>
                </a:solidFill>
                <a:latin typeface="Source Sans 3"/>
                <a:ea typeface="Source Sans 3"/>
                <a:cs typeface="Source Sans 3"/>
                <a:sym typeface="Source Sans 3"/>
              </a:rPr>
              <a:t>geographic levels</a:t>
            </a:r>
            <a:endParaRPr sz="1200">
              <a:solidFill>
                <a:srgbClr val="4B5550"/>
              </a:solidFill>
              <a:latin typeface="Source Sans 3"/>
              <a:ea typeface="Source Sans 3"/>
              <a:cs typeface="Source Sans 3"/>
              <a:sym typeface="Source Sans 3"/>
            </a:endParaRPr>
          </a:p>
        </p:txBody>
      </p:sp>
      <p:pic>
        <p:nvPicPr>
          <p:cNvPr descr="arrow-right" id="432" name="Google Shape;432;p14"/>
          <p:cNvPicPr preferRelativeResize="0"/>
          <p:nvPr/>
        </p:nvPicPr>
        <p:blipFill rotWithShape="1">
          <a:blip r:embed="rId4">
            <a:alphaModFix/>
          </a:blip>
          <a:srcRect b="0" l="0" r="0" t="0"/>
          <a:stretch/>
        </p:blipFill>
        <p:spPr>
          <a:xfrm>
            <a:off x="4161334" y="3475053"/>
            <a:ext cx="228600" cy="139700"/>
          </a:xfrm>
          <a:prstGeom prst="rect">
            <a:avLst/>
          </a:prstGeom>
          <a:noFill/>
          <a:ln>
            <a:noFill/>
          </a:ln>
        </p:spPr>
      </p:pic>
      <p:sp>
        <p:nvSpPr>
          <p:cNvPr id="433" name="Google Shape;433;p14"/>
          <p:cNvSpPr/>
          <p:nvPr/>
        </p:nvSpPr>
        <p:spPr>
          <a:xfrm>
            <a:off x="4456609" y="2919527"/>
            <a:ext cx="1458300" cy="1250700"/>
          </a:xfrm>
          <a:prstGeom prst="roundRect">
            <a:avLst>
              <a:gd fmla="val 5838"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rench" id="434" name="Google Shape;434;p14"/>
          <p:cNvPicPr preferRelativeResize="0"/>
          <p:nvPr/>
        </p:nvPicPr>
        <p:blipFill rotWithShape="1">
          <a:blip r:embed="rId6">
            <a:alphaModFix/>
          </a:blip>
          <a:srcRect b="0" l="0" r="0" t="0"/>
          <a:stretch/>
        </p:blipFill>
        <p:spPr>
          <a:xfrm>
            <a:off x="4599484" y="3062402"/>
            <a:ext cx="228600" cy="228600"/>
          </a:xfrm>
          <a:prstGeom prst="rect">
            <a:avLst/>
          </a:prstGeom>
          <a:noFill/>
          <a:ln>
            <a:noFill/>
          </a:ln>
        </p:spPr>
      </p:pic>
      <p:sp>
        <p:nvSpPr>
          <p:cNvPr id="435" name="Google Shape;435;p14"/>
          <p:cNvSpPr/>
          <p:nvPr/>
        </p:nvSpPr>
        <p:spPr>
          <a:xfrm>
            <a:off x="4599484" y="3354502"/>
            <a:ext cx="1223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400"/>
              <a:buFont typeface="Source Sans 3"/>
              <a:buNone/>
            </a:pPr>
            <a:r>
              <a:rPr b="1" lang="en-US">
                <a:solidFill>
                  <a:srgbClr val="1D2A24"/>
                </a:solidFill>
                <a:latin typeface="Source Sans 3"/>
                <a:ea typeface="Source Sans 3"/>
                <a:cs typeface="Source Sans 3"/>
                <a:sym typeface="Source Sans 3"/>
              </a:rPr>
              <a:t>Join</a:t>
            </a:r>
            <a:endParaRPr b="0" i="0" sz="1400" u="none" cap="none" strike="noStrike">
              <a:solidFill>
                <a:schemeClr val="dk1"/>
              </a:solidFill>
              <a:latin typeface="Calibri"/>
              <a:ea typeface="Calibri"/>
              <a:cs typeface="Calibri"/>
              <a:sym typeface="Calibri"/>
            </a:endParaRPr>
          </a:p>
        </p:txBody>
      </p:sp>
      <p:sp>
        <p:nvSpPr>
          <p:cNvPr id="436" name="Google Shape;436;p14"/>
          <p:cNvSpPr/>
          <p:nvPr/>
        </p:nvSpPr>
        <p:spPr>
          <a:xfrm>
            <a:off x="4599484" y="3631322"/>
            <a:ext cx="1223400" cy="42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550"/>
              </a:buClr>
              <a:buSzPts val="1200"/>
              <a:buFont typeface="Source Sans 3"/>
              <a:buNone/>
            </a:pPr>
            <a:r>
              <a:rPr lang="en-US" sz="1200">
                <a:solidFill>
                  <a:srgbClr val="4B5550"/>
                </a:solidFill>
                <a:latin typeface="Source Sans 3"/>
                <a:ea typeface="Source Sans 3"/>
                <a:cs typeface="Source Sans 3"/>
                <a:sym typeface="Source Sans 3"/>
              </a:rPr>
              <a:t>Municipality codes</a:t>
            </a:r>
            <a:endParaRPr sz="1200">
              <a:solidFill>
                <a:srgbClr val="4B5550"/>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4B5550"/>
              </a:buClr>
              <a:buSzPts val="1200"/>
              <a:buFont typeface="Source Sans 3"/>
              <a:buNone/>
            </a:pPr>
            <a:r>
              <a:t/>
            </a:r>
            <a:endParaRPr sz="1200">
              <a:solidFill>
                <a:srgbClr val="4B5550"/>
              </a:solidFill>
              <a:latin typeface="Source Sans 3"/>
              <a:ea typeface="Source Sans 3"/>
              <a:cs typeface="Source Sans 3"/>
              <a:sym typeface="Source Sans 3"/>
            </a:endParaRPr>
          </a:p>
        </p:txBody>
      </p:sp>
      <p:pic>
        <p:nvPicPr>
          <p:cNvPr descr="arrow-right" id="437" name="Google Shape;437;p14"/>
          <p:cNvPicPr preferRelativeResize="0"/>
          <p:nvPr/>
        </p:nvPicPr>
        <p:blipFill rotWithShape="1">
          <a:blip r:embed="rId4">
            <a:alphaModFix/>
          </a:blip>
          <a:srcRect b="0" l="0" r="0" t="0"/>
          <a:stretch/>
        </p:blipFill>
        <p:spPr>
          <a:xfrm>
            <a:off x="5981601" y="3475053"/>
            <a:ext cx="228600" cy="139700"/>
          </a:xfrm>
          <a:prstGeom prst="rect">
            <a:avLst/>
          </a:prstGeom>
          <a:noFill/>
          <a:ln>
            <a:noFill/>
          </a:ln>
        </p:spPr>
      </p:pic>
      <p:sp>
        <p:nvSpPr>
          <p:cNvPr id="438" name="Google Shape;438;p14"/>
          <p:cNvSpPr/>
          <p:nvPr/>
        </p:nvSpPr>
        <p:spPr>
          <a:xfrm>
            <a:off x="6276876" y="2919527"/>
            <a:ext cx="1458300" cy="1250700"/>
          </a:xfrm>
          <a:prstGeom prst="roundRect">
            <a:avLst>
              <a:gd fmla="val 5838"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nk" id="439" name="Google Shape;439;p14"/>
          <p:cNvPicPr preferRelativeResize="0"/>
          <p:nvPr/>
        </p:nvPicPr>
        <p:blipFill rotWithShape="1">
          <a:blip r:embed="rId7">
            <a:alphaModFix/>
          </a:blip>
          <a:srcRect b="0" l="0" r="0" t="0"/>
          <a:stretch/>
        </p:blipFill>
        <p:spPr>
          <a:xfrm>
            <a:off x="6419751" y="3062402"/>
            <a:ext cx="228600" cy="228600"/>
          </a:xfrm>
          <a:prstGeom prst="rect">
            <a:avLst/>
          </a:prstGeom>
          <a:noFill/>
          <a:ln>
            <a:noFill/>
          </a:ln>
        </p:spPr>
      </p:pic>
      <p:sp>
        <p:nvSpPr>
          <p:cNvPr id="440" name="Google Shape;440;p14"/>
          <p:cNvSpPr/>
          <p:nvPr/>
        </p:nvSpPr>
        <p:spPr>
          <a:xfrm>
            <a:off x="6419751" y="3354502"/>
            <a:ext cx="1223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400"/>
              <a:buFont typeface="Source Sans 3"/>
              <a:buNone/>
            </a:pPr>
            <a:r>
              <a:rPr b="1" lang="en-US">
                <a:solidFill>
                  <a:srgbClr val="1D2A24"/>
                </a:solidFill>
                <a:latin typeface="Source Sans 3"/>
                <a:ea typeface="Source Sans 3"/>
                <a:cs typeface="Source Sans 3"/>
                <a:sym typeface="Source Sans 3"/>
              </a:rPr>
              <a:t>Compare</a:t>
            </a:r>
            <a:endParaRPr b="0" i="0" sz="1400" u="none" cap="none" strike="noStrike">
              <a:solidFill>
                <a:schemeClr val="dk1"/>
              </a:solidFill>
              <a:latin typeface="Calibri"/>
              <a:ea typeface="Calibri"/>
              <a:cs typeface="Calibri"/>
              <a:sym typeface="Calibri"/>
            </a:endParaRPr>
          </a:p>
        </p:txBody>
      </p:sp>
      <p:sp>
        <p:nvSpPr>
          <p:cNvPr id="441" name="Google Shape;441;p14"/>
          <p:cNvSpPr/>
          <p:nvPr/>
        </p:nvSpPr>
        <p:spPr>
          <a:xfrm>
            <a:off x="6419751" y="3631322"/>
            <a:ext cx="1223400" cy="42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550"/>
              </a:buClr>
              <a:buSzPts val="1200"/>
              <a:buFont typeface="Source Sans 3"/>
              <a:buNone/>
            </a:pPr>
            <a:r>
              <a:rPr lang="en-US" sz="1200">
                <a:solidFill>
                  <a:srgbClr val="4B5550"/>
                </a:solidFill>
                <a:latin typeface="Source Sans 3"/>
                <a:ea typeface="Source Sans 3"/>
                <a:cs typeface="Source Sans 3"/>
                <a:sym typeface="Source Sans 3"/>
              </a:rPr>
              <a:t>Rent growth · size ·</a:t>
            </a:r>
            <a:endParaRPr sz="1200">
              <a:solidFill>
                <a:srgbClr val="4B5550"/>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4B5550"/>
              </a:buClr>
              <a:buSzPts val="1200"/>
              <a:buFont typeface="Source Sans 3"/>
              <a:buNone/>
            </a:pPr>
            <a:r>
              <a:rPr lang="en-US" sz="1200">
                <a:solidFill>
                  <a:srgbClr val="4B5550"/>
                </a:solidFill>
                <a:latin typeface="Source Sans 3"/>
                <a:ea typeface="Source Sans 3"/>
                <a:cs typeface="Source Sans 3"/>
                <a:sym typeface="Source Sans 3"/>
              </a:rPr>
              <a:t>STR intensity</a:t>
            </a:r>
            <a:endParaRPr sz="1200">
              <a:solidFill>
                <a:srgbClr val="4B5550"/>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4B5550"/>
              </a:buClr>
              <a:buSzPts val="1200"/>
              <a:buFont typeface="Source Sans 3"/>
              <a:buNone/>
            </a:pPr>
            <a:r>
              <a:t/>
            </a:r>
            <a:endParaRPr sz="1200">
              <a:solidFill>
                <a:srgbClr val="4B5550"/>
              </a:solidFill>
              <a:latin typeface="Source Sans 3"/>
              <a:ea typeface="Source Sans 3"/>
              <a:cs typeface="Source Sans 3"/>
              <a:sym typeface="Source Sans 3"/>
            </a:endParaRPr>
          </a:p>
        </p:txBody>
      </p:sp>
      <p:pic>
        <p:nvPicPr>
          <p:cNvPr descr="arrow-right" id="442" name="Google Shape;442;p14"/>
          <p:cNvPicPr preferRelativeResize="0"/>
          <p:nvPr/>
        </p:nvPicPr>
        <p:blipFill rotWithShape="1">
          <a:blip r:embed="rId4">
            <a:alphaModFix/>
          </a:blip>
          <a:srcRect b="0" l="0" r="0" t="0"/>
          <a:stretch/>
        </p:blipFill>
        <p:spPr>
          <a:xfrm>
            <a:off x="7801967" y="3475053"/>
            <a:ext cx="228600" cy="139700"/>
          </a:xfrm>
          <a:prstGeom prst="rect">
            <a:avLst/>
          </a:prstGeom>
          <a:noFill/>
          <a:ln>
            <a:noFill/>
          </a:ln>
        </p:spPr>
      </p:pic>
      <p:sp>
        <p:nvSpPr>
          <p:cNvPr id="443" name="Google Shape;443;p14"/>
          <p:cNvSpPr/>
          <p:nvPr/>
        </p:nvSpPr>
        <p:spPr>
          <a:xfrm>
            <a:off x="8097242" y="2919527"/>
            <a:ext cx="1458300" cy="1250700"/>
          </a:xfrm>
          <a:prstGeom prst="roundRect">
            <a:avLst>
              <a:gd fmla="val 5838"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rt" id="444" name="Google Shape;444;p14"/>
          <p:cNvPicPr preferRelativeResize="0"/>
          <p:nvPr/>
        </p:nvPicPr>
        <p:blipFill rotWithShape="1">
          <a:blip r:embed="rId8">
            <a:alphaModFix/>
          </a:blip>
          <a:srcRect b="0" l="0" r="0" t="0"/>
          <a:stretch/>
        </p:blipFill>
        <p:spPr>
          <a:xfrm>
            <a:off x="8240117" y="3062402"/>
            <a:ext cx="228600" cy="228600"/>
          </a:xfrm>
          <a:prstGeom prst="rect">
            <a:avLst/>
          </a:prstGeom>
          <a:noFill/>
          <a:ln>
            <a:noFill/>
          </a:ln>
        </p:spPr>
      </p:pic>
      <p:sp>
        <p:nvSpPr>
          <p:cNvPr id="445" name="Google Shape;445;p14"/>
          <p:cNvSpPr/>
          <p:nvPr/>
        </p:nvSpPr>
        <p:spPr>
          <a:xfrm>
            <a:off x="8240117" y="3354502"/>
            <a:ext cx="1223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400"/>
              <a:buFont typeface="Source Sans 3"/>
              <a:buNone/>
            </a:pPr>
            <a:r>
              <a:rPr b="1" lang="en-US">
                <a:solidFill>
                  <a:srgbClr val="1D2A24"/>
                </a:solidFill>
                <a:latin typeface="Source Sans 3"/>
                <a:ea typeface="Source Sans 3"/>
                <a:cs typeface="Source Sans 3"/>
                <a:sym typeface="Source Sans 3"/>
              </a:rPr>
              <a:t>Test</a:t>
            </a:r>
            <a:endParaRPr b="0" i="0" sz="1400" u="none" cap="none" strike="noStrike">
              <a:solidFill>
                <a:schemeClr val="dk1"/>
              </a:solidFill>
              <a:latin typeface="Calibri"/>
              <a:ea typeface="Calibri"/>
              <a:cs typeface="Calibri"/>
              <a:sym typeface="Calibri"/>
            </a:endParaRPr>
          </a:p>
        </p:txBody>
      </p:sp>
      <p:sp>
        <p:nvSpPr>
          <p:cNvPr id="446" name="Google Shape;446;p14"/>
          <p:cNvSpPr/>
          <p:nvPr/>
        </p:nvSpPr>
        <p:spPr>
          <a:xfrm>
            <a:off x="8240117" y="3631322"/>
            <a:ext cx="1223400" cy="42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550"/>
              </a:buClr>
              <a:buSzPts val="1200"/>
              <a:buFont typeface="Source Sans 3"/>
              <a:buNone/>
            </a:pPr>
            <a:r>
              <a:rPr lang="en-US" sz="1200">
                <a:solidFill>
                  <a:srgbClr val="4B5550"/>
                </a:solidFill>
                <a:latin typeface="Source Sans 3"/>
                <a:ea typeface="Source Sans 3"/>
                <a:cs typeface="Source Sans 3"/>
                <a:sym typeface="Source Sans 3"/>
              </a:rPr>
              <a:t>One result for each client question</a:t>
            </a:r>
            <a:endParaRPr sz="1200">
              <a:solidFill>
                <a:srgbClr val="4B5550"/>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4B5550"/>
              </a:buClr>
              <a:buSzPts val="1200"/>
              <a:buFont typeface="Source Sans 3"/>
              <a:buNone/>
            </a:pPr>
            <a:r>
              <a:t/>
            </a:r>
            <a:endParaRPr sz="1200">
              <a:solidFill>
                <a:srgbClr val="4B5550"/>
              </a:solidFill>
              <a:latin typeface="Source Sans 3"/>
              <a:ea typeface="Source Sans 3"/>
              <a:cs typeface="Source Sans 3"/>
              <a:sym typeface="Source Sans 3"/>
            </a:endParaRPr>
          </a:p>
        </p:txBody>
      </p:sp>
      <p:pic>
        <p:nvPicPr>
          <p:cNvPr descr="arrow-right" id="447" name="Google Shape;447;p14"/>
          <p:cNvPicPr preferRelativeResize="0"/>
          <p:nvPr/>
        </p:nvPicPr>
        <p:blipFill rotWithShape="1">
          <a:blip r:embed="rId4">
            <a:alphaModFix/>
          </a:blip>
          <a:srcRect b="0" l="0" r="0" t="0"/>
          <a:stretch/>
        </p:blipFill>
        <p:spPr>
          <a:xfrm>
            <a:off x="9622334" y="3475053"/>
            <a:ext cx="228600" cy="139700"/>
          </a:xfrm>
          <a:prstGeom prst="rect">
            <a:avLst/>
          </a:prstGeom>
          <a:noFill/>
          <a:ln>
            <a:noFill/>
          </a:ln>
        </p:spPr>
      </p:pic>
      <p:sp>
        <p:nvSpPr>
          <p:cNvPr id="448" name="Google Shape;448;p14"/>
          <p:cNvSpPr/>
          <p:nvPr/>
        </p:nvSpPr>
        <p:spPr>
          <a:xfrm>
            <a:off x="9917609" y="2919527"/>
            <a:ext cx="1458300" cy="1250700"/>
          </a:xfrm>
          <a:prstGeom prst="roundRect">
            <a:avLst>
              <a:gd fmla="val 5838" name="adj"/>
            </a:avLst>
          </a:prstGeom>
          <a:solidFill>
            <a:srgbClr val="FFFDF8"/>
          </a:solidFill>
          <a:ln cap="flat" cmpd="sng" w="9525">
            <a:solidFill>
              <a:srgbClr val="E2D8C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Circle" id="449" name="Google Shape;449;p14"/>
          <p:cNvPicPr preferRelativeResize="0"/>
          <p:nvPr/>
        </p:nvPicPr>
        <p:blipFill rotWithShape="1">
          <a:blip r:embed="rId9">
            <a:alphaModFix/>
          </a:blip>
          <a:srcRect b="0" l="0" r="0" t="0"/>
          <a:stretch/>
        </p:blipFill>
        <p:spPr>
          <a:xfrm>
            <a:off x="10060484" y="3062402"/>
            <a:ext cx="228600" cy="228600"/>
          </a:xfrm>
          <a:prstGeom prst="rect">
            <a:avLst/>
          </a:prstGeom>
          <a:noFill/>
          <a:ln>
            <a:noFill/>
          </a:ln>
        </p:spPr>
      </p:pic>
      <p:sp>
        <p:nvSpPr>
          <p:cNvPr id="450" name="Google Shape;450;p14"/>
          <p:cNvSpPr/>
          <p:nvPr/>
        </p:nvSpPr>
        <p:spPr>
          <a:xfrm>
            <a:off x="10060484" y="3354502"/>
            <a:ext cx="1223400" cy="238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2A24"/>
              </a:buClr>
              <a:buSzPts val="1400"/>
              <a:buFont typeface="Source Sans 3"/>
              <a:buNone/>
            </a:pPr>
            <a:r>
              <a:rPr b="1" i="0" lang="en-US" sz="1400" u="none" cap="none" strike="noStrike">
                <a:solidFill>
                  <a:srgbClr val="1D2A24"/>
                </a:solidFill>
                <a:latin typeface="Source Sans 3"/>
                <a:ea typeface="Source Sans 3"/>
                <a:cs typeface="Source Sans 3"/>
                <a:sym typeface="Source Sans 3"/>
              </a:rPr>
              <a:t>Conclude</a:t>
            </a:r>
            <a:endParaRPr b="0" i="0" sz="1400" u="none" cap="none" strike="noStrike">
              <a:solidFill>
                <a:schemeClr val="dk1"/>
              </a:solidFill>
              <a:latin typeface="Calibri"/>
              <a:ea typeface="Calibri"/>
              <a:cs typeface="Calibri"/>
              <a:sym typeface="Calibri"/>
            </a:endParaRPr>
          </a:p>
        </p:txBody>
      </p:sp>
      <p:sp>
        <p:nvSpPr>
          <p:cNvPr id="451" name="Google Shape;451;p14"/>
          <p:cNvSpPr/>
          <p:nvPr/>
        </p:nvSpPr>
        <p:spPr>
          <a:xfrm>
            <a:off x="10060484" y="3631322"/>
            <a:ext cx="1223400" cy="42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550"/>
              </a:buClr>
              <a:buSzPts val="1200"/>
              <a:buFont typeface="Source Sans 3"/>
              <a:buNone/>
            </a:pPr>
            <a:r>
              <a:rPr lang="en-US" sz="1200">
                <a:solidFill>
                  <a:srgbClr val="4B5550"/>
                </a:solidFill>
                <a:latin typeface="Source Sans 3"/>
                <a:ea typeface="Source Sans 3"/>
                <a:cs typeface="Source Sans 3"/>
                <a:sym typeface="Source Sans 3"/>
              </a:rPr>
              <a:t>One verdict per hypothesis</a:t>
            </a:r>
            <a:endParaRPr i="0" sz="1200" u="none" cap="none" strike="noStrike">
              <a:solidFill>
                <a:srgbClr val="4B5550"/>
              </a:solidFill>
              <a:latin typeface="Source Sans 3"/>
              <a:ea typeface="Source Sans 3"/>
              <a:cs typeface="Source Sans 3"/>
              <a:sym typeface="Source Sans 3"/>
            </a:endParaRPr>
          </a:p>
        </p:txBody>
      </p:sp>
      <p:sp>
        <p:nvSpPr>
          <p:cNvPr id="452" name="Google Shape;452;p14"/>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4</a:t>
            </a:r>
            <a:endParaRPr b="0" i="0" sz="1200" u="none" cap="none" strike="noStrike">
              <a:solidFill>
                <a:schemeClr val="dk1"/>
              </a:solidFill>
              <a:latin typeface="Calibri"/>
              <a:ea typeface="Calibri"/>
              <a:cs typeface="Calibri"/>
              <a:sym typeface="Calibri"/>
            </a:endParaRPr>
          </a:p>
        </p:txBody>
      </p:sp>
      <p:sp>
        <p:nvSpPr>
          <p:cNvPr id="453" name="Google Shape;453;p14"/>
          <p:cNvSpPr/>
          <p:nvPr/>
        </p:nvSpPr>
        <p:spPr>
          <a:xfrm>
            <a:off x="812800" y="5628680"/>
            <a:ext cx="10883400" cy="238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Font typeface="Arial"/>
              <a:buNone/>
            </a:pPr>
            <a:r>
              <a:rPr lang="en-US" sz="1200">
                <a:solidFill>
                  <a:srgbClr val="4B5550"/>
                </a:solidFill>
                <a:latin typeface="Source Sans 3"/>
                <a:ea typeface="Source Sans 3"/>
                <a:cs typeface="Source Sans 3"/>
                <a:sym typeface="Source Sans 3"/>
              </a:rPr>
              <a:t>Analysis coverage varies by question because each hypothesis requires different data availability.</a:t>
            </a:r>
            <a:endParaRPr sz="1200">
              <a:solidFill>
                <a:schemeClr val="dk1"/>
              </a:solidFill>
            </a:endParaRPr>
          </a:p>
          <a:p>
            <a:pPr indent="0" lvl="0" marL="0" marR="0" rtl="0" algn="ctr">
              <a:lnSpc>
                <a:spcPct val="140000"/>
              </a:lnSpc>
              <a:spcBef>
                <a:spcPts val="0"/>
              </a:spcBef>
              <a:spcAft>
                <a:spcPts val="0"/>
              </a:spcAft>
              <a:buClr>
                <a:srgbClr val="6F7470"/>
              </a:buClr>
              <a:buSzPts val="1200"/>
              <a:buFont typeface="Source Sans 3"/>
              <a:buNone/>
            </a:pPr>
            <a:r>
              <a:t/>
            </a:r>
            <a:endParaRPr b="1" sz="1350">
              <a:solidFill>
                <a:srgbClr val="6F7470"/>
              </a:solidFill>
              <a:latin typeface="Source Sans 3"/>
              <a:ea typeface="Source Sans 3"/>
              <a:cs typeface="Source Sans 3"/>
              <a:sym typeface="Source Sans 3"/>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AF6EE"/>
        </a:solidFill>
      </p:bgPr>
    </p:bg>
    <p:spTree>
      <p:nvGrpSpPr>
        <p:cNvPr id="458" name="Shape 458"/>
        <p:cNvGrpSpPr/>
        <p:nvPr/>
      </p:nvGrpSpPr>
      <p:grpSpPr>
        <a:xfrm>
          <a:off x="0" y="0"/>
          <a:ext cx="0" cy="0"/>
          <a:chOff x="0" y="0"/>
          <a:chExt cx="0" cy="0"/>
        </a:xfrm>
      </p:grpSpPr>
      <p:sp>
        <p:nvSpPr>
          <p:cNvPr id="459" name="Google Shape;459;p15"/>
          <p:cNvSpPr/>
          <p:nvPr/>
        </p:nvSpPr>
        <p:spPr>
          <a:xfrm>
            <a:off x="0" y="0"/>
            <a:ext cx="12192000" cy="88900"/>
          </a:xfrm>
          <a:prstGeom prst="rect">
            <a:avLst/>
          </a:prstGeom>
          <a:gradFill>
            <a:gsLst>
              <a:gs pos="0">
                <a:srgbClr val="0F3D2E"/>
              </a:gs>
              <a:gs pos="62000">
                <a:srgbClr val="0F3D2E"/>
              </a:gs>
              <a:gs pos="88000">
                <a:srgbClr val="9E1B32"/>
              </a:gs>
              <a:gs pos="100000">
                <a:srgbClr val="C8A14A"/>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E1B32"/>
              </a:buClr>
              <a:buSzPts val="1200"/>
              <a:buFont typeface="Source Sans 3"/>
              <a:buNone/>
            </a:pPr>
            <a:r>
              <a:rPr b="1" lang="en-US" sz="1200">
                <a:solidFill>
                  <a:srgbClr val="9E1B32"/>
                </a:solidFill>
                <a:latin typeface="Source Sans 3"/>
                <a:ea typeface="Source Sans 3"/>
                <a:cs typeface="Source Sans 3"/>
                <a:sym typeface="Source Sans 3"/>
              </a:rPr>
              <a:t>QUALITY CONTROL</a:t>
            </a:r>
            <a:endParaRPr b="0" i="0" sz="1200" u="none" cap="none" strike="noStrike">
              <a:solidFill>
                <a:schemeClr val="dk1"/>
              </a:solidFill>
              <a:latin typeface="Calibri"/>
              <a:ea typeface="Calibri"/>
              <a:cs typeface="Calibri"/>
              <a:sym typeface="Calibri"/>
            </a:endParaRPr>
          </a:p>
        </p:txBody>
      </p:sp>
      <p:sp>
        <p:nvSpPr>
          <p:cNvPr id="461" name="Google Shape;461;p15"/>
          <p:cNvSpPr/>
          <p:nvPr/>
        </p:nvSpPr>
        <p:spPr>
          <a:xfrm>
            <a:off x="812800" y="1115020"/>
            <a:ext cx="10883392" cy="4723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D2A24"/>
              </a:buClr>
              <a:buSzPts val="3200"/>
              <a:buFont typeface="Playfair Display"/>
              <a:buNone/>
            </a:pPr>
            <a:r>
              <a:rPr b="1" lang="en-US" sz="3200">
                <a:solidFill>
                  <a:srgbClr val="1D2A24"/>
                </a:solidFill>
                <a:latin typeface="Playfair Display"/>
                <a:ea typeface="Playfair Display"/>
                <a:cs typeface="Playfair Display"/>
                <a:sym typeface="Playfair Display"/>
              </a:rPr>
              <a:t>Three issues could have changed the story</a:t>
            </a:r>
            <a:endParaRPr b="0" i="0" sz="3200" u="none" cap="none" strike="noStrike">
              <a:solidFill>
                <a:schemeClr val="dk1"/>
              </a:solidFill>
              <a:latin typeface="Calibri"/>
              <a:ea typeface="Calibri"/>
              <a:cs typeface="Calibri"/>
              <a:sym typeface="Calibri"/>
            </a:endParaRPr>
          </a:p>
        </p:txBody>
      </p:sp>
      <p:cxnSp>
        <p:nvCxnSpPr>
          <p:cNvPr id="462" name="Google Shape;462;p15"/>
          <p:cNvCxnSpPr/>
          <p:nvPr/>
        </p:nvCxnSpPr>
        <p:spPr>
          <a:xfrm>
            <a:off x="812800" y="2248314"/>
            <a:ext cx="10566300" cy="0"/>
          </a:xfrm>
          <a:prstGeom prst="straightConnector1">
            <a:avLst/>
          </a:prstGeom>
          <a:noFill/>
          <a:ln cap="flat" cmpd="sng" w="12700">
            <a:solidFill>
              <a:srgbClr val="141413">
                <a:alpha val="21961"/>
              </a:srgbClr>
            </a:solidFill>
            <a:prstDash val="solid"/>
            <a:round/>
            <a:headEnd len="sm" w="sm" type="none"/>
            <a:tailEnd len="sm" w="sm" type="none"/>
          </a:ln>
        </p:spPr>
      </p:cxnSp>
      <p:cxnSp>
        <p:nvCxnSpPr>
          <p:cNvPr id="463" name="Google Shape;463;p15"/>
          <p:cNvCxnSpPr/>
          <p:nvPr/>
        </p:nvCxnSpPr>
        <p:spPr>
          <a:xfrm>
            <a:off x="819150" y="2241964"/>
            <a:ext cx="25200" cy="2159400"/>
          </a:xfrm>
          <a:prstGeom prst="straightConnector1">
            <a:avLst/>
          </a:prstGeom>
          <a:noFill/>
          <a:ln cap="flat" cmpd="sng" w="12700">
            <a:solidFill>
              <a:srgbClr val="141413">
                <a:alpha val="21961"/>
              </a:srgbClr>
            </a:solidFill>
            <a:prstDash val="solid"/>
            <a:round/>
            <a:headEnd len="sm" w="sm" type="none"/>
            <a:tailEnd len="sm" w="sm" type="none"/>
          </a:ln>
        </p:spPr>
      </p:cxnSp>
      <p:graphicFrame>
        <p:nvGraphicFramePr>
          <p:cNvPr id="464" name="Google Shape;464;p15"/>
          <p:cNvGraphicFramePr/>
          <p:nvPr/>
        </p:nvGraphicFramePr>
        <p:xfrm>
          <a:off x="939800" y="2318164"/>
          <a:ext cx="3000000" cy="3000000"/>
        </p:xfrm>
        <a:graphic>
          <a:graphicData uri="http://schemas.openxmlformats.org/drawingml/2006/table">
            <a:tbl>
              <a:tblPr>
                <a:noFill/>
                <a:tableStyleId>{551AF02A-7453-4268-BA4E-05D28735F682}</a:tableStyleId>
              </a:tblPr>
              <a:tblGrid>
                <a:gridCol w="5369050"/>
                <a:gridCol w="4956050"/>
              </a:tblGrid>
              <a:tr h="332575">
                <a:tc>
                  <a:txBody>
                    <a:bodyPr/>
                    <a:lstStyle/>
                    <a:p>
                      <a:pPr indent="0" lvl="0" marL="0" marR="0" rtl="0" algn="l">
                        <a:lnSpc>
                          <a:spcPct val="140000"/>
                        </a:lnSpc>
                        <a:spcBef>
                          <a:spcPts val="0"/>
                        </a:spcBef>
                        <a:spcAft>
                          <a:spcPts val="0"/>
                        </a:spcAft>
                        <a:buClr>
                          <a:srgbClr val="F3EDE1"/>
                        </a:buClr>
                        <a:buSzPts val="1200"/>
                        <a:buFont typeface="Source Sans 3"/>
                        <a:buNone/>
                      </a:pPr>
                      <a:r>
                        <a:rPr b="1" lang="en-US" sz="1200" u="none" cap="none" strike="noStrike">
                          <a:solidFill>
                            <a:srgbClr val="F3EDE1"/>
                          </a:solidFill>
                          <a:latin typeface="Source Sans 3"/>
                          <a:ea typeface="Source Sans 3"/>
                          <a:cs typeface="Source Sans 3"/>
                          <a:sym typeface="Source Sans 3"/>
                        </a:rPr>
                        <a:t>Challenge</a:t>
                      </a:r>
                      <a:endParaRPr sz="1200" u="none" cap="none" strike="noStrike">
                        <a:latin typeface="Source Sans 3"/>
                        <a:ea typeface="Source Sans 3"/>
                        <a:cs typeface="Source Sans 3"/>
                        <a:sym typeface="Source Sans 3"/>
                      </a:endParaRPr>
                    </a:p>
                  </a:txBody>
                  <a:tcPr marT="53350" marB="53350" marR="53350" marL="53350">
                    <a:lnL cap="flat" cmpd="sng" w="9525">
                      <a:solidFill>
                        <a:srgbClr val="000000">
                          <a:alpha val="0"/>
                        </a:srgbClr>
                      </a:solidFill>
                      <a:prstDash val="solid"/>
                      <a:round/>
                      <a:headEnd len="sm" w="sm" type="none"/>
                      <a:tailEnd len="sm" w="sm" type="none"/>
                    </a:lnL>
                    <a:lnR cap="flat" cmpd="sng" w="12700">
                      <a:solidFill>
                        <a:srgbClr val="1034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03428"/>
                      </a:solidFill>
                      <a:prstDash val="solid"/>
                      <a:round/>
                      <a:headEnd len="sm" w="sm" type="none"/>
                      <a:tailEnd len="sm" w="sm" type="none"/>
                    </a:lnB>
                    <a:solidFill>
                      <a:srgbClr val="0F3D2E"/>
                    </a:solidFill>
                  </a:tcPr>
                </a:tc>
                <a:tc>
                  <a:txBody>
                    <a:bodyPr/>
                    <a:lstStyle/>
                    <a:p>
                      <a:pPr indent="0" lvl="0" marL="0" marR="0" rtl="0" algn="l">
                        <a:lnSpc>
                          <a:spcPct val="140000"/>
                        </a:lnSpc>
                        <a:spcBef>
                          <a:spcPts val="0"/>
                        </a:spcBef>
                        <a:spcAft>
                          <a:spcPts val="0"/>
                        </a:spcAft>
                        <a:buClr>
                          <a:srgbClr val="F3EDE1"/>
                        </a:buClr>
                        <a:buSzPts val="1200"/>
                        <a:buFont typeface="Source Sans 3"/>
                        <a:buNone/>
                      </a:pPr>
                      <a:r>
                        <a:rPr b="1" lang="en-US" sz="1200" u="none" cap="none" strike="noStrike">
                          <a:solidFill>
                            <a:srgbClr val="F3EDE1"/>
                          </a:solidFill>
                          <a:latin typeface="Source Sans 3"/>
                          <a:ea typeface="Source Sans 3"/>
                          <a:cs typeface="Source Sans 3"/>
                          <a:sym typeface="Source Sans 3"/>
                        </a:rPr>
                        <a:t>How we solved it</a:t>
                      </a:r>
                      <a:endParaRPr sz="1200" u="none" cap="none" strike="noStrike">
                        <a:latin typeface="Source Sans 3"/>
                        <a:ea typeface="Source Sans 3"/>
                        <a:cs typeface="Source Sans 3"/>
                        <a:sym typeface="Source Sans 3"/>
                      </a:endParaRPr>
                    </a:p>
                  </a:txBody>
                  <a:tcPr marT="53350" marB="53350" marR="53350" marL="53350">
                    <a:lnL cap="flat" cmpd="sng" w="12700">
                      <a:solidFill>
                        <a:srgbClr val="103428"/>
                      </a:solidFill>
                      <a:prstDash val="solid"/>
                      <a:round/>
                      <a:headEnd len="sm" w="sm" type="none"/>
                      <a:tailEnd len="sm" w="sm" type="none"/>
                    </a:lnL>
                    <a:lnR cap="flat" cmpd="sng" w="12700">
                      <a:solidFill>
                        <a:srgbClr val="10342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03428"/>
                      </a:solidFill>
                      <a:prstDash val="solid"/>
                      <a:round/>
                      <a:headEnd len="sm" w="sm" type="none"/>
                      <a:tailEnd len="sm" w="sm" type="none"/>
                    </a:lnB>
                    <a:solidFill>
                      <a:srgbClr val="0F3D2E"/>
                    </a:solidFill>
                  </a:tcPr>
                </a:tc>
              </a:tr>
              <a:tr h="332575">
                <a:tc>
                  <a:txBody>
                    <a:bodyPr/>
                    <a:lstStyle/>
                    <a:p>
                      <a:pPr indent="0" lvl="0" marL="0" marR="0" rtl="0" algn="l">
                        <a:lnSpc>
                          <a:spcPct val="140000"/>
                        </a:lnSpc>
                        <a:spcBef>
                          <a:spcPts val="0"/>
                        </a:spcBef>
                        <a:spcAft>
                          <a:spcPts val="0"/>
                        </a:spcAft>
                        <a:buClr>
                          <a:srgbClr val="1D2A24"/>
                        </a:buClr>
                        <a:buSzPts val="1200"/>
                        <a:buFont typeface="Source Sans 3"/>
                        <a:buNone/>
                      </a:pPr>
                      <a:r>
                        <a:rPr b="1" lang="en-US" sz="1200">
                          <a:solidFill>
                            <a:srgbClr val="1D2A24"/>
                          </a:solidFill>
                          <a:latin typeface="Source Sans 3"/>
                          <a:ea typeface="Source Sans 3"/>
                          <a:cs typeface="Source Sans 3"/>
                          <a:sym typeface="Source Sans 3"/>
                        </a:rPr>
                        <a:t>METHODOLOGY BREAK</a:t>
                      </a:r>
                      <a:br>
                        <a:rPr lang="en-US" sz="1200">
                          <a:solidFill>
                            <a:srgbClr val="1D2A24"/>
                          </a:solidFill>
                          <a:latin typeface="Source Sans 3"/>
                          <a:ea typeface="Source Sans 3"/>
                          <a:cs typeface="Source Sans 3"/>
                          <a:sym typeface="Source Sans 3"/>
                        </a:rPr>
                      </a:br>
                      <a:r>
                        <a:rPr lang="en-US" sz="1200">
                          <a:solidFill>
                            <a:srgbClr val="1D2A24"/>
                          </a:solidFill>
                          <a:latin typeface="Source Sans 3"/>
                          <a:ea typeface="Source Sans 3"/>
                          <a:cs typeface="Source Sans 3"/>
                          <a:sym typeface="Source Sans 3"/>
                        </a:rPr>
                        <a:t>INE changed its rent method in 2026: old and new series have different levels</a:t>
                      </a:r>
                      <a:endParaRPr sz="1200" u="none" cap="none" strike="noStrike">
                        <a:latin typeface="Source Sans 3"/>
                        <a:ea typeface="Source Sans 3"/>
                        <a:cs typeface="Source Sans 3"/>
                        <a:sym typeface="Source Sans 3"/>
                      </a:endParaRPr>
                    </a:p>
                  </a:txBody>
                  <a:tcPr marT="53350" marB="53350" marR="53350" marL="53350">
                    <a:lnL cap="flat" cmpd="sng" w="9525">
                      <a:solidFill>
                        <a:srgbClr val="000000">
                          <a:alpha val="0"/>
                        </a:srgbClr>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03428"/>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40000"/>
                        </a:lnSpc>
                        <a:spcBef>
                          <a:spcPts val="0"/>
                        </a:spcBef>
                        <a:spcAft>
                          <a:spcPts val="0"/>
                        </a:spcAft>
                        <a:buClr>
                          <a:srgbClr val="1D2A24"/>
                        </a:buClr>
                        <a:buSzPts val="1200"/>
                        <a:buFont typeface="Source Sans 3"/>
                        <a:buNone/>
                      </a:pPr>
                      <a:r>
                        <a:rPr lang="en-US" sz="1200">
                          <a:latin typeface="Source Sans 3"/>
                          <a:ea typeface="Source Sans 3"/>
                          <a:cs typeface="Source Sans 3"/>
                          <a:sym typeface="Source Sans 3"/>
                        </a:rPr>
                        <a:t>H1 chain-linked the series: old method through 2024 + growth from the new method.</a:t>
                      </a:r>
                      <a:endParaRPr sz="1200" u="none" cap="none" strike="noStrike">
                        <a:latin typeface="Source Sans 3"/>
                        <a:ea typeface="Source Sans 3"/>
                        <a:cs typeface="Source Sans 3"/>
                        <a:sym typeface="Source Sans 3"/>
                      </a:endParaRPr>
                    </a:p>
                  </a:txBody>
                  <a:tcPr marT="53350" marB="53350" marR="53350" marL="5335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03428"/>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32575">
                <a:tc>
                  <a:txBody>
                    <a:bodyPr/>
                    <a:lstStyle/>
                    <a:p>
                      <a:pPr indent="0" lvl="0" marL="0" marR="0" rtl="0" algn="l">
                        <a:lnSpc>
                          <a:spcPct val="140000"/>
                        </a:lnSpc>
                        <a:spcBef>
                          <a:spcPts val="0"/>
                        </a:spcBef>
                        <a:spcAft>
                          <a:spcPts val="0"/>
                        </a:spcAft>
                        <a:buClr>
                          <a:srgbClr val="1D2A24"/>
                        </a:buClr>
                        <a:buSzPts val="1200"/>
                        <a:buFont typeface="Source Sans 3"/>
                        <a:buNone/>
                      </a:pPr>
                      <a:r>
                        <a:rPr b="1" lang="en-US" sz="1200">
                          <a:solidFill>
                            <a:srgbClr val="1D2A24"/>
                          </a:solidFill>
                          <a:latin typeface="Source Sans 3"/>
                          <a:ea typeface="Source Sans 3"/>
                          <a:cs typeface="Source Sans 3"/>
                          <a:sym typeface="Source Sans 3"/>
                        </a:rPr>
                        <a:t>GEOGRAPHIC BREAK</a:t>
                      </a:r>
                      <a:br>
                        <a:rPr lang="en-US" sz="1200">
                          <a:solidFill>
                            <a:srgbClr val="1D2A24"/>
                          </a:solidFill>
                          <a:latin typeface="Source Sans 3"/>
                          <a:ea typeface="Source Sans 3"/>
                          <a:cs typeface="Source Sans 3"/>
                          <a:sym typeface="Source Sans 3"/>
                        </a:rPr>
                      </a:br>
                      <a:r>
                        <a:rPr lang="en-US" sz="1200">
                          <a:solidFill>
                            <a:srgbClr val="1D2A24"/>
                          </a:solidFill>
                          <a:latin typeface="Source Sans 3"/>
                          <a:ea typeface="Source Sans 3"/>
                          <a:cs typeface="Source Sans 3"/>
                          <a:sym typeface="Source Sans 3"/>
                        </a:rPr>
                        <a:t>Municipality codes changed across regional classifications: Names were unreliable</a:t>
                      </a:r>
                      <a:endParaRPr sz="1200">
                        <a:solidFill>
                          <a:srgbClr val="1D2A24"/>
                        </a:solidFill>
                        <a:latin typeface="Source Sans 3"/>
                        <a:ea typeface="Source Sans 3"/>
                        <a:cs typeface="Source Sans 3"/>
                        <a:sym typeface="Source Sans 3"/>
                      </a:endParaRPr>
                    </a:p>
                  </a:txBody>
                  <a:tcPr marT="53350" marB="53350" marR="53350" marL="53350">
                    <a:lnL cap="flat" cmpd="sng" w="9525">
                      <a:solidFill>
                        <a:srgbClr val="000000">
                          <a:alpha val="0"/>
                        </a:srgbClr>
                      </a:solidFill>
                      <a:prstDash val="solid"/>
                      <a:round/>
                      <a:headEnd len="sm" w="sm" type="none"/>
                      <a:tailEnd len="sm" w="sm" type="none"/>
                    </a:lnL>
                    <a:lnR cap="flat" cmpd="sng" w="12700">
                      <a:solidFill>
                        <a:srgbClr val="C0BBAF"/>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0BBAF"/>
                      </a:solidFill>
                      <a:prstDash val="solid"/>
                      <a:round/>
                      <a:headEnd len="sm" w="sm" type="none"/>
                      <a:tailEnd len="sm" w="sm" type="none"/>
                    </a:lnB>
                    <a:solidFill>
                      <a:srgbClr val="F1EADB"/>
                    </a:solidFill>
                  </a:tcPr>
                </a:tc>
                <a:tc>
                  <a:txBody>
                    <a:bodyPr/>
                    <a:lstStyle/>
                    <a:p>
                      <a:pPr indent="0" lvl="0" marL="0" marR="0" rtl="0" algn="l">
                        <a:lnSpc>
                          <a:spcPct val="140000"/>
                        </a:lnSpc>
                        <a:spcBef>
                          <a:spcPts val="0"/>
                        </a:spcBef>
                        <a:spcAft>
                          <a:spcPts val="0"/>
                        </a:spcAft>
                        <a:buClr>
                          <a:srgbClr val="1D2A24"/>
                        </a:buClr>
                        <a:buSzPts val="1200"/>
                        <a:buFont typeface="Source Sans 3"/>
                        <a:buNone/>
                      </a:pPr>
                      <a:r>
                        <a:rPr lang="en-US" sz="1200">
                          <a:solidFill>
                            <a:srgbClr val="1D2A24"/>
                          </a:solidFill>
                          <a:latin typeface="Source Sans 3"/>
                          <a:ea typeface="Source Sans 3"/>
                          <a:cs typeface="Source Sans 3"/>
                          <a:sym typeface="Source Sans 3"/>
                        </a:rPr>
                        <a:t>Matched using the stable 4-digit municipality code.</a:t>
                      </a:r>
                      <a:endParaRPr sz="1200" u="none" cap="none" strike="noStrike">
                        <a:latin typeface="Source Sans 3"/>
                        <a:ea typeface="Source Sans 3"/>
                        <a:cs typeface="Source Sans 3"/>
                        <a:sym typeface="Source Sans 3"/>
                      </a:endParaRPr>
                    </a:p>
                  </a:txBody>
                  <a:tcPr marT="53350" marB="53350" marR="53350" marL="53350">
                    <a:lnL cap="flat" cmpd="sng" w="12700">
                      <a:solidFill>
                        <a:srgbClr val="C0BBAF"/>
                      </a:solidFill>
                      <a:prstDash val="solid"/>
                      <a:round/>
                      <a:headEnd len="sm" w="sm" type="none"/>
                      <a:tailEnd len="sm" w="sm" type="none"/>
                    </a:lnL>
                    <a:lnR cap="flat" cmpd="sng" w="12700">
                      <a:solidFill>
                        <a:srgbClr val="C0BBAF"/>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0BBAF"/>
                      </a:solidFill>
                      <a:prstDash val="solid"/>
                      <a:round/>
                      <a:headEnd len="sm" w="sm" type="none"/>
                      <a:tailEnd len="sm" w="sm" type="none"/>
                    </a:lnB>
                    <a:solidFill>
                      <a:srgbClr val="F1EADB"/>
                    </a:solidFill>
                  </a:tcPr>
                </a:tc>
              </a:tr>
              <a:tr h="332575">
                <a:tc>
                  <a:txBody>
                    <a:bodyPr/>
                    <a:lstStyle/>
                    <a:p>
                      <a:pPr indent="0" lvl="0" marL="0" marR="0" rtl="0" algn="l">
                        <a:lnSpc>
                          <a:spcPct val="140000"/>
                        </a:lnSpc>
                        <a:spcBef>
                          <a:spcPts val="0"/>
                        </a:spcBef>
                        <a:spcAft>
                          <a:spcPts val="0"/>
                        </a:spcAft>
                        <a:buClr>
                          <a:srgbClr val="1D2A24"/>
                        </a:buClr>
                        <a:buSzPts val="1200"/>
                        <a:buFont typeface="Source Sans 3"/>
                        <a:buNone/>
                      </a:pPr>
                      <a:r>
                        <a:rPr b="1" lang="en-US" sz="1200">
                          <a:solidFill>
                            <a:srgbClr val="1D2A24"/>
                          </a:solidFill>
                          <a:latin typeface="Source Sans 3"/>
                          <a:ea typeface="Source Sans 3"/>
                          <a:cs typeface="Source Sans 3"/>
                          <a:sym typeface="Source Sans 3"/>
                        </a:rPr>
                        <a:t>MISSING RENT DATA</a:t>
                      </a:r>
                      <a:endParaRPr b="1" sz="1200">
                        <a:solidFill>
                          <a:srgbClr val="1D2A24"/>
                        </a:solidFill>
                        <a:latin typeface="Source Sans 3"/>
                        <a:ea typeface="Source Sans 3"/>
                        <a:cs typeface="Source Sans 3"/>
                        <a:sym typeface="Source Sans 3"/>
                      </a:endParaRPr>
                    </a:p>
                    <a:p>
                      <a:pPr indent="0" lvl="0" marL="0" marR="0" rtl="0" algn="l">
                        <a:lnSpc>
                          <a:spcPct val="140000"/>
                        </a:lnSpc>
                        <a:spcBef>
                          <a:spcPts val="0"/>
                        </a:spcBef>
                        <a:spcAft>
                          <a:spcPts val="0"/>
                        </a:spcAft>
                        <a:buClr>
                          <a:srgbClr val="1D2A24"/>
                        </a:buClr>
                        <a:buSzPts val="1200"/>
                        <a:buFont typeface="Source Sans 3"/>
                        <a:buNone/>
                      </a:pPr>
                      <a:r>
                        <a:rPr lang="en-US" sz="1200">
                          <a:solidFill>
                            <a:srgbClr val="1D2A24"/>
                          </a:solidFill>
                          <a:latin typeface="Source Sans 3"/>
                          <a:ea typeface="Source Sans 3"/>
                          <a:cs typeface="Source Sans 3"/>
                          <a:sym typeface="Source Sans 3"/>
                        </a:rPr>
                        <a:t>Some municipalities have too few contracts for INE to publish a rent</a:t>
                      </a:r>
                      <a:endParaRPr sz="1200">
                        <a:solidFill>
                          <a:srgbClr val="1D2A24"/>
                        </a:solidFill>
                        <a:latin typeface="Source Sans 3"/>
                        <a:ea typeface="Source Sans 3"/>
                        <a:cs typeface="Source Sans 3"/>
                        <a:sym typeface="Source Sans 3"/>
                      </a:endParaRPr>
                    </a:p>
                  </a:txBody>
                  <a:tcPr marT="53350" marB="53350" marR="53350" marL="53350">
                    <a:lnL cap="flat" cmpd="sng" w="9525">
                      <a:solidFill>
                        <a:srgbClr val="000000">
                          <a:alpha val="0"/>
                        </a:srgbClr>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0BBAF"/>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40000"/>
                        </a:lnSpc>
                        <a:spcBef>
                          <a:spcPts val="0"/>
                        </a:spcBef>
                        <a:spcAft>
                          <a:spcPts val="0"/>
                        </a:spcAft>
                        <a:buClr>
                          <a:srgbClr val="1D2A24"/>
                        </a:buClr>
                        <a:buSzPts val="1200"/>
                        <a:buFont typeface="Source Sans 3"/>
                        <a:buNone/>
                      </a:pPr>
                      <a:r>
                        <a:rPr lang="en-US" sz="1200">
                          <a:solidFill>
                            <a:srgbClr val="1D2A24"/>
                          </a:solidFill>
                          <a:latin typeface="Source Sans 3"/>
                          <a:ea typeface="Source Sans 3"/>
                          <a:cs typeface="Source Sans 3"/>
                          <a:sym typeface="Source Sans 3"/>
                        </a:rPr>
                        <a:t>Excluded where necessary and reported the coverage.</a:t>
                      </a:r>
                      <a:endParaRPr sz="1200">
                        <a:solidFill>
                          <a:srgbClr val="1D2A24"/>
                        </a:solidFill>
                        <a:latin typeface="Source Sans 3"/>
                        <a:ea typeface="Source Sans 3"/>
                        <a:cs typeface="Source Sans 3"/>
                        <a:sym typeface="Source Sans 3"/>
                      </a:endParaRPr>
                    </a:p>
                  </a:txBody>
                  <a:tcPr marT="53350" marB="53350" marR="53350" marL="5335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0BBAF"/>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465" name="Google Shape;465;p15"/>
          <p:cNvSpPr/>
          <p:nvPr/>
        </p:nvSpPr>
        <p:spPr>
          <a:xfrm>
            <a:off x="1127446" y="4851200"/>
            <a:ext cx="10448700" cy="201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50"/>
              </a:buClr>
              <a:buSzPts val="1200"/>
              <a:buFont typeface="Source Sans 3"/>
              <a:buNone/>
            </a:pPr>
            <a:r>
              <a:rPr b="1" lang="en-US" sz="1200">
                <a:solidFill>
                  <a:srgbClr val="4B5550"/>
                </a:solidFill>
                <a:latin typeface="Source Sans 3"/>
                <a:ea typeface="Source Sans 3"/>
                <a:cs typeface="Source Sans 3"/>
                <a:sym typeface="Source Sans 3"/>
              </a:rPr>
              <a:t>By resolving the breaks before analysis, we keep the story consistent.</a:t>
            </a:r>
            <a:endParaRPr b="1" sz="1200">
              <a:solidFill>
                <a:srgbClr val="4B5550"/>
              </a:solidFill>
              <a:latin typeface="Source Sans 3"/>
              <a:ea typeface="Source Sans 3"/>
              <a:cs typeface="Source Sans 3"/>
              <a:sym typeface="Source Sans 3"/>
            </a:endParaRPr>
          </a:p>
        </p:txBody>
      </p:sp>
      <p:sp>
        <p:nvSpPr>
          <p:cNvPr id="466" name="Google Shape;466;p15"/>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F7470"/>
              </a:buClr>
              <a:buSzPts val="1200"/>
              <a:buFont typeface="Source Sans 3"/>
              <a:buNone/>
            </a:pPr>
            <a:r>
              <a:rPr b="0" i="0" lang="en-US" sz="1200" u="none" cap="none" strike="noStrike">
                <a:solidFill>
                  <a:srgbClr val="6F7470"/>
                </a:solidFill>
                <a:latin typeface="Source Sans 3"/>
                <a:ea typeface="Source Sans 3"/>
                <a:cs typeface="Source Sans 3"/>
                <a:sym typeface="Source Sans 3"/>
              </a:rPr>
              <a:t>Rental crisis in Portugal</a:t>
            </a:r>
            <a:r>
              <a:rPr b="0" i="0" lang="en-US" sz="1200" u="none" cap="none" strike="noStrike">
                <a:solidFill>
                  <a:srgbClr val="C8A14A"/>
                </a:solidFill>
                <a:latin typeface="Source Sans 3"/>
                <a:ea typeface="Source Sans 3"/>
                <a:cs typeface="Source Sans 3"/>
                <a:sym typeface="Source Sans 3"/>
              </a:rPr>
              <a:t> ◆</a:t>
            </a:r>
            <a:r>
              <a:rPr b="0" i="0" lang="en-US" sz="1200" u="none" cap="none" strike="noStrike">
                <a:solidFill>
                  <a:srgbClr val="6F7470"/>
                </a:solidFill>
                <a:latin typeface="Source Sans 3"/>
                <a:ea typeface="Source Sans 3"/>
                <a:cs typeface="Source Sans 3"/>
                <a:sym typeface="Source Sans 3"/>
              </a:rPr>
              <a:t> </a:t>
            </a:r>
            <a:r>
              <a:rPr lang="en-US" sz="1200">
                <a:solidFill>
                  <a:srgbClr val="6F7470"/>
                </a:solidFill>
                <a:latin typeface="Source Sans 3"/>
                <a:ea typeface="Source Sans 3"/>
                <a:cs typeface="Source Sans 3"/>
                <a:sym typeface="Source Sans 3"/>
              </a:rPr>
              <a:t>5</a:t>
            </a:r>
            <a:endParaRPr b="0" i="0" sz="1200" u="none" cap="none" strike="noStrike">
              <a:solidFill>
                <a:schemeClr val="dk1"/>
              </a:solidFill>
              <a:latin typeface="Calibri"/>
              <a:ea typeface="Calibri"/>
              <a:cs typeface="Calibri"/>
              <a:sym typeface="Calibri"/>
            </a:endParaRPr>
          </a:p>
        </p:txBody>
      </p:sp>
      <p:pic>
        <p:nvPicPr>
          <p:cNvPr descr="preencoded.png" id="467" name="Google Shape;467;p15"/>
          <p:cNvPicPr preferRelativeResize="0"/>
          <p:nvPr/>
        </p:nvPicPr>
        <p:blipFill rotWithShape="1">
          <a:blip r:embed="rId3">
            <a:alphaModFix/>
          </a:blip>
          <a:srcRect b="0" l="0" r="0" t="0"/>
          <a:stretch/>
        </p:blipFill>
        <p:spPr>
          <a:xfrm>
            <a:off x="812811" y="4851282"/>
            <a:ext cx="201168" cy="20116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